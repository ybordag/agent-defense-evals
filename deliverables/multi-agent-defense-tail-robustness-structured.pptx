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1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2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3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slides/charts/chart4.xml" ContentType="application/vnd.openxmlformats-officedocument.drawingml.chart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da571a7fc534156" /><Relationship Type="http://schemas.openxmlformats.org/officeDocument/2006/relationships/extended-properties" Target="/docProps/app.xml" Id="Rb5b00d12f9064e5b" /><Relationship Type="http://schemas.openxmlformats.org/officeDocument/2006/relationships/officeDocument" Target="/ppt/presentation.xml" Id="R56d5e0770eca4e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93746f7bbfa49f7"/>
  </p:sldMasterIdLst>
  <p:notesMasterIdLst>
    <p:notesMasterId xmlns:r="http://schemas.openxmlformats.org/officeDocument/2006/relationships" r:id="Rda8adb6f6d9a4ebc"/>
  </p:notesMasterIdLst>
  <p:sldIdLst>
    <p:sldId xmlns:r="http://schemas.openxmlformats.org/officeDocument/2006/relationships" id="256" r:id="R74c063dc51da4243"/>
    <p:sldId xmlns:r="http://schemas.openxmlformats.org/officeDocument/2006/relationships" id="257" r:id="R173aa2eb95ff406f"/>
    <p:sldId xmlns:r="http://schemas.openxmlformats.org/officeDocument/2006/relationships" id="258" r:id="Raa32d0ee0ebe4f60"/>
    <p:sldId xmlns:r="http://schemas.openxmlformats.org/officeDocument/2006/relationships" id="259" r:id="R32114c8ee1734de8"/>
    <p:sldId xmlns:r="http://schemas.openxmlformats.org/officeDocument/2006/relationships" id="260" r:id="R9afd27d211124b5b"/>
    <p:sldId xmlns:r="http://schemas.openxmlformats.org/officeDocument/2006/relationships" id="261" r:id="Rdb3229850c444008"/>
    <p:sldId xmlns:r="http://schemas.openxmlformats.org/officeDocument/2006/relationships" id="262" r:id="R14efae1ba3ac4562"/>
    <p:sldId xmlns:r="http://schemas.openxmlformats.org/officeDocument/2006/relationships" id="263" r:id="Rfbda4fcd18994f0d"/>
    <p:sldId xmlns:r="http://schemas.openxmlformats.org/officeDocument/2006/relationships" id="264" r:id="Rf02dca7bcd674cfe"/>
    <p:sldId xmlns:r="http://schemas.openxmlformats.org/officeDocument/2006/relationships" id="265" r:id="R0c5b8e1674fd4671"/>
    <p:sldId xmlns:r="http://schemas.openxmlformats.org/officeDocument/2006/relationships" id="266" r:id="R5e46fdaa4d50483c"/>
    <p:sldId xmlns:r="http://schemas.openxmlformats.org/officeDocument/2006/relationships" id="267" r:id="Rae5356c9e08647c9"/>
    <p:sldId xmlns:r="http://schemas.openxmlformats.org/officeDocument/2006/relationships" id="268" r:id="R00101106d0af4435"/>
    <p:sldId xmlns:r="http://schemas.openxmlformats.org/officeDocument/2006/relationships" id="269" r:id="R9bf40b663fc944e5"/>
    <p:sldId xmlns:r="http://schemas.openxmlformats.org/officeDocument/2006/relationships" id="270" r:id="R4edd4873c05742f7"/>
    <p:sldId xmlns:r="http://schemas.openxmlformats.org/officeDocument/2006/relationships" id="271" r:id="R626294895f474c25"/>
    <p:sldId xmlns:r="http://schemas.openxmlformats.org/officeDocument/2006/relationships" id="272" r:id="Rce0da01572664731"/>
    <p:sldId xmlns:r="http://schemas.openxmlformats.org/officeDocument/2006/relationships" id="273" r:id="R4be5e22256384fd1"/>
    <p:sldId xmlns:r="http://schemas.openxmlformats.org/officeDocument/2006/relationships" id="274" r:id="R979a7656044e462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ea37a2cef9942d9" /><Relationship Type="http://schemas.openxmlformats.org/officeDocument/2006/relationships/slideMaster" Target="/ppt/slideMasters/slideMaster1.xml" Id="R893746f7bbfa49f7" /><Relationship Type="http://schemas.openxmlformats.org/officeDocument/2006/relationships/notesMaster" Target="/ppt/notesMasters/notesMaster1.xml" Id="Rda8adb6f6d9a4ebc" /><Relationship Type="http://schemas.openxmlformats.org/officeDocument/2006/relationships/presProps" Target="/ppt/presProps.xml" Id="Rc9776cfd00b44ea8" /><Relationship Type="http://schemas.openxmlformats.org/officeDocument/2006/relationships/tableStyles" Target="/ppt/tableStyles.xml" Id="R5c300318174f4faf" /><Relationship Type="http://schemas.openxmlformats.org/officeDocument/2006/relationships/slide" Target="/ppt/slides/slide1.xml" Id="R74c063dc51da4243" /><Relationship Type="http://schemas.openxmlformats.org/officeDocument/2006/relationships/slide" Target="/ppt/slides/slide2.xml" Id="R173aa2eb95ff406f" /><Relationship Type="http://schemas.openxmlformats.org/officeDocument/2006/relationships/slide" Target="/ppt/slides/slide3.xml" Id="Raa32d0ee0ebe4f60" /><Relationship Type="http://schemas.openxmlformats.org/officeDocument/2006/relationships/slide" Target="/ppt/slides/slide4.xml" Id="R32114c8ee1734de8" /><Relationship Type="http://schemas.openxmlformats.org/officeDocument/2006/relationships/slide" Target="/ppt/slides/slide5.xml" Id="R9afd27d211124b5b" /><Relationship Type="http://schemas.openxmlformats.org/officeDocument/2006/relationships/slide" Target="/ppt/slides/slide6.xml" Id="Rdb3229850c444008" /><Relationship Type="http://schemas.openxmlformats.org/officeDocument/2006/relationships/slide" Target="/ppt/slides/slide7.xml" Id="R14efae1ba3ac4562" /><Relationship Type="http://schemas.openxmlformats.org/officeDocument/2006/relationships/slide" Target="/ppt/slides/slide8.xml" Id="Rfbda4fcd18994f0d" /><Relationship Type="http://schemas.openxmlformats.org/officeDocument/2006/relationships/slide" Target="/ppt/slides/slide9.xml" Id="Rf02dca7bcd674cfe" /><Relationship Type="http://schemas.openxmlformats.org/officeDocument/2006/relationships/slide" Target="/ppt/slides/slide10.xml" Id="R0c5b8e1674fd4671" /><Relationship Type="http://schemas.openxmlformats.org/officeDocument/2006/relationships/slide" Target="/ppt/slides/slide11.xml" Id="R5e46fdaa4d50483c" /><Relationship Type="http://schemas.openxmlformats.org/officeDocument/2006/relationships/slide" Target="/ppt/slides/slide12.xml" Id="Rae5356c9e08647c9" /><Relationship Type="http://schemas.openxmlformats.org/officeDocument/2006/relationships/slide" Target="/ppt/slides/slide13.xml" Id="R00101106d0af4435" /><Relationship Type="http://schemas.openxmlformats.org/officeDocument/2006/relationships/slide" Target="/ppt/slides/slide14.xml" Id="R9bf40b663fc944e5" /><Relationship Type="http://schemas.openxmlformats.org/officeDocument/2006/relationships/slide" Target="/ppt/slides/slide15.xml" Id="R4edd4873c05742f7" /><Relationship Type="http://schemas.openxmlformats.org/officeDocument/2006/relationships/slide" Target="/ppt/slides/slide16.xml" Id="R626294895f474c25" /><Relationship Type="http://schemas.openxmlformats.org/officeDocument/2006/relationships/slide" Target="/ppt/slides/slide17.xml" Id="Rce0da01572664731" /><Relationship Type="http://schemas.openxmlformats.org/officeDocument/2006/relationships/slide" Target="/ppt/slides/slide18.xml" Id="R4be5e22256384fd1" /><Relationship Type="http://schemas.openxmlformats.org/officeDocument/2006/relationships/slide" Target="/ppt/slides/slide19.xml" Id="R979a7656044e462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a8693ca0d1047c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0945e6fb2574167" /><Relationship Type="http://schemas.openxmlformats.org/officeDocument/2006/relationships/notesMaster" Target="/ppt/notesMasters/notesMaster1.xml" Id="Rd9c95a2b574a4e5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3e1f3af021c4684" /><Relationship Type="http://schemas.openxmlformats.org/officeDocument/2006/relationships/notesMaster" Target="/ppt/notesMasters/notesMaster1.xml" Id="R0c2e520e5bc74eb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ee8d7e3dd6842b8" /><Relationship Type="http://schemas.openxmlformats.org/officeDocument/2006/relationships/notesMaster" Target="/ppt/notesMasters/notesMaster1.xml" Id="Re022eee3dbcf4ee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73837ade38d4e38" /><Relationship Type="http://schemas.openxmlformats.org/officeDocument/2006/relationships/notesMaster" Target="/ppt/notesMasters/notesMaster1.xml" Id="R3818d5936d19470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085092a61c942b9" /><Relationship Type="http://schemas.openxmlformats.org/officeDocument/2006/relationships/notesMaster" Target="/ppt/notesMasters/notesMaster1.xml" Id="R9bfcdf1955be451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1e38e20f9064269" /><Relationship Type="http://schemas.openxmlformats.org/officeDocument/2006/relationships/notesMaster" Target="/ppt/notesMasters/notesMaster1.xml" Id="R947a5741b72d446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40c14ab0597403d" /><Relationship Type="http://schemas.openxmlformats.org/officeDocument/2006/relationships/notesMaster" Target="/ppt/notesMasters/notesMaster1.xml" Id="Rfbc9f643538c4b1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bc2616d212e4dc2" /><Relationship Type="http://schemas.openxmlformats.org/officeDocument/2006/relationships/notesMaster" Target="/ppt/notesMasters/notesMaster1.xml" Id="R7303d7c44376496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1d843719406493e" /><Relationship Type="http://schemas.openxmlformats.org/officeDocument/2006/relationships/notesMaster" Target="/ppt/notesMasters/notesMaster1.xml" Id="Rd402b824be2940e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734020da0a04b35" /><Relationship Type="http://schemas.openxmlformats.org/officeDocument/2006/relationships/notesMaster" Target="/ppt/notesMasters/notesMaster1.xml" Id="R56bb3f7f2d0b4ed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9dd2e5ad2c34400" /><Relationship Type="http://schemas.openxmlformats.org/officeDocument/2006/relationships/notesMaster" Target="/ppt/notesMasters/notesMaster1.xml" Id="R5c4fd6b32d7548d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1185b6554ab4842" /><Relationship Type="http://schemas.openxmlformats.org/officeDocument/2006/relationships/notesMaster" Target="/ppt/notesMasters/notesMaster1.xml" Id="Rbc3b0b855aba45a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0df681f78a5446e" /><Relationship Type="http://schemas.openxmlformats.org/officeDocument/2006/relationships/notesMaster" Target="/ppt/notesMasters/notesMaster1.xml" Id="R004df698cd47495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409b4b2af524e81" /><Relationship Type="http://schemas.openxmlformats.org/officeDocument/2006/relationships/notesMaster" Target="/ppt/notesMasters/notesMaster1.xml" Id="Rc0251eb6e861450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d6730fddfa5457e" /><Relationship Type="http://schemas.openxmlformats.org/officeDocument/2006/relationships/notesMaster" Target="/ppt/notesMasters/notesMaster1.xml" Id="R1b8fc3bf642d47a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e5be841bddc416a" /><Relationship Type="http://schemas.openxmlformats.org/officeDocument/2006/relationships/notesMaster" Target="/ppt/notesMasters/notesMaster1.xml" Id="Rdbe7e65fc2404f6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95e73bf540d4e12" /><Relationship Type="http://schemas.openxmlformats.org/officeDocument/2006/relationships/notesMaster" Target="/ppt/notesMasters/notesMaster1.xml" Id="Rfd52b204957d480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f4ed002dd094eed" /><Relationship Type="http://schemas.openxmlformats.org/officeDocument/2006/relationships/notesMaster" Target="/ppt/notesMasters/notesMaster1.xml" Id="R81987ccfff99477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46fa87f2d3d4f83" /><Relationship Type="http://schemas.openxmlformats.org/officeDocument/2006/relationships/notesMaster" Target="/ppt/notesMasters/notesMaster1.xml" Id="R1f735f5767034ef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https://arxiv.org/abs/2505.02077</a:t>
            </a:r>
          </a:p>
          <a:p xmlns:a="http://schemas.openxmlformats.org/drawingml/2006/main">
            <a:r>
              <a:t>- docs/experiments/mechanism_diverse_tail/evidence_report.md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https://arxiv.org/abs/2505.02077 (Introduction and Section 3)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https://arxiv.org/abs/2505.02077 (Introduction and Section 3)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https://arxiv.org/abs/2505.02077 (Section 3.3)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https://arxiv.org/abs/2505.02077 (Section 3.3, pp. 28–30)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https://arxiv.org/abs/2505.02077 (Section 3.3)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https://arxiv.org/abs/1911.08731</a:t>
            </a:r>
          </a:p>
          <a:p xmlns:a="http://schemas.openxmlformats.org/drawingml/2006/main">
            <a:r>
              <a:t>- https://arxiv.org/abs/1810.08240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https://uryasev.github.io/publications/ (Rockafellar &amp; Uryasev, CVaR)</a:t>
            </a:r>
          </a:p>
          <a:p xmlns:a="http://schemas.openxmlformats.org/drawingml/2006/main">
            <a:r>
              <a:t>- https://arxiv.org/abs/1911.08731 (group DRO baseline)</a:t>
            </a:r>
          </a:p>
          <a:p xmlns:a="http://schemas.openxmlformats.org/drawingml/2006/main">
            <a:r>
              <a:t>- docs/experiments/mechanism_diverse_tail/README.md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https://uryasev.github.io/publications/</a:t>
            </a:r>
          </a:p>
          <a:p xmlns:a="http://schemas.openxmlformats.org/drawingml/2006/main">
            <a:r>
              <a:t>- https://arxiv.org/abs/1911.08731</a:t>
            </a:r>
          </a:p>
          <a:p xmlns:a="http://schemas.openxmlformats.org/drawingml/2006/main">
            <a:r>
              <a:t>- https://arxiv.org/abs/1810.08240</a:t>
            </a:r>
          </a:p>
          <a:p xmlns:a="http://schemas.openxmlformats.org/drawingml/2006/main">
            <a:r>
              <a:t>- https://arxiv.org/abs/2210.01948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docs/experiments/mechanism_diverse_tail/common_contract.md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docs/experiments/mechanism_diverse_tail/evidence_report.md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artifacts/asap-evidence/tail-report.json</a:t>
            </a:r>
          </a:p>
          <a:p xmlns:a="http://schemas.openxmlformats.org/drawingml/2006/main">
            <a:r>
              <a:t>- artifacts/asap-evidence/phase7-model-capacity-7b-vllm.json</a:t>
            </a:r>
          </a:p>
          <a:p xmlns:a="http://schemas.openxmlformats.org/drawingml/2006/main">
            <a:r>
              <a:t>- artifacts/phase7-model-workflow-7b-report.json</a:t>
            </a:r>
          </a:p>
          <a:p xmlns:a="http://schemas.openxmlformats.org/drawingml/2006/main">
            <a:r>
              <a:t>- artifacts/phase5-confirmatory-report.json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artifacts/asap-evidence/phase7-model-capacity-7b-vllm.json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artifacts/phase7-model-workflow-7b-report.json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artifacts/phase5-confirmatory-report.json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artifacts/asap-evidence/tail-report.json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artifacts/asap-evidence/tail-report.json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artifacts/asap-evidence/tail-report.json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docs/experiments/mechanism_diverse_tail/evidence_report.md</a:t>
            </a:r>
          </a:p>
          <a:p xmlns:a="http://schemas.openxmlformats.org/drawingml/2006/main">
            <a:r>
              <a:t>- docs/experiments/mechanism_diverse_tail/03_adaptive_best_response/README.md</a:t>
            </a:r>
          </a:p>
          <a:p xmlns:a="http://schemas.openxmlformats.org/drawingml/2006/main">
            <a:r>
              <a:t>- docs/experiments/mechanism_diverse_tail/04_compound_heldout_transfer/README.md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3d3a721b8d446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0c0206f9b1c4d30" /><Relationship Type="http://schemas.openxmlformats.org/officeDocument/2006/relationships/slideLayout" Target="/ppt/slideLayouts/slideLayout1.xml" Id="R05dcb8e22999494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5dcb8e22999494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018c6334844cbb" /><Relationship Type="http://schemas.openxmlformats.org/officeDocument/2006/relationships/notesSlide" Target="/ppt/notesSlides/notesSlide1.xml" Id="R7ac2a3c921fd41d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f984773d554225" /><Relationship Type="http://schemas.openxmlformats.org/officeDocument/2006/relationships/notesSlide" Target="/ppt/notesSlides/notesSlide2.xml" Id="R93a7bead92cd4a8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fb82ed23ed4c85" /><Relationship Type="http://schemas.openxmlformats.org/officeDocument/2006/relationships/notesSlide" Target="/ppt/notesSlides/notesSlide3.xml" Id="R0201d36deb3647d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540d5c18b44597" /><Relationship Type="http://schemas.openxmlformats.org/officeDocument/2006/relationships/notesSlide" Target="/ppt/notesSlides/notesSlide4.xml" Id="Rc4d9d5c45f3a445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9b70b5bc93408b" /><Relationship Type="http://schemas.openxmlformats.org/officeDocument/2006/relationships/notesSlide" Target="/ppt/notesSlides/notesSlide5.xml" Id="R69502c0657204b7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a23548e2a3458e" /><Relationship Type="http://schemas.openxmlformats.org/officeDocument/2006/relationships/notesSlide" Target="/ppt/notesSlides/notesSlide6.xml" Id="R9be0bd7db346447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e1c1e5660441d3" /><Relationship Type="http://schemas.openxmlformats.org/officeDocument/2006/relationships/notesSlide" Target="/ppt/notesSlides/notesSlide7.xml" Id="R1794f7ab392e40f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4d4e34c6434ccb" /><Relationship Type="http://schemas.openxmlformats.org/officeDocument/2006/relationships/notesSlide" Target="/ppt/notesSlides/notesSlide8.xml" Id="R8684ebe795a9463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6af5dbe451449c" /><Relationship Type="http://schemas.openxmlformats.org/officeDocument/2006/relationships/notesSlide" Target="/ppt/notesSlides/notesSlide9.xml" Id="R3ac33a6fc7aa4d5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1a9d2a79df451d" /><Relationship Type="http://schemas.openxmlformats.org/officeDocument/2006/relationships/notesSlide" Target="/ppt/notesSlides/notesSlide10.xml" Id="R3b0a72ed0abd481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ed8f4f94124138" /><Relationship Type="http://schemas.openxmlformats.org/officeDocument/2006/relationships/notesSlide" Target="/ppt/notesSlides/notesSlide11.xml" Id="R50e1d31a9d6a4e5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54f6ea013246e1" /><Relationship Type="http://schemas.openxmlformats.org/officeDocument/2006/relationships/notesSlide" Target="/ppt/notesSlides/notesSlide12.xml" Id="R3cc8573c70eb420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4693a071b5477a" /><Relationship Type="http://schemas.openxmlformats.org/officeDocument/2006/relationships/chart" Target="/ppt/slides/charts/chart1.xml" Id="R75f1f083184b4000" /><Relationship Type="http://schemas.openxmlformats.org/officeDocument/2006/relationships/notesSlide" Target="/ppt/notesSlides/notesSlide13.xml" Id="R83f7848bd95249c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f03b437e394673" /><Relationship Type="http://schemas.openxmlformats.org/officeDocument/2006/relationships/chart" Target="/ppt/slides/charts/chart2.xml" Id="R87f08115003d4457" /><Relationship Type="http://schemas.openxmlformats.org/officeDocument/2006/relationships/notesSlide" Target="/ppt/notesSlides/notesSlide14.xml" Id="R90e7bc0db97e497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4b7d6e9a824f01" /><Relationship Type="http://schemas.openxmlformats.org/officeDocument/2006/relationships/chart" Target="/ppt/slides/charts/chart3.xml" Id="R0666d2733eb74e97" /><Relationship Type="http://schemas.openxmlformats.org/officeDocument/2006/relationships/notesSlide" Target="/ppt/notesSlides/notesSlide15.xml" Id="R7c47fa24d97744b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817f921a87417c" /><Relationship Type="http://schemas.openxmlformats.org/officeDocument/2006/relationships/notesSlide" Target="/ppt/notesSlides/notesSlide16.xml" Id="Rcaa62992f544427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8c5a3da6964da8" /><Relationship Type="http://schemas.openxmlformats.org/officeDocument/2006/relationships/chart" Target="/ppt/slides/charts/chart4.xml" Id="R91516df287344e1d" /><Relationship Type="http://schemas.openxmlformats.org/officeDocument/2006/relationships/notesSlide" Target="/ppt/notesSlides/notesSlide17.xml" Id="Rc0fc38147dff444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8d90b2589c43bf" /><Relationship Type="http://schemas.openxmlformats.org/officeDocument/2006/relationships/notesSlide" Target="/ppt/notesSlides/notesSlide18.xml" Id="R567e0fb39c074b8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33c2106b0b48ac" /><Relationship Type="http://schemas.openxmlformats.org/officeDocument/2006/relationships/notesSlide" Target="/ppt/notesSlides/notesSlide19.xml" Id="R235a61a47d114bfb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Attack success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4"/>
              <c:pt idx="0">
                <c:v>Unrestricted</c:v>
              </c:pt>
              <c:pt idx="1">
                <c:v>Paraphrase
fixed</c:v>
              </c:pt>
              <c:pt idx="2">
                <c:v>Paraphrase
adaptive</c:v>
              </c:pt>
              <c:pt idx="3">
                <c:v>Typed
adaptive</c:v>
              </c:pt>
            </c:strLit>
          </c:cat>
          <c:val>
            <c:numLit>
              <c:formatCode>General</c:formatCode>
              <c:ptCount val="4"/>
              <c:pt idx="0">
                <c:v>1</c:v>
              </c:pt>
              <c:pt idx="1">
                <c:v>0.25</c:v>
              </c:pt>
              <c:pt idx="2">
                <c:v>1</c:v>
              </c:pt>
              <c:pt idx="3">
                <c:v>0.25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00000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/>
                  <a:t>attack success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/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0.25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Attack success</c:v>
          </c:tx>
          <c:spPr>
            <a:solidFill xmlns:a="http://schemas.openxmlformats.org/drawingml/2006/main">
              <a:srgbClr val="A63434"/>
            </a:solidFill>
          </c:spPr>
          <c:cat>
            <c:strLit>
              <c:ptCount val="4"/>
              <c:pt idx="0">
                <c:v>No defense</c:v>
              </c:pt>
              <c:pt idx="1">
                <c:v>Local only</c:v>
              </c:pt>
              <c:pt idx="2">
                <c:v>Hard block</c:v>
              </c:pt>
              <c:pt idx="3">
                <c:v>Targeted repair</c:v>
              </c:pt>
            </c:strLit>
          </c:cat>
          <c:val>
            <c:numLit>
              <c:formatCode>General</c:formatCode>
              <c:ptCount val="4"/>
              <c:pt idx="0">
                <c:v>1</c:v>
              </c:pt>
              <c:pt idx="1">
                <c:v>1</c:v>
              </c:pt>
              <c:pt idx="2">
                <c:v>0</c:v>
              </c:pt>
              <c:pt idx="3">
                <c:v>0</c:v>
              </c:pt>
            </c:numLit>
          </c:val>
        </c:ser>
        <c:ser>
          <c:idx val="1"/>
          <c:order val="1"/>
          <c:tx>
            <c:v>Exact utility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4"/>
              <c:pt idx="0">
                <c:v>No defense</c:v>
              </c:pt>
              <c:pt idx="1">
                <c:v>Local only</c:v>
              </c:pt>
              <c:pt idx="2">
                <c:v>Hard block</c:v>
              </c:pt>
              <c:pt idx="3">
                <c:v>Targeted repair</c:v>
              </c:pt>
            </c:strLit>
          </c:cat>
          <c:val>
            <c:numLit>
              <c:formatCode>General</c:formatCode>
              <c:ptCount val="4"/>
              <c:pt idx="0">
                <c:v>1</c:v>
              </c:pt>
              <c:pt idx="1">
                <c:v>1</c:v>
              </c:pt>
              <c:pt idx="2">
                <c:v>0</c:v>
              </c:pt>
              <c:pt idx="3">
                <c:v>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00000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0.25"/>
      </c:valAx>
      <c:spPr>
        <a:noFill xmlns:a="http://schemas.openxmlformats.org/drawingml/2006/main"/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/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Detected before irreversible harm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4"/>
              <c:pt idx="0">
                <c:v>Low rate</c:v>
              </c:pt>
              <c:pt idx="1">
                <c:v>Memory poisoning</c:v>
              </c:pt>
              <c:pt idx="2">
                <c:v>Reward induced</c:v>
              </c:pt>
              <c:pt idx="3">
                <c:v>Delayed trigger</c:v>
              </c:pt>
            </c:strLit>
          </c:cat>
          <c:val>
            <c:numLit>
              <c:formatCode>General</c:formatCode>
              <c:ptCount val="4"/>
              <c:pt idx="0">
                <c:v>0.275</c:v>
              </c:pt>
              <c:pt idx="1">
                <c:v>0.75</c:v>
              </c:pt>
              <c:pt idx="2">
                <c:v>0.75</c:v>
              </c:pt>
              <c:pt idx="3">
                <c:v>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00000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0.25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Diverse stack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2"/>
              <c:pt idx="0">
                <c:v>Joint singleton bypass</c:v>
              </c:pt>
              <c:pt idx="1">
                <c:v>Realized stack bypass</c:v>
              </c:pt>
            </c:strLit>
          </c:cat>
          <c:val>
            <c:numLit>
              <c:formatCode>General</c:formatCode>
              <c:ptCount val="2"/>
              <c:pt idx="0">
                <c:v>0.03125</c:v>
              </c:pt>
              <c:pt idx="1">
                <c:v>0.05625</c:v>
              </c:pt>
            </c:numLit>
          </c:val>
        </c:ser>
        <c:ser>
          <c:idx val="1"/>
          <c:order val="1"/>
          <c:tx>
            <c:v>Homogeneous ensemble</c:v>
          </c:tx>
          <c:spPr>
            <a:solidFill xmlns:a="http://schemas.openxmlformats.org/drawingml/2006/main">
              <a:srgbClr val="B8BCC4"/>
            </a:solidFill>
          </c:spPr>
          <c:cat>
            <c:strLit>
              <c:ptCount val="2"/>
              <c:pt idx="0">
                <c:v>Joint singleton bypass</c:v>
              </c:pt>
              <c:pt idx="1">
                <c:v>Realized stack bypass</c:v>
              </c:pt>
            </c:strLit>
          </c:cat>
          <c:val>
            <c:numLit>
              <c:formatCode>General</c:formatCode>
              <c:ptCount val="2"/>
              <c:pt idx="0">
                <c:v>0.63125</c:v>
              </c:pt>
              <c:pt idx="1">
                <c:v>0.65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00000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0.7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0.15"/>
      </c:valAx>
      <c:spPr>
        <a:noFill xmlns:a="http://schemas.openxmlformats.org/drawingml/2006/main"/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/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70F7A3-7436-4E02-AB4F-707AF45DF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MULTI-AGENT DEFENSE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9CB11F-AFF6-4F03-AF0C-53CAADA4A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8858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buNone/>
              <a:defRPr sz="5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Mechanism-diverse</a:t>
            </a:r>
          </a:p>
          <a:p xmlns:a="http://schemas.openxmlformats.org/drawingml/2006/main">
            <a:pPr algn="l">
              <a:buNone/>
              <a:defRPr sz="5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tail robustness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D7CF6D-5836-450F-A996-9E5E96610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05300"/>
            <a:ext cx="7810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A falsifiable harness for collusion, steganography, compound attacks, and irreversible harm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BCBD0C-57C1-44D1-BE35-FFC2818F5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876300"/>
            <a:ext cx="18097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A949E6-9A66-4F1B-A102-0AEA17522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352550"/>
            <a:ext cx="8572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47FDE2-12EE-41B9-8087-00AA0962E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29300"/>
            <a:ext cx="762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E01—E05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2,400 synthetic trajectories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900 frozen 7B episodes</a:t>
            </a:r>
          </a:p>
        </p:txBody>
      </p:sp>
    </p:spTree>
    <p:extLst>
      <p:ext uri="{BB962C8B-B14F-4D97-AF65-F5344CB8AC3E}">
        <p14:creationId xmlns:p14="http://schemas.microsoft.com/office/powerpoint/2010/main" val="3165089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70F7A3-7436-4E02-AB4F-707AF45DF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SECTION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9CB11F-AFF6-4F03-AF0C-53CAADA4A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8858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buNone/>
              <a:defRPr sz="5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Problem Space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D7CF6D-5836-450F-A996-9E5E96610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05300"/>
            <a:ext cx="7810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Why component-level safety breaks when stochastic agents coordinate across messages, tools, and time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BCBD0C-57C1-44D1-BE35-FFC2818F5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876300"/>
            <a:ext cx="18097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A949E6-9A66-4F1B-A102-0AEA17522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352550"/>
            <a:ext cx="8572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47FDE2-12EE-41B9-8087-00AA0962E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29300"/>
            <a:ext cx="762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01 / PROBLEM SPACE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From isolated outputs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to system trajectories</a:t>
            </a:r>
          </a:p>
        </p:txBody>
      </p:sp>
    </p:spTree>
    <p:extLst>
      <p:ext uri="{BB962C8B-B14F-4D97-AF65-F5344CB8AC3E}">
        <p14:creationId xmlns:p14="http://schemas.microsoft.com/office/powerpoint/2010/main" val="31650899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F5E479-F304-43E0-9DD7-6ECE0BB1B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MECHANISM-DIVERSE TAIL ROBUSTNESS</a:t>
            </a:r>
          </a:p>
        </p:txBody>
      </p:sp>
      <p:sp>
        <p:nvSpPr>
          <p:cNvPr id="2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75D1F63C-9327-4B72-9129-868816903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Why multi-agent security is a system property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57683D-8C23-4AC2-AA5B-ED38921DB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BDC0CE-0622-4406-9B4F-98CF1B342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43050"/>
            <a:ext cx="542925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6CD06E-8FC1-495C-9B93-0E6F7A300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43050"/>
            <a:ext cx="560070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363782-92FE-4FEB-9BA8-546B59559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Single-agent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764050-A6DA-4B46-82A2-CAB2EC10E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4667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• Evaluate each agent independently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• Inspect local messages and actions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• Assume failures compose monotonically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• Optimize average performance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75A0DB-A5FB-4312-BFF3-AD6BAB917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857375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Multi-agent reality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4D6E4E-7DEC-485C-B4D4-00B4FD5E6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76500"/>
            <a:ext cx="4762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1. Safe local steps can compose into harm.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2. Coordination can hide in messages, tools, memory, or timing.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3. Failures correlate across agents and defenses.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5C5AC7-7E09-417E-8BE5-0A3A14555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1980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A634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A63434"/>
                </a:solidFill>
                <a:latin typeface="Helvetica Neue"/>
                <a:ea typeface="Helvetica Neue"/>
                <a:cs typeface="Helvetica Neue"/>
              </a:rPr>
              <a:t>Defense must evaluate trajectories, coalitions, and consequences—not components alone.</a:t>
            </a:r>
          </a:p>
        </p:txBody>
      </p:sp>
    </p:spTree>
    <p:extLst>
      <p:ext uri="{BB962C8B-B14F-4D97-AF65-F5344CB8AC3E}">
        <p14:creationId xmlns:p14="http://schemas.microsoft.com/office/powerpoint/2010/main" val="1816091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70F7A3-7436-4E02-AB4F-707AF45DF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SECTION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9CB11F-AFF6-4F03-AF0C-53CAADA4A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8858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buNone/>
              <a:defRPr sz="5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Multi-Agent</a:t>
            </a:r>
          </a:p>
          <a:p xmlns:a="http://schemas.openxmlformats.org/drawingml/2006/main">
            <a:pPr algn="l">
              <a:buNone/>
              <a:defRPr sz="5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Attack Vectors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D7CF6D-5836-450F-A996-9E5E96610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05300"/>
            <a:ext cx="7810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Collusion, steganography, heterogeneous composition, and cascading compromise stress different defense surfaces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BCBD0C-57C1-44D1-BE35-FFC2818F5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876300"/>
            <a:ext cx="18097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A949E6-9A66-4F1B-A102-0AEA17522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352550"/>
            <a:ext cx="8572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47FDE2-12EE-41B9-8087-00AA0962E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29300"/>
            <a:ext cx="762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02 / ATTACK VECTORS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Channels, composition,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and consequences</a:t>
            </a:r>
          </a:p>
        </p:txBody>
      </p:sp>
    </p:spTree>
    <p:extLst>
      <p:ext uri="{BB962C8B-B14F-4D97-AF65-F5344CB8AC3E}">
        <p14:creationId xmlns:p14="http://schemas.microsoft.com/office/powerpoint/2010/main" val="31650899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6F9099C-0853-4127-A943-84671A9A3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MECHANISM-DIVERSE TAIL ROBUSTNESS</a:t>
            </a:r>
          </a:p>
        </p:txBody>
      </p:sp>
      <p:sp>
        <p:nvSpPr>
          <p:cNvPr id="2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C64C9AF2-450C-416F-BF2D-736C72B43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Compound attack axes defeat average-case defense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8828D0-64AE-4CF2-9B1A-8A36EB632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27BDB3-9CE1-48E3-833F-3C84ADFB6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Section 3.3 treats attack categories and attack variation separately. The difficult cases combine adverse values across several axes.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DA942C-5803-40BF-99D2-B3060E3DC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Detectability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0E6606-A63A-4A64-BD78-345C67975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247900"/>
            <a:ext cx="3619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observable signal → structurally undetectable</a:t>
            </a:r>
          </a:p>
        </p:txBody>
      </p:sp>
      <p:cxnSp>
        <p:nvCxnSpPr>
          <p:cNvPr id="93" name=""/>
          <p:cNvCxnSpPr/>
          <p:nvPr/>
        </p:nvCxnSpPr>
        <p:spPr>
          <a:xfrm xmlns:a="http://schemas.openxmlformats.org/drawingml/2006/main">
            <a:off x="400050" y="2905125"/>
            <a:ext cx="53816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82E17F-FE5B-4B8F-B65C-4187B426C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7182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Locality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E8BB6E-6BDE-4FEA-B0BE-610B46DCD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3181350"/>
            <a:ext cx="3619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one agent → coalition or whole graph</a:t>
            </a:r>
          </a:p>
        </p:txBody>
      </p:sp>
      <p:cxnSp>
        <p:nvCxnSpPr>
          <p:cNvPr id="96" name=""/>
          <p:cNvCxnSpPr/>
          <p:nvPr/>
        </p:nvCxnSpPr>
        <p:spPr>
          <a:xfrm xmlns:a="http://schemas.openxmlformats.org/drawingml/2006/main">
            <a:off x="400050" y="3838575"/>
            <a:ext cx="53816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92639D-9DFB-4113-B817-996142A39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0527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Cascading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86A434-AEE1-429F-82A0-838908E6F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4114800"/>
            <a:ext cx="3619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contained → propagating compromise</a:t>
            </a:r>
          </a:p>
        </p:txBody>
      </p:sp>
      <p:cxnSp>
        <p:nvCxnSpPr>
          <p:cNvPr id="99" name=""/>
          <p:cNvCxnSpPr/>
          <p:nvPr/>
        </p:nvCxnSpPr>
        <p:spPr>
          <a:xfrm xmlns:a="http://schemas.openxmlformats.org/drawingml/2006/main">
            <a:off x="400050" y="4772025"/>
            <a:ext cx="53816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E83C11-4523-404D-9AA5-534569B31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3872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Composition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4FE275-7992-4688-B0DE-38C0904BA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5048250"/>
            <a:ext cx="3619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one action → harmless-looking multi-step chain</a:t>
            </a:r>
          </a:p>
        </p:txBody>
      </p:sp>
      <p:cxnSp>
        <p:nvCxnSpPr>
          <p:cNvPr id="102" name=""/>
          <p:cNvCxnSpPr/>
          <p:nvPr/>
        </p:nvCxnSpPr>
        <p:spPr>
          <a:xfrm xmlns:a="http://schemas.openxmlformats.org/drawingml/2006/main">
            <a:off x="400050" y="5705475"/>
            <a:ext cx="53816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536886-8946-4668-862F-F2C3339DC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3837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Time horizon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A7B2CA-9108-4CFD-A862-542DD5103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247900"/>
            <a:ext cx="3619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one shot → deployment lifetime</a:t>
            </a:r>
          </a:p>
        </p:txBody>
      </p:sp>
      <p:cxnSp>
        <p:nvCxnSpPr>
          <p:cNvPr id="105" name=""/>
          <p:cNvCxnSpPr/>
          <p:nvPr/>
        </p:nvCxnSpPr>
        <p:spPr>
          <a:xfrm xmlns:a="http://schemas.openxmlformats.org/drawingml/2006/main">
            <a:off x="6210300" y="2905125"/>
            <a:ext cx="53816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F9C697-E14C-464E-AF35-664082794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7182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Attributability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038FBD-DA15-40EB-8BBB-B6793AF2A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181350"/>
            <a:ext cx="3619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traceable actor → degraded lineage</a:t>
            </a:r>
          </a:p>
        </p:txBody>
      </p:sp>
      <p:cxnSp>
        <p:nvCxnSpPr>
          <p:cNvPr id="108" name=""/>
          <p:cNvCxnSpPr/>
          <p:nvPr/>
        </p:nvCxnSpPr>
        <p:spPr>
          <a:xfrm xmlns:a="http://schemas.openxmlformats.org/drawingml/2006/main">
            <a:off x="6210300" y="3838575"/>
            <a:ext cx="53816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3C0994-C306-4A4F-B1A3-E67CB9636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10527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Directness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570AA6-5AD7-408A-9559-FE035A8AE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114800"/>
            <a:ext cx="3619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explicit attacker → emergent harm</a:t>
            </a:r>
          </a:p>
        </p:txBody>
      </p:sp>
      <p:cxnSp>
        <p:nvCxnSpPr>
          <p:cNvPr id="111" name=""/>
          <p:cNvCxnSpPr/>
          <p:nvPr/>
        </p:nvCxnSpPr>
        <p:spPr>
          <a:xfrm xmlns:a="http://schemas.openxmlformats.org/drawingml/2006/main">
            <a:off x="6210300" y="4772025"/>
            <a:ext cx="53816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22504A-45F0-4DA1-9FBF-264614677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03872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Reversibility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7566D9-FFEF-4AC0-8A0C-353EB742D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5048250"/>
            <a:ext cx="3619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rollback → irreversible consequence</a:t>
            </a:r>
          </a:p>
        </p:txBody>
      </p:sp>
      <p:cxnSp>
        <p:nvCxnSpPr>
          <p:cNvPr id="114" name=""/>
          <p:cNvCxnSpPr/>
          <p:nvPr/>
        </p:nvCxnSpPr>
        <p:spPr>
          <a:xfrm xmlns:a="http://schemas.openxmlformats.org/drawingml/2006/main">
            <a:off x="6210300" y="5705475"/>
            <a:ext cx="53816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11AFF5-A4DF-4748-9178-36D3F5F4F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6742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Design implication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01A019-9594-44F2-B29F-330A98A7D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606742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Optimize the worst conditional tail—not the pooled average case.</a:t>
            </a:r>
          </a:p>
        </p:txBody>
      </p:sp>
    </p:spTree>
    <p:extLst>
      <p:ext uri="{BB962C8B-B14F-4D97-AF65-F5344CB8AC3E}">
        <p14:creationId xmlns:p14="http://schemas.microsoft.com/office/powerpoint/2010/main" val="118100183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F5E479-F304-43E0-9DD7-6ECE0BB1B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MECHANISM-DIVERSE TAIL ROBUSTNESS</a:t>
            </a:r>
          </a:p>
        </p:txBody>
      </p:sp>
      <p:sp>
        <p:nvSpPr>
          <p:cNvPr id="2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75D1F63C-9327-4B72-9129-868816903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Four vectors stress different defense surfaces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57683D-8C23-4AC2-AA5B-ED38921DB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BDC0CE-0622-4406-9B4F-98CF1B342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43050"/>
            <a:ext cx="542925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6CD06E-8FC1-495C-9B93-0E6F7A300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43050"/>
            <a:ext cx="560070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363782-92FE-4FEB-9BA8-546B59559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Coordination channels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764050-A6DA-4B46-82A2-CAB2EC10E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4667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• Overt or semantic collusion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• Steganography and distribution matching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• Shared memory, tools, or scratchpads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• Delayed or low-rate signaling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75A0DB-A5FB-4312-BFF3-AD6BAB917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857375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System-level attacks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4D6E4E-7DEC-485C-B4D4-00B4FD5E6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76500"/>
            <a:ext cx="4762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1. Heterogeneous task decomposition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2. Locally acceptable multi-step workflows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3. Cascading compromise and irreversible actions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5C5AC7-7E09-417E-8BE5-0A3A14555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1980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A634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A63434"/>
                </a:solidFill>
                <a:latin typeface="Helvetica Neue"/>
                <a:ea typeface="Helvetica Neue"/>
                <a:cs typeface="Helvetica Neue"/>
              </a:rPr>
              <a:t>Section 3.3 axes cut across every vector: detectability, locality, cascade, composition, horizon, attribution, directness, and reversibility.</a:t>
            </a:r>
          </a:p>
        </p:txBody>
      </p:sp>
    </p:spTree>
    <p:extLst>
      <p:ext uri="{BB962C8B-B14F-4D97-AF65-F5344CB8AC3E}">
        <p14:creationId xmlns:p14="http://schemas.microsoft.com/office/powerpoint/2010/main" val="18160911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70F7A3-7436-4E02-AB4F-707AF45DF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SECTION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9CB11F-AFF6-4F03-AF0C-53CAADA4A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8858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buNone/>
              <a:defRPr sz="5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Proposed Defense</a:t>
            </a:r>
          </a:p>
          <a:p xmlns:a="http://schemas.openxmlformats.org/drawingml/2006/main">
            <a:pPr algn="l">
              <a:buNone/>
              <a:defRPr sz="5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Optimization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D7CF6D-5836-450F-A996-9E5E96610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05300"/>
            <a:ext cx="7810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Select mechanism-diverse stacks by worst-cell tail risk under utility and latency constraints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BCBD0C-57C1-44D1-BE35-FFC2818F5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876300"/>
            <a:ext cx="18097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A949E6-9A66-4F1B-A102-0AEA17522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352550"/>
            <a:ext cx="8572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47FDE2-12EE-41B9-8087-00AA0962E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29300"/>
            <a:ext cx="762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03 / PROPOSAL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From average-case scores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to tail-robust stacks</a:t>
            </a:r>
          </a:p>
        </p:txBody>
      </p:sp>
    </p:spTree>
    <p:extLst>
      <p:ext uri="{BB962C8B-B14F-4D97-AF65-F5344CB8AC3E}">
        <p14:creationId xmlns:p14="http://schemas.microsoft.com/office/powerpoint/2010/main" val="31650899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848647-FB61-4778-9EC2-3A58A81DF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MECHANISM-DIVERSE TAIL ROBUSTNESS</a:t>
            </a:r>
          </a:p>
        </p:txBody>
      </p:sp>
      <p:sp>
        <p:nvSpPr>
          <p:cNvPr id="2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80917119-A4B0-4A44-B08A-E16727614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Tail selection meets failure-mechanism diversity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DE2EBA-D36D-49AB-8187-2FDB10017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F1168C-9623-4937-A5F9-695B64D72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13919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293257-CBDE-47AB-AF4B-960321F12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38325"/>
            <a:ext cx="1076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π* = arg minπ  maxg  UCB[CVaR0.10(Z | g, BR(π,g))]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07BEC2-BC3B-478F-A276-D0E9C5EFE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45745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subject to utility, false-alarm, and latency constraints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53CCCC-5864-40E5-8EAC-3BA32BDB1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0"/>
            <a:ext cx="3476625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03F6CD-9259-4F54-812A-FFB39B485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0"/>
            <a:ext cx="952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6367CB-2A30-4606-B8AC-85ADF02ED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30384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Tail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2A1A58-4A26-45BB-9CDC-3E248A55C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57700"/>
            <a:ext cx="30384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Selection targets rare severe trajectories inside each attack cell—not merely cell means.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03C398-AF4E-4E84-AF78-E2A7AC6BC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333750"/>
            <a:ext cx="3476625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6A2609-3DE1-431B-BF03-DD80BE047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333750"/>
            <a:ext cx="952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7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560E2F-A6B1-4608-941A-689398045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600450"/>
            <a:ext cx="30384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2070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20704A"/>
                </a:solidFill>
                <a:latin typeface="Helvetica Neue"/>
                <a:ea typeface="Helvetica Neue"/>
                <a:cs typeface="Helvetica Neue"/>
              </a:rPr>
              <a:t>Γ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865616-D563-457C-9700-054E969AD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457700"/>
            <a:ext cx="30384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Matched singleton forks measure whether defense layers share the same failure set.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A349C8-526C-4964-A919-DAC5F0F71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33750"/>
            <a:ext cx="34861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6B66CD-D7BD-4129-A76E-BBF01D817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33750"/>
            <a:ext cx="952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6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A5DCE2-6E7A-46D1-AC6D-8960A1A5C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00450"/>
            <a:ext cx="304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C86B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C86B20"/>
                </a:solidFill>
                <a:latin typeface="Helvetica Neue"/>
                <a:ea typeface="Helvetica Neue"/>
                <a:cs typeface="Helvetica Neue"/>
              </a:rPr>
              <a:t>BR(π,g)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A3C488-3D18-4BBE-BBF0-7AF9005A8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57700"/>
            <a:ext cx="304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The attacker is re-optimized against each deployed stack under an equal budget.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6FC88A-3A68-4EDD-97E8-83662CDB3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53125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Distinctive prediction: validation failure geometry predicts adaptive held-out stack gain.</a:t>
            </a:r>
          </a:p>
        </p:txBody>
      </p:sp>
    </p:spTree>
    <p:extLst>
      <p:ext uri="{BB962C8B-B14F-4D97-AF65-F5344CB8AC3E}">
        <p14:creationId xmlns:p14="http://schemas.microsoft.com/office/powerpoint/2010/main" val="12638531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F5E479-F304-43E0-9DD7-6ECE0BB1B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MECHANISM-DIVERSE TAIL ROBUSTNESS</a:t>
            </a:r>
          </a:p>
        </p:txBody>
      </p:sp>
      <p:sp>
        <p:nvSpPr>
          <p:cNvPr id="2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75D1F63C-9327-4B72-9129-868816903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testable novelty is common-mode geometry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57683D-8C23-4AC2-AA5B-ED38921DB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BDC0CE-0622-4406-9B4F-98CF1B342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43050"/>
            <a:ext cx="542925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6CD06E-8FC1-495C-9B93-0E6F7A300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43050"/>
            <a:ext cx="560070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363782-92FE-4FEB-9BA8-546B59559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Established machinery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764050-A6DA-4B46-82A2-CAB2EC10E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4667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• CVaR / expected shortfall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• Worst-group or distributionally robust selection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• Confidence bounds and multiplicity control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• Anytime-valid sequential evidence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• Utility-constrained optimization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75A0DB-A5FB-4312-BFF3-AD6BAB917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857375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New hypotheses to falsify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4D6E4E-7DEC-485C-B4D4-00B4FD5E6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76500"/>
            <a:ext cx="4762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1. Fixed-panel layer failures are complementary.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2. Complementarity survives stack-aware adaptation.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3. Validation Γ predicts held-out realized gain beyond component quality and cost.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5C5AC7-7E09-417E-8BE5-0A3A14555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1980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A634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A63434"/>
                </a:solidFill>
                <a:latin typeface="Helvetica Neue"/>
                <a:ea typeface="Helvetica Neue"/>
                <a:cs typeface="Helvetica Neue"/>
              </a:rPr>
              <a:t>No universal claim: success is bounded by the registered models, channels, tools, and attacker budget.</a:t>
            </a:r>
          </a:p>
        </p:txBody>
      </p:sp>
    </p:spTree>
    <p:extLst>
      <p:ext uri="{BB962C8B-B14F-4D97-AF65-F5344CB8AC3E}">
        <p14:creationId xmlns:p14="http://schemas.microsoft.com/office/powerpoint/2010/main" val="18160911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0C0637-2900-4AC7-8115-15880B658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MECHANISM-DIVERSE TAIL ROBUSTNESS</a:t>
            </a:r>
          </a:p>
        </p:txBody>
      </p:sp>
      <p:sp>
        <p:nvSpPr>
          <p:cNvPr id="2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441AD398-7AE6-4EEA-9B80-FD3B60A02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One harness separates four scientific claims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D8FA7F-9A2D-4011-9DBB-172F8588C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cxnSp>
        <p:nvCxnSpPr>
          <p:cNvPr id="38" name=""/>
          <p:cNvCxnSpPr/>
          <p:nvPr/>
        </p:nvCxnSpPr>
        <p:spPr>
          <a:xfrm xmlns:a="http://schemas.openxmlformats.org/drawingml/2006/main">
            <a:off x="809625" y="3286125"/>
            <a:ext cx="10287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046216-E4D4-4D8E-953C-B0941DA7B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28950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B26A82-3BE2-4191-8AFE-A09B72852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1467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AEA8DC-57F5-4EF4-B9E5-702D8025C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57625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Matched panels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6C8E62-D104-4EE6-B680-46BA5CFEB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81500"/>
            <a:ext cx="1809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Replay one attack against each singleton and the full stack.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C8D885-1CB0-4121-AD8B-7357057F7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28950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64D015-870C-4988-8E6D-8753A8033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1467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8BD092-31B0-4340-ACE0-6C045FC98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857625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Validation selection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DD1D8E-2A5F-4CC1-9FC5-66431A654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381500"/>
            <a:ext cx="1809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Compare five selectors on identical trajectories and constraints.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A0158D-8023-4FED-AEE8-0193D8EF7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028950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AA2E37-6335-4467-A68F-A54558966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1467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6B4469-E9C9-4273-AA7D-6452F5DC8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857625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Best response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1C8A96-7D87-4C67-851A-962D3213F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381500"/>
            <a:ext cx="1809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Search against each stack with the same query and rollout budget.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3E2F06-061B-4E6C-A459-4B439181F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28950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0F6B17-0CBF-4604-96C8-53689B09D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11467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68903A-CDCF-4019-91F7-DA192D376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857625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Sealed holdout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F10897-8291-41A0-BF23-7138DD56C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381500"/>
            <a:ext cx="1809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Open test cells only after a hash-bound selection artifact exists.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CAA663-9917-49BF-91CD-1D48A3E96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28950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493813-4F51-4713-98FE-5377906B2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11467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BB2C60-5262-4233-A12A-F382C8620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857625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Before harm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19D626-7430-4C84-BCEA-92269403A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381500"/>
            <a:ext cx="1809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Score intervention relative to the first irreversible action.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1CDE00-70DF-47F6-B12D-E17859631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Common contract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202833-D67E-47B9-94D1-918057807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Immutable assignments • paired seeds • model/runtime revision • consequence loss • utility • latency • trace hash</a:t>
            </a:r>
          </a:p>
        </p:txBody>
      </p:sp>
    </p:spTree>
    <p:extLst>
      <p:ext uri="{BB962C8B-B14F-4D97-AF65-F5344CB8AC3E}">
        <p14:creationId xmlns:p14="http://schemas.microsoft.com/office/powerpoint/2010/main" val="106909501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70F7A3-7436-4E02-AB4F-707AF45DF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SECTION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9CB11F-AFF6-4F03-AF0C-53CAADA4A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8858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buNone/>
              <a:defRPr sz="5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Experiments and</a:t>
            </a:r>
          </a:p>
          <a:p xmlns:a="http://schemas.openxmlformats.org/drawingml/2006/main">
            <a:pPr algn="l">
              <a:buNone/>
              <a:defRPr sz="5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Conclusions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D7CF6D-5836-450F-A996-9E5E96610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05300"/>
            <a:ext cx="7810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Canaries, controlled evidence, negative results, and the gates required before stronger claims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BCBD0C-57C1-44D1-BE35-FFC2818F5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876300"/>
            <a:ext cx="18097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A949E6-9A66-4F1B-A102-0AEA17522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352550"/>
            <a:ext cx="8572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47FDE2-12EE-41B9-8087-00AA0962E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29300"/>
            <a:ext cx="762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04 / EVIDENCE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What is supported—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and what remains open</a:t>
            </a:r>
          </a:p>
        </p:txBody>
      </p:sp>
    </p:spTree>
    <p:extLst>
      <p:ext uri="{BB962C8B-B14F-4D97-AF65-F5344CB8AC3E}">
        <p14:creationId xmlns:p14="http://schemas.microsoft.com/office/powerpoint/2010/main" val="31650899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131C71-3FBE-45E9-B711-EDD3B75D3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MECHANISM-DIVERSE TAIL ROBUSTNESS</a:t>
            </a:r>
          </a:p>
        </p:txBody>
      </p:sp>
      <p:sp>
        <p:nvSpPr>
          <p:cNvPr id="2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CA9E1DB2-44DE-4718-AAFD-A49280260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levels are explicit—not interchangeable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F74CF4-81B3-48FE-9AEA-F5440C234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17BDED-2BE1-4928-97F6-FC2F2BA93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34766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2BDC0F-8382-4F57-96E5-060EA2673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95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3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57BA5D-E40A-4135-938D-774336F5B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30384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2,400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8BF936-6003-469C-9E55-F76CBEA7B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33700"/>
            <a:ext cx="30384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Controlled trajectories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Validates estimands, leakage controls, selectors, and known positive/negative fixtures.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DB8085-898C-4C86-B1FA-6D1D5FF60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809750"/>
            <a:ext cx="34766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AABD1D-F00F-4EC1-9266-2BE52D1E0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809750"/>
            <a:ext cx="95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659B87-AB64-4F51-A371-EF4D948A5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076450"/>
            <a:ext cx="30384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64 + 24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1B36BE-585A-435E-AA53-5D01585EE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933700"/>
            <a:ext cx="30384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7B mechanism canaries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Shows covert-channel and remediation paths execute on pinned Qwen2.5-7B.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AC07C0-0BDD-492D-9A25-0C42D64E6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09750"/>
            <a:ext cx="34861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24F48E-FA4D-4F63-B5C6-E8B254284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09750"/>
            <a:ext cx="95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7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1B2D4F-964F-42B1-8200-323DE068D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76450"/>
            <a:ext cx="304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2070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20704A"/>
                </a:solidFill>
                <a:latin typeface="Helvetica Neue"/>
                <a:ea typeface="Helvetica Neue"/>
                <a:cs typeface="Helvetica Neue"/>
              </a:rPr>
              <a:t>900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6C9C74-72A0-4552-948E-ACA23CC56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3048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Frozen 7B sequential episodes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Supports registered lifetime-error claims—not the full layered conjecture.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4ABC26-1996-4C7A-9D39-7267C562B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C86B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C86B20"/>
                </a:solidFill>
                <a:latin typeface="Helvetica Neue"/>
                <a:ea typeface="Helvetica Neue"/>
                <a:cs typeface="Helvetica Neue"/>
              </a:rPr>
              <a:t>Overall status: mechanism-backed feasibility; full conjecture unconfirmed.</a:t>
            </a:r>
          </a:p>
        </p:txBody>
      </p:sp>
    </p:spTree>
    <p:extLst>
      <p:ext uri="{BB962C8B-B14F-4D97-AF65-F5344CB8AC3E}">
        <p14:creationId xmlns:p14="http://schemas.microsoft.com/office/powerpoint/2010/main" val="31458286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82E770-9413-4750-8886-127FE3D82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MECHANISM-DIVERSE TAIL ROBUSTNESS</a:t>
            </a:r>
          </a:p>
        </p:txBody>
      </p:sp>
      <p:sp>
        <p:nvSpPr>
          <p:cNvPr id="2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1462EBED-5E7F-431A-BF19-FD71AA234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Typed mediation holds after semantic adaptation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56FD1D-B3B8-4CF1-B87C-53F33837B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400050" y="1571625"/>
          <a:ext xmlns:a="http://schemas.openxmlformats.org/drawingml/2006/main" cx="7239000" cy="4429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5f1f083184b4000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7ACE5B-E8E8-4FC4-8106-33D26A91A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62125"/>
            <a:ext cx="33813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E2CFBA-E705-4925-899C-F147B4A5C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955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2070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0704A"/>
                </a:solidFill>
                <a:latin typeface="Helvetica Neue"/>
                <a:ea typeface="Helvetica Neue"/>
                <a:cs typeface="Helvetica Neue"/>
              </a:rPr>
              <a:t>Utility = 1.00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BE331E-680F-400F-B6A4-3549287B4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5747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in every condition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CFEFA4-1619-4CA4-9FCB-794628C03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62375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What it teaches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EDD393-25F8-4C82-B43A-66209D7B3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67200"/>
            <a:ext cx="3238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Suppressing one representation does not remove task-compatible channel capacity. The typed schema removes registered carrier degrees of freedom.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6D110C-6349-4F49-B810-609594139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15050"/>
            <a:ext cx="904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n = 16 episodes / condition • pinned Qwen2.5-7B • registered codebook</a:t>
            </a:r>
          </a:p>
        </p:txBody>
      </p:sp>
    </p:spTree>
    <p:extLst>
      <p:ext uri="{BB962C8B-B14F-4D97-AF65-F5344CB8AC3E}">
        <p14:creationId xmlns:p14="http://schemas.microsoft.com/office/powerpoint/2010/main" val="94317316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7FF592-F54F-424F-B66C-2EDC93490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MECHANISM-DIVERSE TAIL ROBUSTNESS</a:t>
            </a:r>
          </a:p>
        </p:txBody>
      </p:sp>
      <p:sp>
        <p:nvSpPr>
          <p:cNvPr id="2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37E69B3F-EBCE-41F9-BF5B-DE90A281A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Targeted repair preserves utility; hard blocking does not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FF52A6-7687-4D8D-8774-DA8B2865D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400050" y="1619250"/>
          <a:ext xmlns:a="http://schemas.openxmlformats.org/drawingml/2006/main" cx="7715250" cy="4381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7f08115003d4457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1336DE-6A69-48B7-925A-9FBBFA1D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5262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Registered harmful workflow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3E1665-639F-4D8D-AAF6-60BA29565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76500"/>
            <a:ext cx="28098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Local policies accept each step. The provenance-aware repair removes the prohibited flow and keeps the legitimate workflow intact.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E65D1C-4521-4C14-8E73-BFA9EA6A3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24375"/>
            <a:ext cx="28098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FE992A-B0CB-45BF-83A8-810CA4BE3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762500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C86B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C86B20"/>
                </a:solidFill>
                <a:latin typeface="Helvetica Neue"/>
                <a:ea typeface="Helvetica Neue"/>
                <a:cs typeface="Helvetica Neue"/>
              </a:rPr>
              <a:t>n = 4 / condition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F781DF-D651-4B12-9D04-D8E702478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219700"/>
            <a:ext cx="2333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feasibility—not confirmation</a:t>
            </a:r>
          </a:p>
        </p:txBody>
      </p:sp>
    </p:spTree>
    <p:extLst>
      <p:ext uri="{BB962C8B-B14F-4D97-AF65-F5344CB8AC3E}">
        <p14:creationId xmlns:p14="http://schemas.microsoft.com/office/powerpoint/2010/main" val="505113961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F19709-49B3-47B4-A352-F9AE71F78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MECHANISM-DIVERSE TAIL ROBUSTNESS</a:t>
            </a:r>
          </a:p>
        </p:txBody>
      </p:sp>
      <p:sp>
        <p:nvSpPr>
          <p:cNvPr id="2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A9FD2FB8-3B79-426E-89BC-EA226EF83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Low-rate harms expose the monitoring gap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DEA8DB-6990-475F-93D5-F0B76B8ED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0050" y="1666875"/>
          <a:ext xmlns:a="http://schemas.openxmlformats.org/drawingml/2006/main" cx="723900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666d2733eb74e97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1C860C-840B-426E-A2CD-BA5BCAD11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3813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AFD91F-0C48-4C0B-8A49-221BD8F27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9525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7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8B0137-B802-46B0-AC98-5F55509B9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76450"/>
            <a:ext cx="29432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2070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20704A"/>
                </a:solidFill>
                <a:latin typeface="Helvetica Neue"/>
                <a:ea typeface="Helvetica Neue"/>
                <a:cs typeface="Helvetica Neue"/>
              </a:rPr>
              <a:t>0.0458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716A40-E1BB-495B-97BA-208EF766B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933700"/>
            <a:ext cx="29432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Benign lifetime-alarm 95% upper bound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0 / 80 alarms in each benign test stratum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96E82A-EAE2-42DB-A313-26A96688F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05250"/>
            <a:ext cx="33813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248122-591F-442F-A6E9-A17FACD18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05250"/>
            <a:ext cx="9525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6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FF2722-13A5-495B-BC3C-29CD6B018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171950"/>
            <a:ext cx="29432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C86B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C86B20"/>
                </a:solidFill>
                <a:latin typeface="Helvetica Neue"/>
                <a:ea typeface="Helvetica Neue"/>
                <a:cs typeface="Helvetica Neue"/>
              </a:rPr>
              <a:t>Same rates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5B92C4-F32E-43FE-B2ED-5AE313782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029200"/>
            <a:ext cx="29432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All monitors calibrated to zero thresholds; the e-process was often slower.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7DCF22-AAD9-4EA9-B3D5-FFECAD977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150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Frozen test: 560 episodes • 80 / condition • Qwen2.5-7B</a:t>
            </a:r>
          </a:p>
        </p:txBody>
      </p:sp>
    </p:spTree>
    <p:extLst>
      <p:ext uri="{BB962C8B-B14F-4D97-AF65-F5344CB8AC3E}">
        <p14:creationId xmlns:p14="http://schemas.microsoft.com/office/powerpoint/2010/main" val="1817878420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310ECD3-08AE-4304-97E2-ABA543574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MECHANISM-DIVERSE TAIL ROBUSTNESS</a:t>
            </a:r>
          </a:p>
        </p:txBody>
      </p:sp>
      <p:sp>
        <p:nvSpPr>
          <p:cNvPr id="2" name="slide-10-title">
            <a:extLst xmlns:a="http://schemas.openxmlformats.org/drawingml/2006/main">
              <a:ext uri="{FF2B5EF4-FFF2-40B4-BE49-F238E27FC236}">
                <a16:creationId xmlns:a16="http://schemas.microsoft.com/office/drawing/2014/main" id="{E07834F3-1512-4A27-BD49-56266779D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Controlled mechanisms pass; selector superiority does not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9D766C-49B7-429F-A581-E931604A8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392410-FACB-4AF5-9012-FFC9E4784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81150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ID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690FD0-06E6-4DB6-947B-F1EEFE290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5811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QUESTION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ECB01F-1972-446C-8808-A0CCD5506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581150"/>
            <a:ext cx="519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PRIMARY CONTROLLED RESULT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ACECBB-4FF3-44E9-8319-A035E4FAF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15811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GATE</a:t>
            </a:r>
          </a:p>
        </p:txBody>
      </p:sp>
      <p:cxnSp>
        <p:nvCxnSpPr>
          <p:cNvPr id="56" name=""/>
          <p:cNvCxnSpPr/>
          <p:nvPr/>
        </p:nvCxnSpPr>
        <p:spPr>
          <a:xfrm xmlns:a="http://schemas.openxmlformats.org/drawingml/2006/main">
            <a:off x="400050" y="19431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3959C0-5CF5-46FF-95A8-B49BF9450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19300"/>
            <a:ext cx="11391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A9A9D8-6F11-42C5-AD56-63A26CC97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114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AB5759-755D-4F48-BBF0-3A52CF17B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1145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Selector comparison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09F39D-BB0F-448D-96CD-FD5FC5AA9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14550"/>
            <a:ext cx="519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0.00 improvement; all choose diverse-stack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D2D3CA-72DC-4411-B627-E259685AF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1145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C86B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C86B20"/>
                </a:solidFill>
                <a:latin typeface="Helvetica Neue"/>
                <a:ea typeface="Helvetica Neue"/>
                <a:cs typeface="Helvetica Neue"/>
              </a:rPr>
              <a:t>NO CONTRAST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4DCAE7-2AC5-43FD-9062-C791D0DA5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956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ABFCDC-D759-4FFC-9FEB-4AB3624D8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8956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Failure complementarity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695ED0-6BDF-47C0-9E8D-987BCF8A4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95600"/>
            <a:ext cx="519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Γ 0.406; realized gain 0.381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38898E-93BD-4886-B06B-F44EBF9E8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8956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070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0704A"/>
                </a:solidFill>
                <a:latin typeface="Helvetica Neue"/>
                <a:ea typeface="Helvetica Neue"/>
                <a:cs typeface="Helvetica Neue"/>
              </a:rPr>
              <a:t>PASS*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1B62F4-6391-4903-B77B-3A5567FDA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81400"/>
            <a:ext cx="11391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8D7E86-C26C-47DD-A2AA-EF16EC3C7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766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818B89-FD32-46E0-A25F-AE94A79B8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6766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Adaptive persistence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B3ACDF-0EC6-4D5A-B56E-63A487198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76650"/>
            <a:ext cx="519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0.93 vs 1.00 worst-cell CVaR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330313-2CE2-473A-9B89-6BC5E344E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6766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070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0704A"/>
                </a:solidFill>
                <a:latin typeface="Helvetica Neue"/>
                <a:ea typeface="Helvetica Neue"/>
                <a:cs typeface="Helvetica Neue"/>
              </a:rPr>
              <a:t>PASS*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AC6C0A-9318-433B-A5B1-2C3071733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577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3368E0-86F3-4901-8045-FCDE2A17A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4577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Held-out transfer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029E85-6090-472A-A25B-7CF905053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57700"/>
            <a:ext cx="519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Spearman 0.866; compound gate blocked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38026B-58A4-4CF5-BAB9-13258B195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4577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A634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A63434"/>
                </a:solidFill>
                <a:latin typeface="Helvetica Neue"/>
                <a:ea typeface="Helvetica Neue"/>
                <a:cs typeface="Helvetica Neue"/>
              </a:rPr>
              <a:t>FAIL*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FFC104-DD28-430E-BA94-0DE112CBC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0"/>
            <a:ext cx="11391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519946-B7D7-481F-8941-85C5E8746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2387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DA00D5-624E-431F-A2CE-12E0FE62B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2387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Before-harm validity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DA2D1B-3415-4F0D-9600-FD2A83FA9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238750"/>
            <a:ext cx="519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harm 0.725 → 0.025; before-harm 0.95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B52420-C4CE-4477-A5F5-EEA2EFAC6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52387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070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0704A"/>
                </a:solidFill>
                <a:latin typeface="Helvetica Neue"/>
                <a:ea typeface="Helvetica Neue"/>
                <a:cs typeface="Helvetica Neue"/>
              </a:rPr>
              <a:t>PASS*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38F686-D7F8-44E0-990B-6C52ECCE0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* controlled synthetic gate only; not evidence about stochastic LLM-agent robustness</a:t>
            </a:r>
          </a:p>
        </p:txBody>
      </p:sp>
    </p:spTree>
    <p:extLst>
      <p:ext uri="{BB962C8B-B14F-4D97-AF65-F5344CB8AC3E}">
        <p14:creationId xmlns:p14="http://schemas.microsoft.com/office/powerpoint/2010/main" val="1868691257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6BA0A9-E813-4212-8612-E23A499D7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MECHANISM-DIVERSE TAIL ROBUSTNESS</a:t>
            </a:r>
          </a:p>
        </p:txBody>
      </p:sp>
      <p:sp>
        <p:nvSpPr>
          <p:cNvPr id="2" name="slide-11-title">
            <a:extLst xmlns:a="http://schemas.openxmlformats.org/drawingml/2006/main">
              <a:ext uri="{FF2B5EF4-FFF2-40B4-BE49-F238E27FC236}">
                <a16:creationId xmlns:a16="http://schemas.microsoft.com/office/drawing/2014/main" id="{E76E2DDF-B28C-40EF-842D-A6C91F87F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Mechanism diversity breaks common-mode failure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B80C0F-A953-4D68-B714-B8137207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0050" y="1666875"/>
          <a:ext xmlns:a="http://schemas.openxmlformats.org/drawingml/2006/main" cx="7239000" cy="4238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1516df287344e1d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729F59-0E22-433A-82D2-2CD880D57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62125"/>
            <a:ext cx="338137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C35228-F393-46AE-9F1C-25522189B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62125"/>
            <a:ext cx="9525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7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0A7EC5-37BB-4B44-BE2F-0C564B52F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28825"/>
            <a:ext cx="29432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2070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20704A"/>
                </a:solidFill>
                <a:latin typeface="Helvetica Neue"/>
                <a:ea typeface="Helvetica Neue"/>
                <a:cs typeface="Helvetica Neue"/>
              </a:rPr>
              <a:t>Γ = 0.406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DC261C-4FC5-41C7-BCC5-059C161EC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86075"/>
            <a:ext cx="29432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Diverse fixed-panel complementarity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44F32C-4E8C-468A-9023-86A4747AC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62375"/>
            <a:ext cx="338137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3FF3C3-4D21-4894-B61F-8846D39BD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62375"/>
            <a:ext cx="9525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6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49068B-4B52-49DD-A8F3-E3FBE8FAD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029075"/>
            <a:ext cx="29432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C86B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C86B20"/>
                </a:solidFill>
                <a:latin typeface="Helvetica Neue"/>
                <a:ea typeface="Helvetica Neue"/>
                <a:cs typeface="Helvetica Neue"/>
              </a:rPr>
              <a:t>+0.025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3F4778-EDC6-4525-BF41-F6730A8C5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886325"/>
            <a:ext cx="29432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Interaction gap: the enforced stack is slightly worse than the singleton intersection.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A5C233-A6BB-4D6C-B0E4-70A016931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43625"/>
            <a:ext cx="1000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The interaction gap is reported—not hidden—because enforcement changes trajectories.</a:t>
            </a:r>
          </a:p>
        </p:txBody>
      </p:sp>
    </p:spTree>
    <p:extLst>
      <p:ext uri="{BB962C8B-B14F-4D97-AF65-F5344CB8AC3E}">
        <p14:creationId xmlns:p14="http://schemas.microsoft.com/office/powerpoint/2010/main" val="1637805764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7C5280-E623-4768-BA09-30C58691E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MECHANISM-DIVERSE TAIL ROBUSTNESS</a:t>
            </a:r>
          </a:p>
        </p:txBody>
      </p:sp>
      <p:sp>
        <p:nvSpPr>
          <p:cNvPr id="2" name="slide-12-title">
            <a:extLst xmlns:a="http://schemas.openxmlformats.org/drawingml/2006/main">
              <a:ext uri="{FF2B5EF4-FFF2-40B4-BE49-F238E27FC236}">
                <a16:creationId xmlns:a16="http://schemas.microsoft.com/office/drawing/2014/main" id="{9B1ABED8-B38E-4E2D-A4EC-3EC41DC9C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good harness must be able to say “not supported”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8B43DF-7AC0-44E3-B9F2-CF827533E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87E9D7-FA12-4CDD-83F7-E27960653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5334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CA7752-38A5-4D29-B4A6-1335EE60F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002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C86B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C86B20"/>
                </a:solidFill>
                <a:latin typeface="Helvetica Neue"/>
                <a:ea typeface="Helvetica Neue"/>
                <a:cs typeface="Helvetica Neue"/>
              </a:rPr>
              <a:t>E01: no selector contrast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D18815-8681-40B7-B768-AB4D2242F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14625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Pooled mean, pooled CVaR, worst-cell mean, hierarchical tail, and UCB-tail all select the same stack.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Result: the fixture validates plumbing but cannot establish superiority.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9AE714-B01B-4B4B-B41D-BBACD288A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19250"/>
            <a:ext cx="56959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F6C045-3769-418E-AE28-02248CE75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00250"/>
            <a:ext cx="485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A634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A63434"/>
                </a:solidFill>
                <a:latin typeface="Helvetica Neue"/>
                <a:ea typeface="Helvetica Neue"/>
                <a:cs typeface="Helvetica Neue"/>
              </a:rPr>
              <a:t>E04: correlation is insufficient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1C3F4F-A652-4CC1-834E-FA7F68D3E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714625"/>
            <a:ext cx="476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Validation Γ correlates with synthetic held-out robustness (ρ = 0.866), but the registered compound gate requires E01 advantage too.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Result: E04 remains false.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28566D-3DBD-40AF-A3DC-4AED565C7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This prevents favorable secondary metrics from laundering a failed primary hypothesis.</a:t>
            </a:r>
          </a:p>
        </p:txBody>
      </p:sp>
    </p:spTree>
    <p:extLst>
      <p:ext uri="{BB962C8B-B14F-4D97-AF65-F5344CB8AC3E}">
        <p14:creationId xmlns:p14="http://schemas.microsoft.com/office/powerpoint/2010/main" val="976027241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3D1B11-64E7-48EA-86C6-3DA4ACC75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MECHANISM-DIVERSE TAIL ROBUSTNESS</a:t>
            </a:r>
          </a:p>
        </p:txBody>
      </p:sp>
      <p:sp>
        <p:nvSpPr>
          <p:cNvPr id="2" name="slide-13-title">
            <a:extLst xmlns:a="http://schemas.openxmlformats.org/drawingml/2006/main">
              <a:ext uri="{FF2B5EF4-FFF2-40B4-BE49-F238E27FC236}">
                <a16:creationId xmlns:a16="http://schemas.microsoft.com/office/drawing/2014/main" id="{5359DFED-FFA9-4922-82E9-17E965940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Three gates remain before a defensible security claim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66D728-C950-41A3-A178-827AD7709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918F06-D9CE-493E-9479-8F130A10E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3381375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CB0F6C-0882-4DCC-A200-A94539C1C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66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29D0F4-52DE-44AD-A4CB-4460DC31F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2809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Stack-aware attack search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62AD8D-EC5F-43A7-AB6F-655A82A07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57625"/>
            <a:ext cx="2809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Equal query, token, tool, and rollout budgets. Fresh-seed diagonal evaluation against every finalist stack.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66D313-1F48-43F0-9D61-E73D7E994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762125"/>
            <a:ext cx="3381375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72F8DC-99C4-4BDC-BED5-577140495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47875"/>
            <a:ext cx="66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F70D54-33E3-4A40-8C03-DD9B30F00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905125"/>
            <a:ext cx="2809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Discriminative selector study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5E9369-2DCD-41E3-8370-8E02EFD6C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857625"/>
            <a:ext cx="2809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Expand stack/cell diversity until baseline selectors can choose differently; freeze the margin before test.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28467C-53F3-4C5F-8A2C-CA0379AE0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62125"/>
            <a:ext cx="3381375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DBDC29-977A-4C0E-A37E-208BB8034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47875"/>
            <a:ext cx="66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71EFEB-6E3B-4058-9249-6176A880A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05125"/>
            <a:ext cx="2809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Held-out 7–9B family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4228B1-7D84-4286-911F-2F6BD03B8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857625"/>
            <a:ext cx="2809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Qualify a genuinely different capable model, then open single-axis and compound test manifests exactly once.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1780EC-79B2-44E4-B91B-49D351981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7212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Current conclusion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76134C-4239-4D6A-B72F-EB9E8536D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5245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Mechanism-backed feasibility is strong; adaptive and cross-model robustness remain open.</a:t>
            </a:r>
          </a:p>
        </p:txBody>
      </p:sp>
    </p:spTree>
    <p:extLst>
      <p:ext uri="{BB962C8B-B14F-4D97-AF65-F5344CB8AC3E}">
        <p14:creationId xmlns:p14="http://schemas.microsoft.com/office/powerpoint/2010/main" val="16417329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2026-08-21T07:37:33.4910000Z</dcterms:created>
  <dcterms:modified xsi:type="dcterms:W3CDTF">2026-08-21T07:37:33.4910000Z</dcterms:modified>
</coreProperties>
</file>