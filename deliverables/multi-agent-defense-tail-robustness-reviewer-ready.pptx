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4.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8c7b6827174f34" /><Relationship Type="http://schemas.openxmlformats.org/officeDocument/2006/relationships/extended-properties" Target="/docProps/app.xml" Id="R9bff7b964e05491d" /><Relationship Type="http://schemas.openxmlformats.org/officeDocument/2006/relationships/officeDocument" Target="/ppt/presentation.xml" Id="Red67d8efbf9d4688" /></Relationships>
</file>

<file path=ppt/presentation.xml><?xml version="1.0" encoding="utf-8"?>
<p:presentation xmlns:p="http://schemas.openxmlformats.org/presentationml/2006/main">
  <p:sldMasterIdLst>
    <p:sldMasterId xmlns:r="http://schemas.openxmlformats.org/officeDocument/2006/relationships" id="2147483648" r:id="R725a44545fe24922"/>
  </p:sldMasterIdLst>
  <p:notesMasterIdLst>
    <p:notesMasterId xmlns:r="http://schemas.openxmlformats.org/officeDocument/2006/relationships" r:id="R709f8bfb4c5346ff"/>
  </p:notesMasterIdLst>
  <p:sldIdLst>
    <p:sldId xmlns:r="http://schemas.openxmlformats.org/officeDocument/2006/relationships" id="256" r:id="R0e941a5dc5c54b84"/>
    <p:sldId xmlns:r="http://schemas.openxmlformats.org/officeDocument/2006/relationships" id="257" r:id="Rad1afcac834747ad"/>
    <p:sldId xmlns:r="http://schemas.openxmlformats.org/officeDocument/2006/relationships" id="258" r:id="R02b9fabb4deb4763"/>
    <p:sldId xmlns:r="http://schemas.openxmlformats.org/officeDocument/2006/relationships" id="259" r:id="R74de599459dc4397"/>
    <p:sldId xmlns:r="http://schemas.openxmlformats.org/officeDocument/2006/relationships" id="260" r:id="R6c838022ca304fcb"/>
    <p:sldId xmlns:r="http://schemas.openxmlformats.org/officeDocument/2006/relationships" id="261" r:id="Rddfe117eb6924567"/>
    <p:sldId xmlns:r="http://schemas.openxmlformats.org/officeDocument/2006/relationships" id="262" r:id="R22daded13aec48ce"/>
    <p:sldId xmlns:r="http://schemas.openxmlformats.org/officeDocument/2006/relationships" id="263" r:id="Rec543adbb7f541a8"/>
    <p:sldId xmlns:r="http://schemas.openxmlformats.org/officeDocument/2006/relationships" id="264" r:id="R52564454aac64b78"/>
    <p:sldId xmlns:r="http://schemas.openxmlformats.org/officeDocument/2006/relationships" id="265" r:id="R7ed020749e8b4f2d"/>
    <p:sldId xmlns:r="http://schemas.openxmlformats.org/officeDocument/2006/relationships" id="266" r:id="Rfe035f7e83174088"/>
    <p:sldId xmlns:r="http://schemas.openxmlformats.org/officeDocument/2006/relationships" id="267" r:id="R1719cf6ce79d4a6d"/>
    <p:sldId xmlns:r="http://schemas.openxmlformats.org/officeDocument/2006/relationships" id="268" r:id="R0fb4d5bf76574b78"/>
    <p:sldId xmlns:r="http://schemas.openxmlformats.org/officeDocument/2006/relationships" id="269" r:id="R8f6d93e366714a53"/>
    <p:sldId xmlns:r="http://schemas.openxmlformats.org/officeDocument/2006/relationships" id="270" r:id="R6251995af3bd421c"/>
    <p:sldId xmlns:r="http://schemas.openxmlformats.org/officeDocument/2006/relationships" id="271" r:id="R8b661001e1ad442a"/>
    <p:sldId xmlns:r="http://schemas.openxmlformats.org/officeDocument/2006/relationships" id="272" r:id="R01a6206006bd4998"/>
    <p:sldId xmlns:r="http://schemas.openxmlformats.org/officeDocument/2006/relationships" id="273" r:id="R405905311d474290"/>
    <p:sldId xmlns:r="http://schemas.openxmlformats.org/officeDocument/2006/relationships" id="274" r:id="Rd01c4c4943454c78"/>
    <p:sldId xmlns:r="http://schemas.openxmlformats.org/officeDocument/2006/relationships" id="275" r:id="R63b6b64cb2324e9d"/>
    <p:sldId xmlns:r="http://schemas.openxmlformats.org/officeDocument/2006/relationships" id="276" r:id="Ra29ef913980f44f0"/>
    <p:sldId xmlns:r="http://schemas.openxmlformats.org/officeDocument/2006/relationships" id="277" r:id="R7df9141d663f47fb"/>
    <p:sldId xmlns:r="http://schemas.openxmlformats.org/officeDocument/2006/relationships" id="278" r:id="R08bec7bb290547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ccc4bd4e1e4c50" /><Relationship Type="http://schemas.openxmlformats.org/officeDocument/2006/relationships/slideMaster" Target="/ppt/slideMasters/slideMaster1.xml" Id="R725a44545fe24922" /><Relationship Type="http://schemas.openxmlformats.org/officeDocument/2006/relationships/notesMaster" Target="/ppt/notesMasters/notesMaster1.xml" Id="R709f8bfb4c5346ff" /><Relationship Type="http://schemas.openxmlformats.org/officeDocument/2006/relationships/presProps" Target="/ppt/presProps.xml" Id="Ra9049fd1a8ea4d96" /><Relationship Type="http://schemas.openxmlformats.org/officeDocument/2006/relationships/tableStyles" Target="/ppt/tableStyles.xml" Id="Ra088580cecbb4733" /><Relationship Type="http://schemas.openxmlformats.org/officeDocument/2006/relationships/slide" Target="/ppt/slides/slide1.xml" Id="R0e941a5dc5c54b84" /><Relationship Type="http://schemas.openxmlformats.org/officeDocument/2006/relationships/slide" Target="/ppt/slides/slide2.xml" Id="Rad1afcac834747ad" /><Relationship Type="http://schemas.openxmlformats.org/officeDocument/2006/relationships/slide" Target="/ppt/slides/slide3.xml" Id="R02b9fabb4deb4763" /><Relationship Type="http://schemas.openxmlformats.org/officeDocument/2006/relationships/slide" Target="/ppt/slides/slide4.xml" Id="R74de599459dc4397" /><Relationship Type="http://schemas.openxmlformats.org/officeDocument/2006/relationships/slide" Target="/ppt/slides/slide5.xml" Id="R6c838022ca304fcb" /><Relationship Type="http://schemas.openxmlformats.org/officeDocument/2006/relationships/slide" Target="/ppt/slides/slide6.xml" Id="Rddfe117eb6924567" /><Relationship Type="http://schemas.openxmlformats.org/officeDocument/2006/relationships/slide" Target="/ppt/slides/slide7.xml" Id="R22daded13aec48ce" /><Relationship Type="http://schemas.openxmlformats.org/officeDocument/2006/relationships/slide" Target="/ppt/slides/slide8.xml" Id="Rec543adbb7f541a8" /><Relationship Type="http://schemas.openxmlformats.org/officeDocument/2006/relationships/slide" Target="/ppt/slides/slide9.xml" Id="R52564454aac64b78" /><Relationship Type="http://schemas.openxmlformats.org/officeDocument/2006/relationships/slide" Target="/ppt/slides/slide10.xml" Id="R7ed020749e8b4f2d" /><Relationship Type="http://schemas.openxmlformats.org/officeDocument/2006/relationships/slide" Target="/ppt/slides/slide11.xml" Id="Rfe035f7e83174088" /><Relationship Type="http://schemas.openxmlformats.org/officeDocument/2006/relationships/slide" Target="/ppt/slides/slide12.xml" Id="R1719cf6ce79d4a6d" /><Relationship Type="http://schemas.openxmlformats.org/officeDocument/2006/relationships/slide" Target="/ppt/slides/slide13.xml" Id="R0fb4d5bf76574b78" /><Relationship Type="http://schemas.openxmlformats.org/officeDocument/2006/relationships/slide" Target="/ppt/slides/slide14.xml" Id="R8f6d93e366714a53" /><Relationship Type="http://schemas.openxmlformats.org/officeDocument/2006/relationships/slide" Target="/ppt/slides/slide15.xml" Id="R6251995af3bd421c" /><Relationship Type="http://schemas.openxmlformats.org/officeDocument/2006/relationships/slide" Target="/ppt/slides/slide16.xml" Id="R8b661001e1ad442a" /><Relationship Type="http://schemas.openxmlformats.org/officeDocument/2006/relationships/slide" Target="/ppt/slides/slide17.xml" Id="R01a6206006bd4998" /><Relationship Type="http://schemas.openxmlformats.org/officeDocument/2006/relationships/slide" Target="/ppt/slides/slide18.xml" Id="R405905311d474290" /><Relationship Type="http://schemas.openxmlformats.org/officeDocument/2006/relationships/slide" Target="/ppt/slides/slide19.xml" Id="Rd01c4c4943454c78" /><Relationship Type="http://schemas.openxmlformats.org/officeDocument/2006/relationships/slide" Target="/ppt/slides/slide20.xml" Id="R63b6b64cb2324e9d" /><Relationship Type="http://schemas.openxmlformats.org/officeDocument/2006/relationships/slide" Target="/ppt/slides/slide21.xml" Id="Ra29ef913980f44f0" /><Relationship Type="http://schemas.openxmlformats.org/officeDocument/2006/relationships/slide" Target="/ppt/slides/slide22.xml" Id="R7df9141d663f47fb" /><Relationship Type="http://schemas.openxmlformats.org/officeDocument/2006/relationships/slide" Target="/ppt/slides/slide23.xml" Id="R08bec7bb290547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339d039d0e45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55dcb4c1434f41" /><Relationship Type="http://schemas.openxmlformats.org/officeDocument/2006/relationships/notesMaster" Target="/ppt/notesMasters/notesMaster1.xml" Id="R43a222a7852c47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1e41bf51f74997" /><Relationship Type="http://schemas.openxmlformats.org/officeDocument/2006/relationships/notesMaster" Target="/ppt/notesMasters/notesMaster1.xml" Id="R63321bd5ac8840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b1694d62dc415e" /><Relationship Type="http://schemas.openxmlformats.org/officeDocument/2006/relationships/notesMaster" Target="/ppt/notesMasters/notesMaster1.xml" Id="Rdb3a7d718afb4b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f2ec774c064266" /><Relationship Type="http://schemas.openxmlformats.org/officeDocument/2006/relationships/notesMaster" Target="/ppt/notesMasters/notesMaster1.xml" Id="Rb07a8075594b44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3b87ff24e5402b" /><Relationship Type="http://schemas.openxmlformats.org/officeDocument/2006/relationships/notesMaster" Target="/ppt/notesMasters/notesMaster1.xml" Id="Rbb348dc6c2a34c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91055fce66490f" /><Relationship Type="http://schemas.openxmlformats.org/officeDocument/2006/relationships/notesMaster" Target="/ppt/notesMasters/notesMaster1.xml" Id="Rb807b0cfd2e041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c48242e10c47a3" /><Relationship Type="http://schemas.openxmlformats.org/officeDocument/2006/relationships/notesMaster" Target="/ppt/notesMasters/notesMaster1.xml" Id="R80a5a3d996ae4a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9a7f55f9fa4a9c" /><Relationship Type="http://schemas.openxmlformats.org/officeDocument/2006/relationships/notesMaster" Target="/ppt/notesMasters/notesMaster1.xml" Id="Rd424fcc045094a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822b9e0aaa439a" /><Relationship Type="http://schemas.openxmlformats.org/officeDocument/2006/relationships/notesMaster" Target="/ppt/notesMasters/notesMaster1.xml" Id="Rf173e34f81a145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595fec4ff74d24" /><Relationship Type="http://schemas.openxmlformats.org/officeDocument/2006/relationships/notesMaster" Target="/ppt/notesMasters/notesMaster1.xml" Id="Ra939e69b207c47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11ccebc8e14a4a" /><Relationship Type="http://schemas.openxmlformats.org/officeDocument/2006/relationships/notesMaster" Target="/ppt/notesMasters/notesMaster1.xml" Id="Re72b8976c4614c7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eb628bc66b44dd" /><Relationship Type="http://schemas.openxmlformats.org/officeDocument/2006/relationships/notesMaster" Target="/ppt/notesMasters/notesMaster1.xml" Id="Rd50935f9767945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e956c9229c4f1b" /><Relationship Type="http://schemas.openxmlformats.org/officeDocument/2006/relationships/notesMaster" Target="/ppt/notesMasters/notesMaster1.xml" Id="R443c021efdfc40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a0b146ddae47ee" /><Relationship Type="http://schemas.openxmlformats.org/officeDocument/2006/relationships/notesMaster" Target="/ppt/notesMasters/notesMaster1.xml" Id="Re21bad5448894ff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938fc9af3bc4f0b" /><Relationship Type="http://schemas.openxmlformats.org/officeDocument/2006/relationships/notesMaster" Target="/ppt/notesMasters/notesMaster1.xml" Id="R7c8cedbafbfa440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788072465ef4667" /><Relationship Type="http://schemas.openxmlformats.org/officeDocument/2006/relationships/notesMaster" Target="/ppt/notesMasters/notesMaster1.xml" Id="R42301ce2de90469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7447df16dc848c7" /><Relationship Type="http://schemas.openxmlformats.org/officeDocument/2006/relationships/notesMaster" Target="/ppt/notesMasters/notesMaster1.xml" Id="R33c8aba4895e4aa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9391626a9aa40ab" /><Relationship Type="http://schemas.openxmlformats.org/officeDocument/2006/relationships/notesMaster" Target="/ppt/notesMasters/notesMaster1.xml" Id="Rc3841f689fdd415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8a8f1bb61744da4" /><Relationship Type="http://schemas.openxmlformats.org/officeDocument/2006/relationships/notesMaster" Target="/ppt/notesMasters/notesMaster1.xml" Id="Rd01af39223dc4d0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2b55428590a400e" /><Relationship Type="http://schemas.openxmlformats.org/officeDocument/2006/relationships/notesMaster" Target="/ppt/notesMasters/notesMaster1.xml" Id="Rad2530752a34442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439938f35064979" /><Relationship Type="http://schemas.openxmlformats.org/officeDocument/2006/relationships/notesMaster" Target="/ppt/notesMasters/notesMaster1.xml" Id="R21eba832026c4e7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d4aaf5b3e994b61" /><Relationship Type="http://schemas.openxmlformats.org/officeDocument/2006/relationships/notesMaster" Target="/ppt/notesMasters/notesMaster1.xml" Id="R404e2c57fe2c488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292c310c66c4920" /><Relationship Type="http://schemas.openxmlformats.org/officeDocument/2006/relationships/notesMaster" Target="/ppt/notesMasters/notesMaster1.xml" Id="R40fef0e15bb247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Opening — approximately 45 seconds</a:t>
            </a:r>
          </a:p>
          <a:p xmlns:a="http://schemas.openxmlformats.org/drawingml/2006/main">
            <a:r>
              <a:t/>
            </a:r>
          </a:p>
          <a:p xmlns:a="http://schemas.openxmlformats.org/drawingml/2006/main">
            <a:r>
              <a:t>This presentation asks a bounded research question: can we select layered defenses that reduce rare, severe multi-agent failures without destroying legitimate utility or making the system operationally unusable?</a:t>
            </a:r>
          </a:p>
          <a:p xmlns:a="http://schemas.openxmlformats.org/drawingml/2006/main">
            <a:r>
              <a:t/>
            </a:r>
          </a:p>
          <a:p xmlns:a="http://schemas.openxmlformats.org/drawingml/2006/main">
            <a:r>
              <a:t>The key phrase is “mechanism-diverse.” The layers should fail for different reasons: a message monitor, a capacity-constrained mediator, a provenance policy, and a consequential-action gate should not all share one blind spot.</a:t>
            </a:r>
          </a:p>
          <a:p xmlns:a="http://schemas.openxmlformats.org/drawingml/2006/main">
            <a:r>
              <a:t/>
            </a:r>
          </a:p>
          <a:p xmlns:a="http://schemas.openxmlformats.org/drawingml/2006/main">
            <a:r>
              <a:t>I built a falsifiable evaluation harness around that idea. The headline counts represent different evidence levels: 2,400 controlled trajectories validate the estimands and experimental plumbing; the frozen 7B study supports a sequential-monitoring endpoint; smaller 7B canaries show that covert-channel and remediation mechanisms execute end to end. These must not be treated as interchangeable evidence for the full conjecture.</a:t>
            </a:r>
          </a:p>
          <a:p xmlns:a="http://schemas.openxmlformats.org/drawingml/2006/main">
            <a:r>
              <a:t/>
            </a:r>
          </a:p>
          <a:p xmlns:a="http://schemas.openxmlformats.org/drawingml/2006/main">
            <a:r>
              <a:t>Transition: I will first explain why multi-agent security requires a system-level objective, then define the attack space, the proposed selector, and exactly what the current experiments do and do not support.</a:t>
            </a:r>
          </a:p>
          <a:p xmlns:a="http://schemas.openxmlformats.org/drawingml/2006/main">
            <a:r>
              <a:t/>
            </a:r>
          </a:p>
          <a:p xmlns:a="http://schemas.openxmlformats.org/drawingml/2006/main">
            <a:r>
              <a:t>[Sources]</a:t>
            </a:r>
          </a:p>
          <a:p xmlns:a="http://schemas.openxmlformats.org/drawingml/2006/main">
            <a:r>
              <a:t>- https://arxiv.org/abs/2505.02077</a:t>
            </a:r>
          </a:p>
          <a:p xmlns:a="http://schemas.openxmlformats.org/drawingml/2006/main">
            <a:r>
              <a:t>- docs/experiments/mechanism_diverse_tail/evidence_report.md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Section transition — approximately 15 seconds</a:t>
            </a:r>
          </a:p>
          <a:p xmlns:a="http://schemas.openxmlformats.org/drawingml/2006/main">
            <a:r>
              <a:t/>
            </a:r>
          </a:p>
          <a:p xmlns:a="http://schemas.openxmlformats.org/drawingml/2006/main">
            <a:r>
              <a:t>The first problem is conceptual. Standard evaluation often asks whether a single output or action is safe. A multi-agent system can fail even when every local step looks acceptable, because the security-relevant object is the full trajectory: who coordinated, what state was shared, which tools were invoked, and whether the combined outcome crossed an irreversible boundary.</a:t>
            </a:r>
          </a:p>
          <a:p xmlns:a="http://schemas.openxmlformats.org/drawingml/2006/main">
            <a:r>
              <a:t/>
            </a:r>
          </a:p>
          <a:p xmlns:a="http://schemas.openxmlformats.org/drawingml/2006/main">
            <a:r>
              <a:t>Transition: the next slide makes that distinction concrete.</a:t>
            </a:r>
          </a:p>
          <a:p xmlns:a="http://schemas.openxmlformats.org/drawingml/2006/main">
            <a:r>
              <a:t/>
            </a:r>
          </a:p>
          <a:p xmlns:a="http://schemas.openxmlformats.org/drawingml/2006/main">
            <a:r>
              <a:t>[Sources]</a:t>
            </a:r>
          </a:p>
          <a:p xmlns:a="http://schemas.openxmlformats.org/drawingml/2006/main">
            <a:r>
              <a:t>- https://arxiv.org/abs/2505.02077 (Introduction and Section 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60 seconds</a:t>
            </a:r>
          </a:p>
          <a:p xmlns:a="http://schemas.openxmlformats.org/drawingml/2006/main">
            <a:r>
              <a:t/>
            </a:r>
          </a:p>
          <a:p xmlns:a="http://schemas.openxmlformats.org/drawingml/2006/main">
            <a:r>
              <a:t>The left side is the default component-level view: test agents independently, inspect visible messages, and optimize average task performance. That is necessary, but insufficient.</a:t>
            </a:r>
          </a:p>
          <a:p xmlns:a="http://schemas.openxmlformats.org/drawingml/2006/main">
            <a:r>
              <a:t/>
            </a:r>
          </a:p>
          <a:p xmlns:a="http://schemas.openxmlformats.org/drawingml/2006/main">
            <a:r>
              <a:t>On the right are three composition failures. First, individually benign steps can combine into a forbidden workflow. Second, coordination can move through semantic choices, tool calls, memory, or timing rather than an obvious secret string. Third, defenses can share correlated failure modes: several classifiers trained on similar evidence may all fail on the same attack.</a:t>
            </a:r>
          </a:p>
          <a:p xmlns:a="http://schemas.openxmlformats.org/drawingml/2006/main">
            <a:r>
              <a:t/>
            </a:r>
          </a:p>
          <a:p xmlns:a="http://schemas.openxmlformats.org/drawingml/2006/main">
            <a:r>
              <a:t>An example is a six-role workflow where no single agent receives a prohibited instruction. One retrieves data, one transforms it, one approves a tool call, and one publishes the artifact. Local checks can pass while the lineage of the final action violates policy.</a:t>
            </a:r>
          </a:p>
          <a:p xmlns:a="http://schemas.openxmlformats.org/drawingml/2006/main">
            <a:r>
              <a:t/>
            </a:r>
          </a:p>
          <a:p xmlns:a="http://schemas.openxmlformats.org/drawingml/2006/main">
            <a:r>
              <a:t>Research point: “system property” means the estimand must be defined over stochastic trajectories, coalitions, and consequences—not merely per-message accuracy.</a:t>
            </a:r>
          </a:p>
          <a:p xmlns:a="http://schemas.openxmlformats.org/drawingml/2006/main">
            <a:r>
              <a:t/>
            </a:r>
          </a:p>
          <a:p xmlns:a="http://schemas.openxmlformats.org/drawingml/2006/main">
            <a:r>
              <a:t>Transition: once the unit of analysis is the system trajectory, the attack space becomes multidimensional.</a:t>
            </a:r>
          </a:p>
          <a:p xmlns:a="http://schemas.openxmlformats.org/drawingml/2006/main">
            <a:r>
              <a:t/>
            </a:r>
          </a:p>
          <a:p xmlns:a="http://schemas.openxmlformats.org/drawingml/2006/main">
            <a:r>
              <a:t>[Sources]</a:t>
            </a:r>
          </a:p>
          <a:p xmlns:a="http://schemas.openxmlformats.org/drawingml/2006/main">
            <a:r>
              <a:t>- https://arxiv.org/abs/2505.02077 (Introduction and Section 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Section transition — approximately 15 seconds</a:t>
            </a:r>
          </a:p>
          <a:p xmlns:a="http://schemas.openxmlformats.org/drawingml/2006/main">
            <a:r>
              <a:t/>
            </a:r>
          </a:p>
          <a:p xmlns:a="http://schemas.openxmlformats.org/drawingml/2006/main">
            <a:r>
              <a:t>I separate attack vectors from attack dimensions. A vector is the mechanism—collusion, steganography, heterogeneous task decomposition, or cascade. A dimension describes how difficult an instance is: how observable, distributed, delayed, attributable, or reversible it is.</a:t>
            </a:r>
          </a:p>
          <a:p xmlns:a="http://schemas.openxmlformats.org/drawingml/2006/main">
            <a:r>
              <a:t/>
            </a:r>
          </a:p>
          <a:p xmlns:a="http://schemas.openxmlformats.org/drawingml/2006/main">
            <a:r>
              <a:t>Transition: Section 3.3 of the survey provides the dimensions used to parameterize the harness.</a:t>
            </a:r>
          </a:p>
          <a:p xmlns:a="http://schemas.openxmlformats.org/drawingml/2006/main">
            <a:r>
              <a:t/>
            </a:r>
          </a:p>
          <a:p xmlns:a="http://schemas.openxmlformats.org/drawingml/2006/main">
            <a:r>
              <a:t>[Sources]</a:t>
            </a:r>
          </a:p>
          <a:p xmlns:a="http://schemas.openxmlformats.org/drawingml/2006/main">
            <a:r>
              <a:t>- https://arxiv.org/abs/2505.02077 (Section 3.3)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75 seconds</a:t>
            </a:r>
          </a:p>
          <a:p xmlns:a="http://schemas.openxmlformats.org/drawingml/2006/main">
            <a:r>
              <a:t/>
            </a:r>
          </a:p>
          <a:p xmlns:a="http://schemas.openxmlformats.org/drawingml/2006/main">
            <a:r>
              <a:t>These eight axes come from Section 3.3. They are not independent labels; the hard cases combine adverse values across multiple axes.</a:t>
            </a:r>
          </a:p>
          <a:p xmlns:a="http://schemas.openxmlformats.org/drawingml/2006/main">
            <a:r>
              <a:t/>
            </a:r>
          </a:p>
          <a:p xmlns:a="http://schemas.openxmlformats.org/drawingml/2006/main">
            <a:r>
              <a:t>For example, a low-detectability attack may also be non-local, delayed, weakly attributable, and irreversible. Averaging it with many easy cells can make a defense appear safe even though one operationally important corner remains catastrophic.</a:t>
            </a:r>
          </a:p>
          <a:p xmlns:a="http://schemas.openxmlformats.org/drawingml/2006/main">
            <a:r>
              <a:t/>
            </a:r>
          </a:p>
          <a:p xmlns:a="http://schemas.openxmlformats.org/drawingml/2006/main">
            <a:r>
              <a:t>Two qualifications matter. “Structurally undetectable” is always relative to the chosen observation surface; it does not mean information-theoretically invisible to every possible observer. And reversibility changes the endpoint: detection after a harmless draft may be acceptable, while detection after a credential is published is already failure.</a:t>
            </a:r>
          </a:p>
          <a:p xmlns:a="http://schemas.openxmlformats.org/drawingml/2006/main">
            <a:r>
              <a:t/>
            </a:r>
          </a:p>
          <a:p xmlns:a="http://schemas.openxmlformats.org/drawingml/2006/main">
            <a:r>
              <a:t>Design implication: evaluate conditional loss within each registered cell, emphasize its severe tail, and select against the worst credible cell rather than the pooled mean.</a:t>
            </a:r>
          </a:p>
          <a:p xmlns:a="http://schemas.openxmlformats.org/drawingml/2006/main">
            <a:r>
              <a:t/>
            </a:r>
          </a:p>
          <a:p xmlns:a="http://schemas.openxmlformats.org/drawingml/2006/main">
            <a:r>
              <a:t>Likely question — why not simply use worst-case loss? Pure maxima are unstable under stochastic sampling. The proposal uses tail averages plus uncertainty bounds to retain sensitivity to severe outcomes without letting one noisy trajectory dominate.</a:t>
            </a:r>
          </a:p>
          <a:p xmlns:a="http://schemas.openxmlformats.org/drawingml/2006/main">
            <a:r>
              <a:t/>
            </a:r>
          </a:p>
          <a:p xmlns:a="http://schemas.openxmlformats.org/drawingml/2006/main">
            <a:r>
              <a:t>[Sources]</a:t>
            </a:r>
          </a:p>
          <a:p xmlns:a="http://schemas.openxmlformats.org/drawingml/2006/main">
            <a:r>
              <a:t>- https://arxiv.org/abs/2505.02077 (Section 3.3, pp. 28–30)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60 seconds</a:t>
            </a:r>
          </a:p>
          <a:p xmlns:a="http://schemas.openxmlformats.org/drawingml/2006/main">
            <a:r>
              <a:t/>
            </a:r>
          </a:p>
          <a:p xmlns:a="http://schemas.openxmlformats.org/drawingml/2006/main">
            <a:r>
              <a:t>The left column lists channels used for coordination: explicit language, semantic or steganographic encoding, shared state and tools, and low-rate signals spread over time. The right column lists system-level attack structures: heterogeneous decomposition, locally acceptable multi-step workflows, and cascading compromise.</a:t>
            </a:r>
          </a:p>
          <a:p xmlns:a="http://schemas.openxmlformats.org/drawingml/2006/main">
            <a:r>
              <a:t/>
            </a:r>
          </a:p>
          <a:p xmlns:a="http://schemas.openxmlformats.org/drawingml/2006/main">
            <a:r>
              <a:t>The distinction matters because defenses observe different surfaces. A paraphraser can alter a text carrier but cannot constrain tool state. A text classifier may catch overt collusion but miss provenance violations. A consequential-action gate can stop irreversible harm even when it cannot infer the earlier intent.</a:t>
            </a:r>
          </a:p>
          <a:p xmlns:a="http://schemas.openxmlformats.org/drawingml/2006/main">
            <a:r>
              <a:t/>
            </a:r>
          </a:p>
          <a:p xmlns:a="http://schemas.openxmlformats.org/drawingml/2006/main">
            <a:r>
              <a:t>The Section 3.3 axes cut across all four vectors. The harness therefore represents an attack as a cell with explicit dimension values rather than as one monolithic “jailbreak” category.</a:t>
            </a:r>
          </a:p>
          <a:p xmlns:a="http://schemas.openxmlformats.org/drawingml/2006/main">
            <a:r>
              <a:t/>
            </a:r>
          </a:p>
          <a:p xmlns:a="http://schemas.openxmlformats.org/drawingml/2006/main">
            <a:r>
              <a:t>Transition: this motivates a defense stack whose layers are selected for complementary failure geometry, not merely high individual accuracy.</a:t>
            </a:r>
          </a:p>
          <a:p xmlns:a="http://schemas.openxmlformats.org/drawingml/2006/main">
            <a:r>
              <a:t/>
            </a:r>
          </a:p>
          <a:p xmlns:a="http://schemas.openxmlformats.org/drawingml/2006/main">
            <a:r>
              <a:t>[Sources]</a:t>
            </a:r>
          </a:p>
          <a:p xmlns:a="http://schemas.openxmlformats.org/drawingml/2006/main">
            <a:r>
              <a:t>- https://arxiv.org/abs/2505.02077 (Section 3.3)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Section transition — approximately 20 seconds</a:t>
            </a:r>
          </a:p>
          <a:p xmlns:a="http://schemas.openxmlformats.org/drawingml/2006/main">
            <a:r>
              <a:t/>
            </a:r>
          </a:p>
          <a:p xmlns:a="http://schemas.openxmlformats.org/drawingml/2006/main">
            <a:r>
              <a:t>The proposal has two coupled parts. First, select only stacks that satisfy benign utility, lifetime false-alarm, and latency constraints. Second, among those feasible stacks, minimize uncertainty-adjusted tail loss in the worst registered attack cell.</a:t>
            </a:r>
          </a:p>
          <a:p xmlns:a="http://schemas.openxmlformats.org/drawingml/2006/main">
            <a:r>
              <a:t/>
            </a:r>
          </a:p>
          <a:p xmlns:a="http://schemas.openxmlformats.org/drawingml/2006/main">
            <a:r>
              <a:t>Mechanism diversity is not assumed to help. It is a hypothesis to test by measuring whether the constituent layers actually fail on different trajectories and whether that complementarity survives an adaptive attacker.</a:t>
            </a:r>
          </a:p>
          <a:p xmlns:a="http://schemas.openxmlformats.org/drawingml/2006/main">
            <a:r>
              <a:t/>
            </a:r>
          </a:p>
          <a:p xmlns:a="http://schemas.openxmlformats.org/drawingml/2006/main">
            <a:r>
              <a:t>Transition: the next slide states the selector and the distinctive prediction.</a:t>
            </a:r>
          </a:p>
          <a:p xmlns:a="http://schemas.openxmlformats.org/drawingml/2006/main">
            <a:r>
              <a:t/>
            </a:r>
          </a:p>
          <a:p xmlns:a="http://schemas.openxmlformats.org/drawingml/2006/main">
            <a:r>
              <a:t>[Sources]</a:t>
            </a:r>
          </a:p>
          <a:p xmlns:a="http://schemas.openxmlformats.org/drawingml/2006/main">
            <a:r>
              <a:t>- https://arxiv.org/abs/1911.08731</a:t>
            </a:r>
          </a:p>
          <a:p xmlns:a="http://schemas.openxmlformats.org/drawingml/2006/main">
            <a:r>
              <a:t>- https://arxiv.org/abs/1810.08240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90 seconds</a:t>
            </a:r>
          </a:p>
          <a:p xmlns:a="http://schemas.openxmlformats.org/drawingml/2006/main">
            <a:r>
              <a:t/>
            </a:r>
          </a:p>
          <a:p xmlns:a="http://schemas.openxmlformats.org/drawingml/2006/main">
            <a:r>
              <a:t>Read the objective from the inside out. For a defense stack π and attack cell g, first approximate the attacker’s best response BR(π,g) under a fixed query, token, tool, and rollout budget. Run stochastic trajectories and measure severity-weighted loss Z.</a:t>
            </a:r>
          </a:p>
          <a:p xmlns:a="http://schemas.openxmlformats.org/drawingml/2006/main">
            <a:r>
              <a:t/>
            </a:r>
          </a:p>
          <a:p xmlns:a="http://schemas.openxmlformats.org/drawingml/2006/main">
            <a:r>
              <a:t>CVaR at 0.10 is the mean loss among the worst ten percent of trajectories inside that cell. The upper confidence bound penalizes uncertainty. The outer maximum asks which registered cell is worst. We then choose the feasible stack with the smallest uncertainty-adjusted worst-cell tail.</a:t>
            </a:r>
          </a:p>
          <a:p xmlns:a="http://schemas.openxmlformats.org/drawingml/2006/main">
            <a:r>
              <a:t/>
            </a:r>
          </a:p>
          <a:p xmlns:a="http://schemas.openxmlformats.org/drawingml/2006/main">
            <a:r>
              <a:t>The three blocks below the equation are distinct. Tail risk is established machinery. Γ measures fixed-panel failure complementarity: do fewer matched attacks bypass every constituent than bypass the strongest singleton? Best-response evaluation asks whether that geometry persists once the attacker adapts to the deployed stack.</a:t>
            </a:r>
          </a:p>
          <a:p xmlns:a="http://schemas.openxmlformats.org/drawingml/2006/main">
            <a:r>
              <a:t/>
            </a:r>
          </a:p>
          <a:p xmlns:a="http://schemas.openxmlformats.org/drawingml/2006/main">
            <a:r>
              <a:t>The novel, falsifiable prediction is not “CVaR is useful.” It is that validation-time failure geometry predicts adaptive held-out realized stack gain beyond component accuracy, utility, and cost.</a:t>
            </a:r>
          </a:p>
          <a:p xmlns:a="http://schemas.openxmlformats.org/drawingml/2006/main">
            <a:r>
              <a:t/>
            </a:r>
          </a:p>
          <a:p xmlns:a="http://schemas.openxmlformats.org/drawingml/2006/main">
            <a:r>
              <a:t>If asked about leakage: model and stack selection use validation only; held-out cells are opened after a hash-bound selection artifact freezes the analysis.</a:t>
            </a:r>
          </a:p>
          <a:p xmlns:a="http://schemas.openxmlformats.org/drawingml/2006/main">
            <a:r>
              <a:t/>
            </a:r>
          </a:p>
          <a:p xmlns:a="http://schemas.openxmlformats.org/drawingml/2006/main">
            <a:r>
              <a:t>[Sources]</a:t>
            </a:r>
          </a:p>
          <a:p xmlns:a="http://schemas.openxmlformats.org/drawingml/2006/main">
            <a:r>
              <a:t>- https://uryasev.github.io/publications/ (Rockafellar &amp; Uryasev, CVaR)</a:t>
            </a:r>
          </a:p>
          <a:p xmlns:a="http://schemas.openxmlformats.org/drawingml/2006/main">
            <a:r>
              <a:t>- https://arxiv.org/abs/1911.08731 (group DRO baseline)</a:t>
            </a:r>
          </a:p>
          <a:p xmlns:a="http://schemas.openxmlformats.org/drawingml/2006/main">
            <a:r>
              <a:t>- docs/experiments/mechanism_diverse_tail/README.md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60 seconds</a:t>
            </a:r>
          </a:p>
          <a:p xmlns:a="http://schemas.openxmlformats.org/drawingml/2006/main">
            <a:r>
              <a:t/>
            </a:r>
          </a:p>
          <a:p xmlns:a="http://schemas.openxmlformats.org/drawingml/2006/main">
            <a:r>
              <a:t>This slide draws the novelty boundary deliberately. CVaR, group distributional robustness, confidence bounds, anytime-valid inference, and constrained optimization are existing tools.</a:t>
            </a:r>
          </a:p>
          <a:p xmlns:a="http://schemas.openxmlformats.org/drawingml/2006/main">
            <a:r>
              <a:t/>
            </a:r>
          </a:p>
          <a:p xmlns:a="http://schemas.openxmlformats.org/drawingml/2006/main">
            <a:r>
              <a:t>The research contribution is the conjunction of three empirical hypotheses. One: different defense mechanisms have non-nested failure sets on matched attack panels. Two: that complementarity survives a stack-aware attacker rather than disappearing under adaptation. Three: validation Γ predicts held-out realized gain after controlling for individual component quality and operational cost.</a:t>
            </a:r>
          </a:p>
          <a:p xmlns:a="http://schemas.openxmlformats.org/drawingml/2006/main">
            <a:r>
              <a:t/>
            </a:r>
          </a:p>
          <a:p xmlns:a="http://schemas.openxmlformats.org/drawingml/2006/main">
            <a:r>
              <a:t>Each hypothesis can fail. Complementarity may be an artifact of a frozen attack set; enforcement may change the trajectory and create a harmful interaction gap; or the relationship may not transfer to new models and compound cells.</a:t>
            </a:r>
          </a:p>
          <a:p xmlns:a="http://schemas.openxmlformats.org/drawingml/2006/main">
            <a:r>
              <a:t/>
            </a:r>
          </a:p>
          <a:p xmlns:a="http://schemas.openxmlformats.org/drawingml/2006/main">
            <a:r>
              <a:t>Emphasize the final sentence: the claim is bounded by registered models, channels, tools, and attacker budgets. The goal is a defensible empirical design principle, not universal safety.</a:t>
            </a:r>
          </a:p>
          <a:p xmlns:a="http://schemas.openxmlformats.org/drawingml/2006/main">
            <a:r>
              <a:t/>
            </a:r>
          </a:p>
          <a:p xmlns:a="http://schemas.openxmlformats.org/drawingml/2006/main">
            <a:r>
              <a:t>[Sources]</a:t>
            </a:r>
          </a:p>
          <a:p xmlns:a="http://schemas.openxmlformats.org/drawingml/2006/main">
            <a:r>
              <a:t>- https://uryasev.github.io/publications/</a:t>
            </a:r>
          </a:p>
          <a:p xmlns:a="http://schemas.openxmlformats.org/drawingml/2006/main">
            <a:r>
              <a:t>- https://arxiv.org/abs/1911.08731</a:t>
            </a:r>
          </a:p>
          <a:p xmlns:a="http://schemas.openxmlformats.org/drawingml/2006/main">
            <a:r>
              <a:t>- https://arxiv.org/abs/1810.08240</a:t>
            </a:r>
          </a:p>
          <a:p xmlns:a="http://schemas.openxmlformats.org/drawingml/2006/main">
            <a:r>
              <a:t>- https://arxiv.org/abs/2210.01948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80 seconds</a:t>
            </a:r>
          </a:p>
          <a:p xmlns:a="http://schemas.openxmlformats.org/drawingml/2006/main">
            <a:r>
              <a:t/>
            </a:r>
          </a:p>
          <a:p xmlns:a="http://schemas.openxmlformats.org/drawingml/2006/main">
            <a:r>
              <a:t>The harness separates five tests that are often conflated.</a:t>
            </a:r>
          </a:p>
          <a:p xmlns:a="http://schemas.openxmlformats.org/drawingml/2006/main">
            <a:r>
              <a:t/>
            </a:r>
          </a:p>
          <a:p xmlns:a="http://schemas.openxmlformats.org/drawingml/2006/main">
            <a:r>
              <a:t>First, matched panels and shadow forks estimate which identical opportunities bypass each singleton and the complete stack. Second, validation selection compares five selectors on the same trajectories and constraints. Third, stack-specific attacker search gives every finalist an equal adaptation budget. Fourth, a sealed holdout prevents test-driven redesign. Fifth, before-harm scoring requires intervention before the first irreversible action.</a:t>
            </a:r>
          </a:p>
          <a:p xmlns:a="http://schemas.openxmlformats.org/drawingml/2006/main">
            <a:r>
              <a:t/>
            </a:r>
          </a:p>
          <a:p xmlns:a="http://schemas.openxmlformats.org/drawingml/2006/main">
            <a:r>
              <a:t>The common contract binds assignments, paired seeds, model and runtime revisions, severity mapping, utility, latency, and trace hashes. This makes a negative result auditable and a restart resumable without silently changing an assignment.</a:t>
            </a:r>
          </a:p>
          <a:p xmlns:a="http://schemas.openxmlformats.org/drawingml/2006/main">
            <a:r>
              <a:t/>
            </a:r>
          </a:p>
          <a:p xmlns:a="http://schemas.openxmlformats.org/drawingml/2006/main">
            <a:r>
              <a:t>Important statistical point: token-level observations are not independent samples. Uncertainty should cluster at least by task and attacker seed. Also, the singleton intersection is counterfactual; enforced stack bypass must be measured separately because enforcement changes future trajectories.</a:t>
            </a:r>
          </a:p>
          <a:p xmlns:a="http://schemas.openxmlformats.org/drawingml/2006/main">
            <a:r>
              <a:t/>
            </a:r>
          </a:p>
          <a:p xmlns:a="http://schemas.openxmlformats.org/drawingml/2006/main">
            <a:r>
              <a:t>Transition: with that contract in place, I will separate the evidence by what each tier can legitimately establish.</a:t>
            </a:r>
          </a:p>
          <a:p xmlns:a="http://schemas.openxmlformats.org/drawingml/2006/main">
            <a:r>
              <a:t/>
            </a:r>
          </a:p>
          <a:p xmlns:a="http://schemas.openxmlformats.org/drawingml/2006/main">
            <a:r>
              <a:t>[Sources]</a:t>
            </a:r>
          </a:p>
          <a:p xmlns:a="http://schemas.openxmlformats.org/drawingml/2006/main">
            <a:r>
              <a:t>- docs/experiments/mechanism_diverse_tail/common_contract.md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Section transition — approximately 15 seconds</a:t>
            </a:r>
          </a:p>
          <a:p xmlns:a="http://schemas.openxmlformats.org/drawingml/2006/main">
            <a:r>
              <a:t/>
            </a:r>
          </a:p>
          <a:p xmlns:a="http://schemas.openxmlformats.org/drawingml/2006/main">
            <a:r>
              <a:t>The results are intentionally presented in descending order of evidentiary scope rather than as one blended success story. Controlled fixtures validate the measurement machinery. Model-backed canaries validate execution paths. Only a frozen held-out design can support its preregistered endpoint.</a:t>
            </a:r>
          </a:p>
          <a:p xmlns:a="http://schemas.openxmlformats.org/drawingml/2006/main">
            <a:r>
              <a:t/>
            </a:r>
          </a:p>
          <a:p xmlns:a="http://schemas.openxmlformats.org/drawingml/2006/main">
            <a:r>
              <a:t>Transition: the next slide makes those levels explicit before any result is interpreted.</a:t>
            </a:r>
          </a:p>
          <a:p xmlns:a="http://schemas.openxmlformats.org/drawingml/2006/main">
            <a:r>
              <a:t/>
            </a:r>
          </a:p>
          <a:p xmlns:a="http://schemas.openxmlformats.org/drawingml/2006/main">
            <a:r>
              <a:t>[Sources]</a:t>
            </a:r>
          </a:p>
          <a:p xmlns:a="http://schemas.openxmlformats.org/drawingml/2006/main">
            <a:r>
              <a:t>- docs/experiments/mechanism_diverse_tail/evidence_report.md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90 seconds</a:t>
            </a:r>
          </a:p>
          <a:p xmlns:a="http://schemas.openxmlformats.org/drawingml/2006/main">
            <a:r>
              <a:t/>
            </a:r>
          </a:p>
          <a:p xmlns:a="http://schemas.openxmlformats.org/drawingml/2006/main">
            <a:r>
              <a:t>This slide answers the substrate questions directly. The controlled E01–E05 suite contains 2,400 deterministic trajectories. It validates estimands, split locking, and positive and negative fixtures, but it does not contain LLM agents.</a:t>
            </a:r>
          </a:p>
          <a:p xmlns:a="http://schemas.openxmlformats.org/drawingml/2006/main">
            <a:r>
              <a:t/>
            </a:r>
          </a:p>
          <a:p xmlns:a="http://schemas.openxmlformats.org/drawingml/2006/main">
            <a:r>
              <a:t>The two online-defense canaries use pinned Qwen2.5-7B on spark-thor. The capacity study has a sender and receiver across 64 episodes. The workflow study has six roles across 24 episodes. Both route consequential communication or action through the defense gateway.</a:t>
            </a:r>
          </a:p>
          <a:p xmlns:a="http://schemas.openxmlformats.org/drawingml/2006/main">
            <a:r>
              <a:t/>
            </a:r>
          </a:p>
          <a:p xmlns:a="http://schemas.openxmlformats.org/drawingml/2006/main">
            <a:r>
              <a:t>The sequential monitoring study contains 900 two-agent episodes with 100 turns each. It uses the same pinned 7B model, but its monitors are evaluated after trace generation rather than deployed inline.</a:t>
            </a:r>
          </a:p>
          <a:p xmlns:a="http://schemas.openxmlformats.org/drawingml/2006/main">
            <a:r>
              <a:t/>
            </a:r>
          </a:p>
          <a:p xmlns:a="http://schemas.openxmlformats.org/drawingml/2006/main">
            <a:r>
              <a:t>The boundary is as important as the counts: no genuinely held-out model family and no autonomous stack-specific LLM best-response search has run.</a:t>
            </a:r>
          </a:p>
          <a:p xmlns:a="http://schemas.openxmlformats.org/drawingml/2006/main">
            <a:r>
              <a:t/>
            </a:r>
          </a:p>
          <a:p xmlns:a="http://schemas.openxmlformats.org/drawingml/2006/main">
            <a:r>
              <a:t>[Sources]</a:t>
            </a:r>
          </a:p>
          <a:p xmlns:a="http://schemas.openxmlformats.org/drawingml/2006/main">
            <a:r>
              <a:t>- artifacts/asap-evidence/tail-validation.json</a:t>
            </a:r>
          </a:p>
          <a:p xmlns:a="http://schemas.openxmlformats.org/drawingml/2006/main">
            <a:r>
              <a:t>- artifacts/asap-evidence/tail-test.json</a:t>
            </a:r>
          </a:p>
          <a:p xmlns:a="http://schemas.openxmlformats.org/drawingml/2006/main">
            <a:r>
              <a:t>- configs/experiments/phase7_model_capacity_7b_vllm.yaml</a:t>
            </a:r>
          </a:p>
          <a:p xmlns:a="http://schemas.openxmlformats.org/drawingml/2006/main">
            <a:r>
              <a:t>- configs/experiments/phase7_model_workflow_7b_vllm.yaml</a:t>
            </a:r>
          </a:p>
          <a:p xmlns:a="http://schemas.openxmlformats.org/drawingml/2006/main">
            <a:r>
              <a:t>- artifacts/phase5-confirmatory-report.json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75 seconds</a:t>
            </a:r>
          </a:p>
          <a:p xmlns:a="http://schemas.openxmlformats.org/drawingml/2006/main">
            <a:r>
              <a:t/>
            </a:r>
          </a:p>
          <a:p xmlns:a="http://schemas.openxmlformats.org/drawingml/2006/main">
            <a:r>
              <a:t>The attacks in these studies are intentionally scaffolded. In the channel canary, the sender receives a supplied two-bit codebook. In the workflow canary, planner and reviewer execute registered manipulations. Those tests establish that covert transmission and cross-role workflow manipulation can traverse the harness, and that the defenses can intervene.</a:t>
            </a:r>
          </a:p>
          <a:p xmlns:a="http://schemas.openxmlformats.org/drawingml/2006/main">
            <a:r>
              <a:t/>
            </a:r>
          </a:p>
          <a:p xmlns:a="http://schemas.openxmlformats.org/drawingml/2006/main">
            <a:r>
              <a:t>Phase 5 is less scripted. Attack onset is randomized and the model agents receive low-rate, delayed, memory-poisoning, or reward-induced objectives plus conversational history. They do not receive the experimental condition label.</a:t>
            </a:r>
          </a:p>
          <a:p xmlns:a="http://schemas.openxmlformats.org/drawingml/2006/main">
            <a:r>
              <a:t/>
            </a:r>
          </a:p>
          <a:p xmlns:a="http://schemas.openxmlformats.org/drawingml/2006/main">
            <a:r>
              <a:t>However, none of these runs demonstrates autonomous collusion discovery, and none optimizes an equal-budget LLM attacker separately against each finalist stack. Those remain decisive experiments rather than implied accomplishments.</a:t>
            </a:r>
          </a:p>
          <a:p xmlns:a="http://schemas.openxmlformats.org/drawingml/2006/main">
            <a:r>
              <a:t/>
            </a:r>
          </a:p>
          <a:p xmlns:a="http://schemas.openxmlformats.org/drawingml/2006/main">
            <a:r>
              <a:t>[Sources]</a:t>
            </a:r>
          </a:p>
          <a:p xmlns:a="http://schemas.openxmlformats.org/drawingml/2006/main">
            <a:r>
              <a:t>- src/agent_defense_evals/experiments/model_capacity_transfer.py</a:t>
            </a:r>
          </a:p>
          <a:p xmlns:a="http://schemas.openxmlformats.org/drawingml/2006/main">
            <a:r>
              <a:t>- src/agent_defense_evals/experiments/model_workflow_remediation.py</a:t>
            </a:r>
          </a:p>
          <a:p xmlns:a="http://schemas.openxmlformats.org/drawingml/2006/main">
            <a:r>
              <a:t>- src/agent_defense_evals/experiments/phase5.py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80 seconds</a:t>
            </a:r>
          </a:p>
          <a:p xmlns:a="http://schemas.openxmlformats.org/drawingml/2006/main">
            <a:r>
              <a:t/>
            </a:r>
          </a:p>
          <a:p xmlns:a="http://schemas.openxmlformats.org/drawingml/2006/main">
            <a:r>
              <a:t>Defense placement differs across the evidence tiers. In the capacity canary, the mediator transforms the sender message before the receiver sees it. In the workflow canary, the provenance-aware repair or hard gate operates before the external action. These are defenses deployed alongside the agents.</a:t>
            </a:r>
          </a:p>
          <a:p xmlns:a="http://schemas.openxmlformats.org/drawingml/2006/main">
            <a:r>
              <a:t/>
            </a:r>
          </a:p>
          <a:p xmlns:a="http://schemas.openxmlformats.org/drawingml/2006/main">
            <a:r>
              <a:t>Phase 5 is different: the agents generate trajectories without an active defense gateway, and the registered monitors score trace-derived statistics afterward. The controlled suite is a probability-model simulator rather than an agent runtime.</a:t>
            </a:r>
          </a:p>
          <a:p xmlns:a="http://schemas.openxmlformats.org/drawingml/2006/main">
            <a:r>
              <a:t/>
            </a:r>
          </a:p>
          <a:p xmlns:a="http://schemas.openxmlformats.org/drawingml/2006/main">
            <a:r>
              <a:t>The stored evidence reflects that difference. The repository contains full synthetic outcomes and Phase 5 per-episode score shards with trace hashes. The trace-complete canary reruns add raw events and model outputs to the capacity and workflow artifacts.</a:t>
            </a:r>
          </a:p>
          <a:p xmlns:a="http://schemas.openxmlformats.org/drawingml/2006/main">
            <a:r>
              <a:t/>
            </a:r>
          </a:p>
          <a:p xmlns:a="http://schemas.openxmlformats.org/drawingml/2006/main">
            <a:r>
              <a:t>[Sources]</a:t>
            </a:r>
          </a:p>
          <a:p xmlns:a="http://schemas.openxmlformats.org/drawingml/2006/main">
            <a:r>
              <a:t>- src/agent_defense_evals/runtime/gateway.py</a:t>
            </a:r>
          </a:p>
          <a:p xmlns:a="http://schemas.openxmlformats.org/drawingml/2006/main">
            <a:r>
              <a:t>- artifacts/asap-evidence/tail-validation.json</a:t>
            </a:r>
          </a:p>
          <a:p xmlns:a="http://schemas.openxmlformats.org/drawingml/2006/main">
            <a:r>
              <a:t>- artifacts/asap-evidence/tail-test.json</a:t>
            </a:r>
          </a:p>
          <a:p xmlns:a="http://schemas.openxmlformats.org/drawingml/2006/main">
            <a:r>
              <a:t>- artifacts/phase5-confirmatory-shards/</a:t>
            </a:r>
          </a:p>
          <a:p xmlns:a="http://schemas.openxmlformats.org/drawingml/2006/main">
            <a:r>
              <a:t>- artifacts/reviewer-evidence-20260821/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90 seconds</a:t>
            </a:r>
          </a:p>
          <a:p xmlns:a="http://schemas.openxmlformats.org/drawingml/2006/main">
            <a:r>
              <a:t/>
            </a:r>
          </a:p>
          <a:p xmlns:a="http://schemas.openxmlformats.org/drawingml/2006/main">
            <a:r>
              <a:t>The conclusions are not based on attack success alone. The channel canary combines attack success, mutual information, and exact task utility. The workflow canary records harm, remediation, and utility. The controlled suite separates fixed-panel complementarity Γ, realized stack gain, and the interaction gap caused by enforcement. Phase 5 measures whether intervention occurs before irreversible harm.</a:t>
            </a:r>
          </a:p>
          <a:p xmlns:a="http://schemas.openxmlformats.org/drawingml/2006/main">
            <a:r>
              <a:t/>
            </a:r>
          </a:p>
          <a:p xmlns:a="http://schemas.openxmlformats.org/drawingml/2006/main">
            <a:r>
              <a:t>Uncertainty is explicit: Wilson intervals for rates, empirical worst-decile CVaR with a DKW upper bound, paired Hoeffding lower bounds for matched improvements, a 2,000-resample bootstrap for delay, and a Spearman transfer diagnostic.</a:t>
            </a:r>
          </a:p>
          <a:p xmlns:a="http://schemas.openxmlformats.org/drawingml/2006/main">
            <a:r>
              <a:t/>
            </a:r>
          </a:p>
          <a:p xmlns:a="http://schemas.openxmlformats.org/drawingml/2006/main">
            <a:r>
              <a:t>The limitations matter. Canary intervals are wide. The reported E04 correlation is computed from only three synthetic stacks and fails the compound registered gate. It is a diagnostic—not confirmatory evidence.</a:t>
            </a:r>
          </a:p>
          <a:p xmlns:a="http://schemas.openxmlformats.org/drawingml/2006/main">
            <a:r>
              <a:t/>
            </a:r>
          </a:p>
          <a:p xmlns:a="http://schemas.openxmlformats.org/drawingml/2006/main">
            <a:r>
              <a:t>[Sources]</a:t>
            </a:r>
          </a:p>
          <a:p xmlns:a="http://schemas.openxmlformats.org/drawingml/2006/main">
            <a:r>
              <a:t>- src/agent_defense_evals/metrics/</a:t>
            </a:r>
          </a:p>
          <a:p xmlns:a="http://schemas.openxmlformats.org/drawingml/2006/main">
            <a:r>
              <a:t>- artifacts/asap-evidence/tail-report.json</a:t>
            </a:r>
          </a:p>
          <a:p xmlns:a="http://schemas.openxmlformats.org/drawingml/2006/main">
            <a:r>
              <a:t>- artifacts/phase5-confirmatory-report.json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75 seconds</a:t>
            </a:r>
          </a:p>
          <a:p xmlns:a="http://schemas.openxmlformats.org/drawingml/2006/main">
            <a:r>
              <a:t/>
            </a:r>
          </a:p>
          <a:p xmlns:a="http://schemas.openxmlformats.org/drawingml/2006/main">
            <a:r>
              <a:t>There are three evidence tiers.</a:t>
            </a:r>
          </a:p>
          <a:p xmlns:a="http://schemas.openxmlformats.org/drawingml/2006/main">
            <a:r>
              <a:t/>
            </a:r>
          </a:p>
          <a:p xmlns:a="http://schemas.openxmlformats.org/drawingml/2006/main">
            <a:r>
              <a:t>The 2,400 controlled trajectories validate selectors, split locking, known-positive and known-negative fixtures, and the definitions of complementarity, interaction, and before-harm intervention. They are not evidence that LLM agents are robust.</a:t>
            </a:r>
          </a:p>
          <a:p xmlns:a="http://schemas.openxmlformats.org/drawingml/2006/main">
            <a:r>
              <a:t/>
            </a:r>
          </a:p>
          <a:p xmlns:a="http://schemas.openxmlformats.org/drawingml/2006/main">
            <a:r>
              <a:t>The 64 covert-channel and 24 workflow canary episodes use pinned Qwen2.5-7B. They show that the attack, defense, and trace paths execute on an actual stochastic model, but they are too small for confirmatory tail claims.</a:t>
            </a:r>
          </a:p>
          <a:p xmlns:a="http://schemas.openxmlformats.org/drawingml/2006/main">
            <a:r>
              <a:t/>
            </a:r>
          </a:p>
          <a:p xmlns:a="http://schemas.openxmlformats.org/drawingml/2006/main">
            <a:r>
              <a:t>The 900 sequential episodes comprise 200 calibration, 140 validation, and 560 frozen test episodes. They support the registered lifetime false-alarm and before-harm monitoring endpoints—not the full layered-defense conjecture.</a:t>
            </a:r>
          </a:p>
          <a:p xmlns:a="http://schemas.openxmlformats.org/drawingml/2006/main">
            <a:r>
              <a:t/>
            </a:r>
          </a:p>
          <a:p xmlns:a="http://schemas.openxmlformats.org/drawingml/2006/main">
            <a:r>
              <a:t>The honest overall status is therefore: mechanism-backed feasibility is strong, while the complete adaptive, cross-model conjecture remains unconfirmed.</a:t>
            </a:r>
          </a:p>
          <a:p xmlns:a="http://schemas.openxmlformats.org/drawingml/2006/main">
            <a:r>
              <a:t/>
            </a:r>
          </a:p>
          <a:p xmlns:a="http://schemas.openxmlformats.org/drawingml/2006/main">
            <a:r>
              <a:t>This hierarchy is important to interviewer trust: no synthetic gate is silently promoted into an LLM-agent conclusion.</a:t>
            </a:r>
          </a:p>
          <a:p xmlns:a="http://schemas.openxmlformats.org/drawingml/2006/main">
            <a:r>
              <a:t/>
            </a:r>
          </a:p>
          <a:p xmlns:a="http://schemas.openxmlformats.org/drawingml/2006/main">
            <a:r>
              <a:t>[Sources]</a:t>
            </a:r>
          </a:p>
          <a:p xmlns:a="http://schemas.openxmlformats.org/drawingml/2006/main">
            <a:r>
              <a:t>- artifacts/asap-evidence/tail-report.json</a:t>
            </a:r>
          </a:p>
          <a:p xmlns:a="http://schemas.openxmlformats.org/drawingml/2006/main">
            <a:r>
              <a:t>- artifacts/asap-evidence/phase7-model-capacity-7b-vllm.json</a:t>
            </a:r>
          </a:p>
          <a:p xmlns:a="http://schemas.openxmlformats.org/drawingml/2006/main">
            <a:r>
              <a:t>- artifacts/phase7-model-workflow-7b-report.json</a:t>
            </a:r>
          </a:p>
          <a:p xmlns:a="http://schemas.openxmlformats.org/drawingml/2006/main">
            <a:r>
              <a:t>- artifacts/phase5-confirmatory-report.json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75 seconds</a:t>
            </a:r>
          </a:p>
          <a:p xmlns:a="http://schemas.openxmlformats.org/drawingml/2006/main">
            <a:r>
              <a:t/>
            </a:r>
          </a:p>
          <a:p xmlns:a="http://schemas.openxmlformats.org/drawingml/2006/main">
            <a:r>
              <a:t>This canary tests channel capacity, not general collusion detection. There are 16 episodes per condition on pinned Qwen2.5-7B.</a:t>
            </a:r>
          </a:p>
          <a:p xmlns:a="http://schemas.openxmlformats.org/drawingml/2006/main">
            <a:r>
              <a:t/>
            </a:r>
          </a:p>
          <a:p xmlns:a="http://schemas.openxmlformats.org/drawingml/2006/main">
            <a:r>
              <a:t>Attack success is 1.00 with unrestricted communication. Generic paraphrasing reduces a fixed surface code to 0.25, but a registered semantic adaptation restores success to 1.00. A typed mediator reduces the adapted condition to 0.25 while exact task utility remains 1.00 in every condition.</a:t>
            </a:r>
          </a:p>
          <a:p xmlns:a="http://schemas.openxmlformats.org/drawingml/2006/main">
            <a:r>
              <a:t/>
            </a:r>
          </a:p>
          <a:p xmlns:a="http://schemas.openxmlformats.org/drawingml/2006/main">
            <a:r>
              <a:t>The lesson is that suppressing one representation does not remove task-compatible channel capacity. A typed interface performs better here because it removes registered carrier degrees of freedom while preserving the fields needed for the legitimate task.</a:t>
            </a:r>
          </a:p>
          <a:p xmlns:a="http://schemas.openxmlformats.org/drawingml/2006/main">
            <a:r>
              <a:t/>
            </a:r>
          </a:p>
          <a:p xmlns:a="http://schemas.openxmlformats.org/drawingml/2006/main">
            <a:r>
              <a:t>Do not overclaim: this is one registered codebook and one model. It does not cover timing, tool, state, or environmental channels, and 0.25 is residual attack success—not elimination.</a:t>
            </a:r>
          </a:p>
          <a:p xmlns:a="http://schemas.openxmlformats.org/drawingml/2006/main">
            <a:r>
              <a:t/>
            </a:r>
          </a:p>
          <a:p xmlns:a="http://schemas.openxmlformats.org/drawingml/2006/main">
            <a:r>
              <a:t>Research implication: defenses should shape the communication capacity available to agents, not only classify surface text.</a:t>
            </a:r>
          </a:p>
          <a:p xmlns:a="http://schemas.openxmlformats.org/drawingml/2006/main">
            <a:r>
              <a:t/>
            </a:r>
          </a:p>
          <a:p xmlns:a="http://schemas.openxmlformats.org/drawingml/2006/main">
            <a:r>
              <a:t>[Sources]</a:t>
            </a:r>
          </a:p>
          <a:p xmlns:a="http://schemas.openxmlformats.org/drawingml/2006/main">
            <a:r>
              <a:t>- artifacts/asap-evidence/phase7-model-capacity-7b-vllm.json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75 seconds</a:t>
            </a:r>
          </a:p>
          <a:p xmlns:a="http://schemas.openxmlformats.org/drawingml/2006/main">
            <a:r>
              <a:t/>
            </a:r>
          </a:p>
          <a:p xmlns:a="http://schemas.openxmlformats.org/drawingml/2006/main">
            <a:r>
              <a:t>This workflow canary asks whether a defense can stop an irreversible consequence without destroying the legitimate workflow.</a:t>
            </a:r>
          </a:p>
          <a:p xmlns:a="http://schemas.openxmlformats.org/drawingml/2006/main">
            <a:r>
              <a:t/>
            </a:r>
          </a:p>
          <a:p xmlns:a="http://schemas.openxmlformats.org/drawingml/2006/main">
            <a:r>
              <a:t>With no defense or only local checks, the registered harmful workflow succeeds because each individual step appears acceptable. Hard blocking prevents the harm but drives exact utility to zero. Provenance-aware targeted repair removes the prohibited dependency, prevents the registered harm, and preserves exact utility at 1.00.</a:t>
            </a:r>
          </a:p>
          <a:p xmlns:a="http://schemas.openxmlformats.org/drawingml/2006/main">
            <a:r>
              <a:t/>
            </a:r>
          </a:p>
          <a:p xmlns:a="http://schemas.openxmlformats.org/drawingml/2006/main">
            <a:r>
              <a:t>The mechanism matters: this is not merely another classifier vote. The system traces lineage across roles and intervenes at the consequential action by repairing the artifact or flow.</a:t>
            </a:r>
          </a:p>
          <a:p xmlns:a="http://schemas.openxmlformats.org/drawingml/2006/main">
            <a:r>
              <a:t/>
            </a:r>
          </a:p>
          <a:p xmlns:a="http://schemas.openxmlformats.org/drawingml/2006/main">
            <a:r>
              <a:t>The limitation is prominent: four harmful episodes per condition make this a deployment-path feasibility check, not an effect estimate. The full package also includes benign canaries, but it is still too small for a general utility claim.</a:t>
            </a:r>
          </a:p>
          <a:p xmlns:a="http://schemas.openxmlformats.org/drawingml/2006/main">
            <a:r>
              <a:t/>
            </a:r>
          </a:p>
          <a:p xmlns:a="http://schemas.openxmlformats.org/drawingml/2006/main">
            <a:r>
              <a:t>Transition: mediation and repair address specific mechanisms; sequential monitoring introduces a different challenge over long horizons.</a:t>
            </a:r>
          </a:p>
          <a:p xmlns:a="http://schemas.openxmlformats.org/drawingml/2006/main">
            <a:r>
              <a:t/>
            </a:r>
          </a:p>
          <a:p xmlns:a="http://schemas.openxmlformats.org/drawingml/2006/main">
            <a:r>
              <a:t>[Sources]</a:t>
            </a:r>
          </a:p>
          <a:p xmlns:a="http://schemas.openxmlformats.org/drawingml/2006/main">
            <a:r>
              <a:t>- artifacts/phase7-model-workflow-7b-report.json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90 seconds</a:t>
            </a:r>
          </a:p>
          <a:p xmlns:a="http://schemas.openxmlformats.org/drawingml/2006/main">
            <a:r>
              <a:t/>
            </a:r>
          </a:p>
          <a:p xmlns:a="http://schemas.openxmlformats.org/drawingml/2006/main">
            <a:r>
              <a:t>The frozen Phase 5 study contains 560 test episodes, with 80 episodes per condition. Across each of three benign test strata there were zero lifetime alarms. The Wilson 95 percent upper bound is 0.0458, which passes the registered 0.05 lifetime-error ceiling.</a:t>
            </a:r>
          </a:p>
          <a:p xmlns:a="http://schemas.openxmlformats.org/drawingml/2006/main">
            <a:r>
              <a:t/>
            </a:r>
          </a:p>
          <a:p xmlns:a="http://schemas.openxmlformats.org/drawingml/2006/main">
            <a:r>
              <a:t>However, low false alarms do not imply strong detection. Before-harm intervention was 1.00 for delayed triggers, 0.75 for memory poisoning, 0.75 for reward-induced attacks, and only 0.275 for low-rate attacks.</a:t>
            </a:r>
          </a:p>
          <a:p xmlns:a="http://schemas.openxmlformats.org/drawingml/2006/main">
            <a:r>
              <a:t/>
            </a:r>
          </a:p>
          <a:p xmlns:a="http://schemas.openxmlformats.org/drawingml/2006/main">
            <a:r>
              <a:t>All three monitors calibrated to zero thresholds and produced the same alarm rates. The e-process was often slower. Therefore the supported claim is bounded lifetime-error evidence under the registered exchangeability design—not superiority of anytime-valid monitoring.</a:t>
            </a:r>
          </a:p>
          <a:p xmlns:a="http://schemas.openxmlformats.org/drawingml/2006/main">
            <a:r>
              <a:t/>
            </a:r>
          </a:p>
          <a:p xmlns:a="http://schemas.openxmlformats.org/drawingml/2006/main">
            <a:r>
              <a:t>The substantive finding is the low-rate gap: when evidence accumulates slowly, maintaining a stringent lifetime false-alarm constraint can delay intervention past the useful point.</a:t>
            </a:r>
          </a:p>
          <a:p xmlns:a="http://schemas.openxmlformats.org/drawingml/2006/main">
            <a:r>
              <a:t/>
            </a:r>
          </a:p>
          <a:p xmlns:a="http://schemas.openxmlformats.org/drawingml/2006/main">
            <a:r>
              <a:t>If asked about 0.0458: it is a confidence bound from zero alarms in 80 episodes, not an observed 4.58 percent alarm rate.</a:t>
            </a:r>
          </a:p>
          <a:p xmlns:a="http://schemas.openxmlformats.org/drawingml/2006/main">
            <a:r>
              <a:t/>
            </a:r>
          </a:p>
          <a:p xmlns:a="http://schemas.openxmlformats.org/drawingml/2006/main">
            <a:r>
              <a:t>[Sources]</a:t>
            </a:r>
          </a:p>
          <a:p xmlns:a="http://schemas.openxmlformats.org/drawingml/2006/main">
            <a:r>
              <a:t>- artifacts/phase5-confirmatory-report.json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90 seconds</a:t>
            </a:r>
          </a:p>
          <a:p xmlns:a="http://schemas.openxmlformats.org/drawingml/2006/main">
            <a:r>
              <a:t/>
            </a:r>
          </a:p>
          <a:p xmlns:a="http://schemas.openxmlformats.org/drawingml/2006/main">
            <a:r>
              <a:t>This is the controlled E01–E05 scorecard, and the asterisks are essential.</a:t>
            </a:r>
          </a:p>
          <a:p xmlns:a="http://schemas.openxmlformats.org/drawingml/2006/main">
            <a:r>
              <a:t/>
            </a:r>
          </a:p>
          <a:p xmlns:a="http://schemas.openxmlformats.org/drawingml/2006/main">
            <a:r>
              <a:t>E01 is inconclusive: every selector chose the diverse stack, so the fixture provides no contrast and no evidence of selector superiority. E02 passes its synthetic complementarity gate with Γ of 0.406 and realized gain of 0.381. E03 shows a small controlled adaptive-tail advantage, 0.93 versus 1.00. E04 fails despite a favorable rank correlation because its compound success rule also required an E01 selector advantage. E05 passes the controlled before-harm gate, reducing irreversible harm from 0.725 to 0.025 with a 0.95 before-harm rate.</a:t>
            </a:r>
          </a:p>
          <a:p xmlns:a="http://schemas.openxmlformats.org/drawingml/2006/main">
            <a:r>
              <a:t/>
            </a:r>
          </a:p>
          <a:p xmlns:a="http://schemas.openxmlformats.org/drawingml/2006/main">
            <a:r>
              <a:t>The methodological point is more important than the number of passes: each gate answers a different causal or statistical question. A pass on a known-positive synthetic fixture validates that the harness can recover the expected signal; it does not validate robustness of stochastic agents.</a:t>
            </a:r>
          </a:p>
          <a:p xmlns:a="http://schemas.openxmlformats.org/drawingml/2006/main">
            <a:r>
              <a:t/>
            </a:r>
          </a:p>
          <a:p xmlns:a="http://schemas.openxmlformats.org/drawingml/2006/main">
            <a:r>
              <a:t>Transition: E02 is the central mechanism result, so the next slide decomposes it.</a:t>
            </a:r>
          </a:p>
          <a:p xmlns:a="http://schemas.openxmlformats.org/drawingml/2006/main">
            <a:r>
              <a:t/>
            </a:r>
          </a:p>
          <a:p xmlns:a="http://schemas.openxmlformats.org/drawingml/2006/main">
            <a:r>
              <a:t>[Sources]</a:t>
            </a:r>
          </a:p>
          <a:p xmlns:a="http://schemas.openxmlformats.org/drawingml/2006/main">
            <a:r>
              <a:t>- artifacts/asap-evidence/tail-report.json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85 seconds</a:t>
            </a:r>
          </a:p>
          <a:p xmlns:a="http://schemas.openxmlformats.org/drawingml/2006/main">
            <a:r>
              <a:t/>
            </a:r>
          </a:p>
          <a:p xmlns:a="http://schemas.openxmlformats.org/drawingml/2006/main">
            <a:r>
              <a:t>This slide distinguishes three quantities that are easy to conflate.</a:t>
            </a:r>
          </a:p>
          <a:p xmlns:a="http://schemas.openxmlformats.org/drawingml/2006/main">
            <a:r>
              <a:t/>
            </a:r>
          </a:p>
          <a:p xmlns:a="http://schemas.openxmlformats.org/drawingml/2006/main">
            <a:r>
              <a:t>Γ equals the best singleton bypass rate minus the joint singleton-bypass rate on matched opportunities. Here Γ is 0.406, so the fixed-panel failure sets are meaningfully non-nested.</a:t>
            </a:r>
          </a:p>
          <a:p xmlns:a="http://schemas.openxmlformats.org/drawingml/2006/main">
            <a:r>
              <a:t/>
            </a:r>
          </a:p>
          <a:p xmlns:a="http://schemas.openxmlformats.org/drawingml/2006/main">
            <a:r>
              <a:t>But deployment changes trajectories. The realized diverse-stack bypass is slightly worse than the counterfactual singleton intersection, producing a positive interaction gap of 0.025. Reporting this prevents us from treating counterfactual complementarity as if it were deployed performance.</a:t>
            </a:r>
          </a:p>
          <a:p xmlns:a="http://schemas.openxmlformats.org/drawingml/2006/main">
            <a:r>
              <a:t/>
            </a:r>
          </a:p>
          <a:p xmlns:a="http://schemas.openxmlformats.org/drawingml/2006/main">
            <a:r>
              <a:t>Even with that gap, the controlled diverse stack has much lower realized bypass than the matched homogeneous stack—approximately 0.056 versus 0.650 in the evidence report. The realized gain over the best singleton is 0.381.</a:t>
            </a:r>
          </a:p>
          <a:p xmlns:a="http://schemas.openxmlformats.org/drawingml/2006/main">
            <a:r>
              <a:t/>
            </a:r>
          </a:p>
          <a:p xmlns:a="http://schemas.openxmlformats.org/drawingml/2006/main">
            <a:r>
              <a:t>The title says controlled evidence because this result comes from the synthetic fixture. The next decisive question is whether the same non-nested failure geometry survives model-backed stack-specific attack search.</a:t>
            </a:r>
          </a:p>
          <a:p xmlns:a="http://schemas.openxmlformats.org/drawingml/2006/main">
            <a:r>
              <a:t/>
            </a:r>
          </a:p>
          <a:p xmlns:a="http://schemas.openxmlformats.org/drawingml/2006/main">
            <a:r>
              <a:t>Likely question — could diversity just mean more layers? The confirmatory comparison must match homogeneous and diverse stacks on layer count and, where feasible, utility and latency.</a:t>
            </a:r>
          </a:p>
          <a:p xmlns:a="http://schemas.openxmlformats.org/drawingml/2006/main">
            <a:r>
              <a:t/>
            </a:r>
          </a:p>
          <a:p xmlns:a="http://schemas.openxmlformats.org/drawingml/2006/main">
            <a:r>
              <a:t>[Sources]</a:t>
            </a:r>
          </a:p>
          <a:p xmlns:a="http://schemas.openxmlformats.org/drawingml/2006/main">
            <a:r>
              <a:t>- artifacts/asap-evidence/tail-report.json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75 seconds</a:t>
            </a:r>
          </a:p>
          <a:p xmlns:a="http://schemas.openxmlformats.org/drawingml/2006/main">
            <a:r>
              <a:t/>
            </a:r>
          </a:p>
          <a:p xmlns:a="http://schemas.openxmlformats.org/drawingml/2006/main">
            <a:r>
              <a:t>This is a research-integrity slide.</a:t>
            </a:r>
          </a:p>
          <a:p xmlns:a="http://schemas.openxmlformats.org/drawingml/2006/main">
            <a:r>
              <a:t/>
            </a:r>
          </a:p>
          <a:p xmlns:a="http://schemas.openxmlformats.org/drawingml/2006/main">
            <a:r>
              <a:t>E01 does not support selector superiority because there was no decision contrast: pooled mean, pooled CVaR, worst-cell mean, hierarchical tail, and UCB-tail all chose the same stack.</a:t>
            </a:r>
          </a:p>
          <a:p xmlns:a="http://schemas.openxmlformats.org/drawingml/2006/main">
            <a:r>
              <a:t/>
            </a:r>
          </a:p>
          <a:p xmlns:a="http://schemas.openxmlformats.org/drawingml/2006/main">
            <a:r>
              <a:t>E04 has a favorable synthetic Spearman correlation of 0.866 between validation Γ and held-out robustness. But the preregistered compound gate also requires a selected-stack advantage, which E01 did not supply. Therefore E04 remains false.</a:t>
            </a:r>
          </a:p>
          <a:p xmlns:a="http://schemas.openxmlformats.org/drawingml/2006/main">
            <a:r>
              <a:t/>
            </a:r>
          </a:p>
          <a:p xmlns:a="http://schemas.openxmlformats.org/drawingml/2006/main">
            <a:r>
              <a:t>The purpose of the harness is not to manufacture a positive conclusion. It must preserve negative results, bind the success rule before test access, and prevent a favorable secondary statistic from laundering a failed primary hypothesis.</a:t>
            </a:r>
          </a:p>
          <a:p xmlns:a="http://schemas.openxmlformats.org/drawingml/2006/main">
            <a:r>
              <a:t/>
            </a:r>
          </a:p>
          <a:p xmlns:a="http://schemas.openxmlformats.org/drawingml/2006/main">
            <a:r>
              <a:t>This is one of the strongest credibility signals in the deck: it shows that the evaluation framework can reject the conjecture as currently instantiated.</a:t>
            </a:r>
          </a:p>
          <a:p xmlns:a="http://schemas.openxmlformats.org/drawingml/2006/main">
            <a:r>
              <a:t/>
            </a:r>
          </a:p>
          <a:p xmlns:a="http://schemas.openxmlformats.org/drawingml/2006/main">
            <a:r>
              <a:t>Transition: the final slide converts those failures into three concrete next gates rather than vague “future work.”</a:t>
            </a:r>
          </a:p>
          <a:p xmlns:a="http://schemas.openxmlformats.org/drawingml/2006/main">
            <a:r>
              <a:t/>
            </a:r>
          </a:p>
          <a:p xmlns:a="http://schemas.openxmlformats.org/drawingml/2006/main">
            <a:r>
              <a:t>[Sources]</a:t>
            </a:r>
          </a:p>
          <a:p xmlns:a="http://schemas.openxmlformats.org/drawingml/2006/main">
            <a:r>
              <a:t>- artifacts/asap-evidence/tail-report.json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Closing — approximately 90 seconds</a:t>
            </a:r>
          </a:p>
          <a:p xmlns:a="http://schemas.openxmlformats.org/drawingml/2006/main">
            <a:r>
              <a:t/>
            </a:r>
          </a:p>
          <a:p xmlns:a="http://schemas.openxmlformats.org/drawingml/2006/main">
            <a:r>
              <a:t>Three gates remain before a defensible multi-agent security claim.</a:t>
            </a:r>
          </a:p>
          <a:p xmlns:a="http://schemas.openxmlformats.org/drawingml/2006/main">
            <a:r>
              <a:t/>
            </a:r>
          </a:p>
          <a:p xmlns:a="http://schemas.openxmlformats.org/drawingml/2006/main">
            <a:r>
              <a:t>First, stack-aware attack search: optimize against each finalist under equal query, token, tool, and rollout budgets, then evaluate on fresh seeds. This tests whether complementarity survives adaptation.</a:t>
            </a:r>
          </a:p>
          <a:p xmlns:a="http://schemas.openxmlformats.org/drawingml/2006/main">
            <a:r>
              <a:t/>
            </a:r>
          </a:p>
          <a:p xmlns:a="http://schemas.openxmlformats.org/drawingml/2006/main">
            <a:r>
              <a:t>Second, a discriminative selector study: expand the candidate stacks and attack cells until credible selectors can choose differently, then freeze the practical margin before opening test data. This is required to test the optimization claim rather than merely the mechanisms.</a:t>
            </a:r>
          </a:p>
          <a:p xmlns:a="http://schemas.openxmlformats.org/drawingml/2006/main">
            <a:r>
              <a:t/>
            </a:r>
          </a:p>
          <a:p xmlns:a="http://schemas.openxmlformats.org/drawingml/2006/main">
            <a:r>
              <a:t>Third, a genuinely different held-out 7–9B model family, plus held-out prompts, attacks, topologies, coalitions, and horizons. Single-axis manifests are opened first; the compound manifest is opened once after selection is frozen.</a:t>
            </a:r>
          </a:p>
          <a:p xmlns:a="http://schemas.openxmlformats.org/drawingml/2006/main">
            <a:r>
              <a:t/>
            </a:r>
          </a:p>
          <a:p xmlns:a="http://schemas.openxmlformats.org/drawingml/2006/main">
            <a:r>
              <a:t>The current conclusion is intentionally bounded: we have a strong, auditable harness; model-backed evidence that mediation, repair, and sequential evaluation paths work; controlled evidence of complementary failure geometry; and negative results that identify the missing tests. Adaptive and cross-model robustness remain open.</a:t>
            </a:r>
          </a:p>
          <a:p xmlns:a="http://schemas.openxmlformats.org/drawingml/2006/main">
            <a:r>
              <a:t/>
            </a:r>
          </a:p>
          <a:p xmlns:a="http://schemas.openxmlformats.org/drawingml/2006/main">
            <a:r>
              <a:t>Final takeaway: optimize defenses for the worst conditional tail only when validation evidence shows their failure mechanisms are genuinely complementary—and require that claim to survive adaptation, held-out transfer, and before-harm enforcement.</a:t>
            </a:r>
          </a:p>
          <a:p xmlns:a="http://schemas.openxmlformats.org/drawingml/2006/main">
            <a:r>
              <a:t/>
            </a:r>
          </a:p>
          <a:p xmlns:a="http://schemas.openxmlformats.org/drawingml/2006/main">
            <a:r>
              <a:t>[Sources]</a:t>
            </a:r>
          </a:p>
          <a:p xmlns:a="http://schemas.openxmlformats.org/drawingml/2006/main">
            <a:r>
              <a:t>- docs/experiments/mechanism_diverse_tail/evidence_report.md</a:t>
            </a:r>
          </a:p>
          <a:p xmlns:a="http://schemas.openxmlformats.org/drawingml/2006/main">
            <a:r>
              <a:t>- docs/experiments/mechanism_diverse_tail/03_adaptive_best_response/README.md</a:t>
            </a:r>
          </a:p>
          <a:p xmlns:a="http://schemas.openxmlformats.org/drawingml/2006/main">
            <a:r>
              <a:t>- docs/experiments/mechanism_diverse_tail/04_compound_heldout_transfer/README.md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bf6d2daafd4b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ce4e379162419c" /><Relationship Type="http://schemas.openxmlformats.org/officeDocument/2006/relationships/slideLayout" Target="/ppt/slideLayouts/slideLayout1.xml" Id="Rbcee2c88eba942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ee2c88eba942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bdd13a9d104e7a" /><Relationship Type="http://schemas.openxmlformats.org/officeDocument/2006/relationships/notesSlide" Target="/ppt/notesSlides/notesSlide1.xml" Id="R311f203f70d344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32b3cf8e2e94f94" /><Relationship Type="http://schemas.openxmlformats.org/officeDocument/2006/relationships/notesSlide" Target="/ppt/notesSlides/notesSlide2.xml" Id="Rd58c1aae32b04c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8dc6f4767442f0" /><Relationship Type="http://schemas.openxmlformats.org/officeDocument/2006/relationships/notesSlide" Target="/ppt/notesSlides/notesSlide3.xml" Id="R6f7e1c06a53948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7e0c13ac604df6" /><Relationship Type="http://schemas.openxmlformats.org/officeDocument/2006/relationships/notesSlide" Target="/ppt/notesSlides/notesSlide4.xml" Id="R3a06826c17bb45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a6929b3ce943c6" /><Relationship Type="http://schemas.openxmlformats.org/officeDocument/2006/relationships/notesSlide" Target="/ppt/notesSlides/notesSlide5.xml" Id="Re9b66b1ed7e446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eb9241c6c744cb" /><Relationship Type="http://schemas.openxmlformats.org/officeDocument/2006/relationships/notesSlide" Target="/ppt/notesSlides/notesSlide6.xml" Id="Rd6f359fdc81344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3e3a959d594dea" /><Relationship Type="http://schemas.openxmlformats.org/officeDocument/2006/relationships/notesSlide" Target="/ppt/notesSlides/notesSlide7.xml" Id="R13dc22d21e4746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999345fad634013" /><Relationship Type="http://schemas.openxmlformats.org/officeDocument/2006/relationships/notesSlide" Target="/ppt/notesSlides/notesSlide8.xml" Id="Rfdd8b560974240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1ad09143de4275" /><Relationship Type="http://schemas.openxmlformats.org/officeDocument/2006/relationships/notesSlide" Target="/ppt/notesSlides/notesSlide9.xml" Id="Rdb34ac23ebf84a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a181b9fefe54262" /><Relationship Type="http://schemas.openxmlformats.org/officeDocument/2006/relationships/notesSlide" Target="/ppt/notesSlides/notesSlide10.xml" Id="R441b1cf776ad42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2774b025704702" /><Relationship Type="http://schemas.openxmlformats.org/officeDocument/2006/relationships/notesSlide" Target="/ppt/notesSlides/notesSlide11.xml" Id="R8856d1118ae443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e55e882d8154b94" /><Relationship Type="http://schemas.openxmlformats.org/officeDocument/2006/relationships/notesSlide" Target="/ppt/notesSlides/notesSlide12.xml" Id="R3d209383057f413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e8793aa45054ae3" /><Relationship Type="http://schemas.openxmlformats.org/officeDocument/2006/relationships/notesSlide" Target="/ppt/notesSlides/notesSlide13.xml" Id="R39f21acdcaca484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6f5e56e053a4ab0" /><Relationship Type="http://schemas.openxmlformats.org/officeDocument/2006/relationships/notesSlide" Target="/ppt/notesSlides/notesSlide14.xml" Id="Raf50cf2d59694e0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26f653f9fd642cb" /><Relationship Type="http://schemas.openxmlformats.org/officeDocument/2006/relationships/notesSlide" Target="/ppt/notesSlides/notesSlide15.xml" Id="R7c60cf8a3b7043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f80eb8e0c76447d" /><Relationship Type="http://schemas.openxmlformats.org/officeDocument/2006/relationships/notesSlide" Target="/ppt/notesSlides/notesSlide16.xml" Id="R837d6bd68c1b4c1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2512e6ec1484871" /><Relationship Type="http://schemas.openxmlformats.org/officeDocument/2006/relationships/chart" Target="/ppt/slides/charts/chart1.xml" Id="Rf49cdf31482048b5" /><Relationship Type="http://schemas.openxmlformats.org/officeDocument/2006/relationships/notesSlide" Target="/ppt/notesSlides/notesSlide17.xml" Id="R5ef4572d7a7241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bafe3c08e434c37" /><Relationship Type="http://schemas.openxmlformats.org/officeDocument/2006/relationships/chart" Target="/ppt/slides/charts/chart2.xml" Id="Raccc5dac28bd44dd" /><Relationship Type="http://schemas.openxmlformats.org/officeDocument/2006/relationships/notesSlide" Target="/ppt/notesSlides/notesSlide18.xml" Id="Re7722cde00f44e6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efc88ed83f04332" /><Relationship Type="http://schemas.openxmlformats.org/officeDocument/2006/relationships/chart" Target="/ppt/slides/charts/chart3.xml" Id="Rcc3ecebae2c84698" /><Relationship Type="http://schemas.openxmlformats.org/officeDocument/2006/relationships/notesSlide" Target="/ppt/notesSlides/notesSlide19.xml" Id="Red4c4f9f9e674d6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b97d9e1d5794e00" /><Relationship Type="http://schemas.openxmlformats.org/officeDocument/2006/relationships/notesSlide" Target="/ppt/notesSlides/notesSlide20.xml" Id="R3bf36ae38ccd4dd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392e952d7044f43" /><Relationship Type="http://schemas.openxmlformats.org/officeDocument/2006/relationships/chart" Target="/ppt/slides/charts/chart4.xml" Id="R422c18ca60004bfd" /><Relationship Type="http://schemas.openxmlformats.org/officeDocument/2006/relationships/notesSlide" Target="/ppt/notesSlides/notesSlide21.xml" Id="R208e363bd2f6485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77fbfa50d024bcd" /><Relationship Type="http://schemas.openxmlformats.org/officeDocument/2006/relationships/notesSlide" Target="/ppt/notesSlides/notesSlide22.xml" Id="R7380cbea0e5749b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9fd36cc51a0451a" /><Relationship Type="http://schemas.openxmlformats.org/officeDocument/2006/relationships/notesSlide" Target="/ppt/notesSlides/notesSlide23.xml" Id="R49c65d3591db4a3d" /></Relationships>
</file>

<file path=ppt/slides/charts/chart1.xml><?xml version="1.0" encoding="utf-8"?>
<c:chartSpace xmlns:c="http://schemas.openxmlformats.org/drawingml/2006/chart">
  <c:lang val="en-US"/>
  <c:chart>
    <c:plotArea>
      <c:barChart>
        <c:barDir val="col"/>
        <c:grouping val="clustered"/>
        <c:varyColors val="0"/>
        <c:ser>
          <c:idx val="0"/>
          <c:order val="0"/>
          <c:tx>
            <c:v>Attack success</c:v>
          </c:tx>
          <c:spPr>
            <a:solidFill xmlns:a="http://schemas.openxmlformats.org/drawingml/2006/main">
              <a:srgbClr val="3D8DFF"/>
            </a:solidFill>
          </c:spPr>
          <c:cat>
            <c:strLit>
              <c:ptCount val="4"/>
              <c:pt idx="0">
                <c:v>Unrestricted</c:v>
              </c:pt>
              <c:pt idx="1">
                <c:v>Paraphrase
fixed</c:v>
              </c:pt>
              <c:pt idx="2">
                <c:v>Paraphrase
adaptive</c:v>
              </c:pt>
              <c:pt idx="3">
                <c:v>Typed
adaptive</c:v>
              </c:pt>
            </c:strLit>
          </c:cat>
          <c:val>
            <c:numLit>
              <c:formatCode>General</c:formatCode>
              <c:ptCount val="4"/>
              <c:pt idx="0">
                <c:v>1</c:v>
              </c:pt>
              <c:pt idx="1">
                <c:v>0.25</c:v>
              </c:pt>
              <c:pt idx="2">
                <c:v>1</c:v>
              </c:pt>
              <c:pt idx="3">
                <c:v>0.25</c:v>
              </c:pt>
            </c:numLit>
          </c:val>
        </c:ser>
        <c:dLbls>
          <c:txPr>
            <a:bodyPr xmlns:a="http://schemas.openxmlformats.org/drawingml/2006/main" anchorCtr="1"/>
            <a:lstStyle xmlns:a="http://schemas.openxmlformats.org/drawingml/2006/main"/>
            <a:p xmlns:a="http://schemas.openxmlformats.org/drawingml/2006/main">
              <a:pPr>
                <a:defRPr sz="1200" b="1">
                  <a:solidFill>
                    <a:srgbClr val="000000"/>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200">
                <a:solidFill>
                  <a:srgbClr val="000000"/>
                </a:solidFill>
              </a:defRPr>
            </a:pPr>
          </a:p>
        </c:txPr>
        <c:crossAx val="48672768"/>
      </c:catAx>
      <c:valAx>
        <c:axId val="48672768"/>
        <c:scaling>
          <c:orientation val="minMax"/>
          <c:max val="1"/>
          <c:min val="0"/>
        </c:scaling>
        <c:delete val="0"/>
        <c:axPos val="l"/>
        <c:majorGridlines>
          <c:spPr>
            <a:ln xmlns:a="http://schemas.openxmlformats.org/drawingml/2006/main" w="9525">
              <a:solidFill>
                <a:srgbClr val="EDEDED"/>
              </a:solidFill>
              <a:prstDash val="solid"/>
            </a:ln>
          </c:spPr>
        </c:majorGridlines>
        <c:title>
          <c:tx>
            <c:rich>
              <a:bodyPr xmlns:a="http://schemas.openxmlformats.org/drawingml/2006/main"/>
              <a:lstStyle xmlns:a="http://schemas.openxmlformats.org/drawingml/2006/main"/>
              <a:p xmlns:a="http://schemas.openxmlformats.org/drawingml/2006/main">
                <a:r>
                  <a:rPr sz="1200"/>
                  <a:t>attack success</a:t>
                </a:r>
              </a:p>
            </c:rich>
          </c:tx>
          <c:overlay val="0"/>
          <c:txPr>
            <a:bodyPr xmlns:a="http://schemas.openxmlformats.org/drawingml/2006/main" anchorCtr="1"/>
            <a:lstStyle xmlns:a="http://schemas.openxmlformats.org/drawingml/2006/main"/>
            <a:p xmlns:a="http://schemas.openxmlformats.org/drawingml/2006/main">
              <a:pPr>
                <a:defRPr sz="12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defRPr>
            </a:pPr>
          </a:p>
        </c:txPr>
        <c:crossAx val="48650112"/>
        <c:crossBetween val="between"/>
        <c:majorUnit val="0.25"/>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Attack success</c:v>
          </c:tx>
          <c:spPr>
            <a:solidFill xmlns:a="http://schemas.openxmlformats.org/drawingml/2006/main">
              <a:srgbClr val="A63434"/>
            </a:solidFill>
          </c:spPr>
          <c:cat>
            <c:strLit>
              <c:ptCount val="4"/>
              <c:pt idx="0">
                <c:v>No defense</c:v>
              </c:pt>
              <c:pt idx="1">
                <c:v>Local only</c:v>
              </c:pt>
              <c:pt idx="2">
                <c:v>Hard block</c:v>
              </c:pt>
              <c:pt idx="3">
                <c:v>Targeted repair</c:v>
              </c:pt>
            </c:strLit>
          </c:cat>
          <c:val>
            <c:numLit>
              <c:formatCode>General</c:formatCode>
              <c:ptCount val="4"/>
              <c:pt idx="0">
                <c:v>1</c:v>
              </c:pt>
              <c:pt idx="1">
                <c:v>1</c:v>
              </c:pt>
              <c:pt idx="2">
                <c:v>0</c:v>
              </c:pt>
              <c:pt idx="3">
                <c:v>0</c:v>
              </c:pt>
            </c:numLit>
          </c:val>
        </c:ser>
        <c:ser>
          <c:idx val="1"/>
          <c:order val="1"/>
          <c:tx>
            <c:v>Exact utility</c:v>
          </c:tx>
          <c:spPr>
            <a:solidFill xmlns:a="http://schemas.openxmlformats.org/drawingml/2006/main">
              <a:srgbClr val="3D8DFF"/>
            </a:solidFill>
          </c:spPr>
          <c:cat>
            <c:strLit>
              <c:ptCount val="4"/>
              <c:pt idx="0">
                <c:v>No defense</c:v>
              </c:pt>
              <c:pt idx="1">
                <c:v>Local only</c:v>
              </c:pt>
              <c:pt idx="2">
                <c:v>Hard block</c:v>
              </c:pt>
              <c:pt idx="3">
                <c:v>Targeted repair</c:v>
              </c:pt>
            </c:strLit>
          </c:cat>
          <c:val>
            <c:numLit>
              <c:formatCode>General</c:formatCode>
              <c:ptCount val="4"/>
              <c:pt idx="0">
                <c:v>1</c:v>
              </c:pt>
              <c:pt idx="1">
                <c:v>1</c:v>
              </c:pt>
              <c:pt idx="2">
                <c:v>0</c:v>
              </c:pt>
              <c:pt idx="3">
                <c:v>1</c:v>
              </c:pt>
            </c:numLit>
          </c:val>
        </c:ser>
        <c:dLbls>
          <c:txPr>
            <a:bodyPr xmlns:a="http://schemas.openxmlformats.org/drawingml/2006/main" anchorCtr="1"/>
            <a:lstStyle xmlns:a="http://schemas.openxmlformats.org/drawingml/2006/main"/>
            <a:p xmlns:a="http://schemas.openxmlformats.org/drawingml/2006/main">
              <a:pPr>
                <a:defRPr sz="1125">
                  <a:solidFill>
                    <a:srgbClr val="000000"/>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200">
                <a:solidFill>
                  <a:srgbClr val="000000"/>
                </a:solidFill>
              </a:defRPr>
            </a:pPr>
          </a:p>
        </c:txPr>
        <c:crossAx val="48672768"/>
      </c:catAx>
      <c:valAx>
        <c:axId val="48672768"/>
        <c:scaling>
          <c:orientation val="minMax"/>
          <c:max val="1"/>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defRPr>
            </a:pPr>
          </a:p>
        </c:txPr>
        <c:crossAx val="48650112"/>
        <c:crossBetween val="between"/>
        <c:majorUnit val="0.25"/>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200"/>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Detected before irreversible harm</c:v>
          </c:tx>
          <c:spPr>
            <a:solidFill xmlns:a="http://schemas.openxmlformats.org/drawingml/2006/main">
              <a:srgbClr val="3D8DFF"/>
            </a:solidFill>
          </c:spPr>
          <c:cat>
            <c:strLit>
              <c:ptCount val="4"/>
              <c:pt idx="0">
                <c:v>Low rate</c:v>
              </c:pt>
              <c:pt idx="1">
                <c:v>Memory poisoning</c:v>
              </c:pt>
              <c:pt idx="2">
                <c:v>Reward induced</c:v>
              </c:pt>
              <c:pt idx="3">
                <c:v>Delayed trigger</c:v>
              </c:pt>
            </c:strLit>
          </c:cat>
          <c:val>
            <c:numLit>
              <c:formatCode>General</c:formatCode>
              <c:ptCount val="4"/>
              <c:pt idx="0">
                <c:v>0.275</c:v>
              </c:pt>
              <c:pt idx="1">
                <c:v>0.75</c:v>
              </c:pt>
              <c:pt idx="2">
                <c:v>0.75</c:v>
              </c:pt>
              <c:pt idx="3">
                <c:v>1</c:v>
              </c:pt>
            </c:numLit>
          </c:val>
        </c:ser>
        <c:dLbls>
          <c:txPr>
            <a:bodyPr xmlns:a="http://schemas.openxmlformats.org/drawingml/2006/main" anchorCtr="1"/>
            <a:lstStyle xmlns:a="http://schemas.openxmlformats.org/drawingml/2006/main"/>
            <a:p xmlns:a="http://schemas.openxmlformats.org/drawingml/2006/main">
              <a:pPr>
                <a:defRPr sz="1200" b="1">
                  <a:solidFill>
                    <a:srgbClr val="000000"/>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125">
                <a:solidFill>
                  <a:srgbClr val="000000"/>
                </a:solidFill>
              </a:defRPr>
            </a:pPr>
          </a:p>
        </c:txPr>
        <c:crossAx val="48672768"/>
      </c:catAx>
      <c:valAx>
        <c:axId val="48672768"/>
        <c:scaling>
          <c:orientation val="minMax"/>
          <c:max val="1"/>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defRPr>
            </a:pPr>
          </a:p>
        </c:txPr>
        <c:crossAx val="48650112"/>
        <c:crossBetween val="between"/>
        <c:majorUnit val="0.25"/>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Diverse stack</c:v>
          </c:tx>
          <c:spPr>
            <a:solidFill xmlns:a="http://schemas.openxmlformats.org/drawingml/2006/main">
              <a:srgbClr val="3D8DFF"/>
            </a:solidFill>
          </c:spPr>
          <c:cat>
            <c:strLit>
              <c:ptCount val="2"/>
              <c:pt idx="0">
                <c:v>Joint singleton bypass</c:v>
              </c:pt>
              <c:pt idx="1">
                <c:v>Realized stack bypass</c:v>
              </c:pt>
            </c:strLit>
          </c:cat>
          <c:val>
            <c:numLit>
              <c:formatCode>General</c:formatCode>
              <c:ptCount val="2"/>
              <c:pt idx="0">
                <c:v>0.03125</c:v>
              </c:pt>
              <c:pt idx="1">
                <c:v>0.05625</c:v>
              </c:pt>
            </c:numLit>
          </c:val>
        </c:ser>
        <c:ser>
          <c:idx val="1"/>
          <c:order val="1"/>
          <c:tx>
            <c:v>Homogeneous ensemble</c:v>
          </c:tx>
          <c:spPr>
            <a:solidFill xmlns:a="http://schemas.openxmlformats.org/drawingml/2006/main">
              <a:srgbClr val="B8BCC4"/>
            </a:solidFill>
          </c:spPr>
          <c:cat>
            <c:strLit>
              <c:ptCount val="2"/>
              <c:pt idx="0">
                <c:v>Joint singleton bypass</c:v>
              </c:pt>
              <c:pt idx="1">
                <c:v>Realized stack bypass</c:v>
              </c:pt>
            </c:strLit>
          </c:cat>
          <c:val>
            <c:numLit>
              <c:formatCode>General</c:formatCode>
              <c:ptCount val="2"/>
              <c:pt idx="0">
                <c:v>0.63125</c:v>
              </c:pt>
              <c:pt idx="1">
                <c:v>0.65</c:v>
              </c:pt>
            </c:numLit>
          </c:val>
        </c:ser>
        <c:dLbls>
          <c:txPr>
            <a:bodyPr xmlns:a="http://schemas.openxmlformats.org/drawingml/2006/main" anchorCtr="1"/>
            <a:lstStyle xmlns:a="http://schemas.openxmlformats.org/drawingml/2006/main"/>
            <a:p xmlns:a="http://schemas.openxmlformats.org/drawingml/2006/main">
              <a:pPr>
                <a:defRPr sz="1125">
                  <a:solidFill>
                    <a:srgbClr val="000000"/>
                  </a:solidFil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200">
                <a:solidFill>
                  <a:srgbClr val="000000"/>
                </a:solidFill>
              </a:defRPr>
            </a:pPr>
          </a:p>
        </c:txPr>
        <c:crossAx val="48672768"/>
      </c:catAx>
      <c:valAx>
        <c:axId val="48672768"/>
        <c:scaling>
          <c:orientation val="minMax"/>
          <c:max val="0.75"/>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defRPr>
            </a:pPr>
          </a:p>
        </c:txPr>
        <c:crossAx val="48650112"/>
        <c:crossBetween val="between"/>
        <c:majorUnit val="0.15"/>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200"/>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70F7A3-7436-4E02-AB4F-707AF45DF6C1}"/>
              </a:ext>
            </a:extLst>
          </p:cNvPr>
          <p:cNvSpPr>
            <a:spLocks xmlns:a="http://schemas.openxmlformats.org/drawingml/2006/main" noGrp="1"/>
          </p:cNvSpPr>
          <p:nvPr/>
        </p:nvSpPr>
        <p:spPr>
          <a:xfrm xmlns:a="http://schemas.openxmlformats.org/drawingml/2006/main">
            <a:off x="400050" y="3619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D636D"/>
                </a:solidFill>
                <a:latin typeface="Helvetica Neue"/>
                <a:ea typeface="Helvetica Neue"/>
                <a:cs typeface="Helvetica Neue"/>
              </a:defRPr>
            </a:pPr>
            <a:r>
              <a:rPr sz="1350" b="1">
                <a:solidFill>
                  <a:srgbClr val="5D636D"/>
                </a:solidFill>
                <a:latin typeface="Helvetica Neue"/>
                <a:ea typeface="Helvetica Neue"/>
                <a:cs typeface="Helvetica Neue"/>
              </a:rPr>
              <a:t>MULTI-AGENT DEFENSE EVALUATION</a:t>
            </a:r>
          </a:p>
        </p:txBody>
      </p:sp>
      <p:sp>
        <p:nvSpPr>
          <p:cNvPr id="2" name="">
            <a:extLst xmlns:a="http://schemas.openxmlformats.org/drawingml/2006/main">
              <a:ext uri="{FF2B5EF4-FFF2-40B4-BE49-F238E27FC236}">
                <a16:creationId xmlns:a16="http://schemas.microsoft.com/office/drawing/2014/main" id="{0B9CB11F-AFF6-4F03-AF0C-53CAADA4A84E}"/>
              </a:ext>
            </a:extLst>
          </p:cNvPr>
          <p:cNvSpPr>
            <a:spLocks xmlns:a="http://schemas.openxmlformats.org/drawingml/2006/main" noGrp="1"/>
          </p:cNvSpPr>
          <p:nvPr/>
        </p:nvSpPr>
        <p:spPr>
          <a:xfrm xmlns:a="http://schemas.openxmlformats.org/drawingml/2006/main">
            <a:off x="400050" y="1695450"/>
            <a:ext cx="8858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Mechanism-diverse</a:t>
            </a:r>
          </a:p>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tail robustness</a:t>
            </a:r>
          </a:p>
        </p:txBody>
      </p:sp>
      <p:sp>
        <p:nvSpPr>
          <p:cNvPr id="3" name="">
            <a:extLst xmlns:a="http://schemas.openxmlformats.org/drawingml/2006/main">
              <a:ext uri="{FF2B5EF4-FFF2-40B4-BE49-F238E27FC236}">
                <a16:creationId xmlns:a16="http://schemas.microsoft.com/office/drawing/2014/main" id="{0DD7CF6D-5836-450F-A996-9E5E96610667}"/>
              </a:ext>
            </a:extLst>
          </p:cNvPr>
          <p:cNvSpPr>
            <a:spLocks xmlns:a="http://schemas.openxmlformats.org/drawingml/2006/main" noGrp="1"/>
          </p:cNvSpPr>
          <p:nvPr/>
        </p:nvSpPr>
        <p:spPr>
          <a:xfrm xmlns:a="http://schemas.openxmlformats.org/drawingml/2006/main">
            <a:off x="400050" y="4305300"/>
            <a:ext cx="7810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0">
                <a:solidFill>
                  <a:srgbClr val="5D636D"/>
                </a:solidFill>
                <a:latin typeface="Helvetica Neue"/>
                <a:ea typeface="Helvetica Neue"/>
                <a:cs typeface="Helvetica Neue"/>
              </a:defRPr>
            </a:pPr>
            <a:r>
              <a:rPr sz="2100" b="0">
                <a:solidFill>
                  <a:srgbClr val="5D636D"/>
                </a:solidFill>
                <a:latin typeface="Helvetica Neue"/>
                <a:ea typeface="Helvetica Neue"/>
                <a:cs typeface="Helvetica Neue"/>
              </a:rPr>
              <a:t>A falsifiable harness for collusion, steganography, compound attacks, and irreversible harm</a:t>
            </a:r>
          </a:p>
        </p:txBody>
      </p:sp>
      <p:sp>
        <p:nvSpPr>
          <p:cNvPr id="4" name="">
            <a:extLst xmlns:a="http://schemas.openxmlformats.org/drawingml/2006/main">
              <a:ext uri="{FF2B5EF4-FFF2-40B4-BE49-F238E27FC236}">
                <a16:creationId xmlns:a16="http://schemas.microsoft.com/office/drawing/2014/main" id="{07BCBD0C-57C1-44D1-BE35-FFC2818F58CB}"/>
              </a:ext>
            </a:extLst>
          </p:cNvPr>
          <p:cNvSpPr>
            <a:spLocks xmlns:a="http://schemas.openxmlformats.org/drawingml/2006/main" noGrp="1"/>
          </p:cNvSpPr>
          <p:nvPr/>
        </p:nvSpPr>
        <p:spPr>
          <a:xfrm xmlns:a="http://schemas.openxmlformats.org/drawingml/2006/main">
            <a:off x="9620250" y="876300"/>
            <a:ext cx="1809750" cy="4762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A949E6-9A66-4F1B-A102-0AEA175229F1}"/>
              </a:ext>
            </a:extLst>
          </p:cNvPr>
          <p:cNvSpPr>
            <a:spLocks xmlns:a="http://schemas.openxmlformats.org/drawingml/2006/main" noGrp="1"/>
          </p:cNvSpPr>
          <p:nvPr/>
        </p:nvSpPr>
        <p:spPr>
          <a:xfrm xmlns:a="http://schemas.openxmlformats.org/drawingml/2006/main">
            <a:off x="10096500" y="1352550"/>
            <a:ext cx="857250" cy="3810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47FDE2-12EE-41B9-8087-00AA0962E695}"/>
              </a:ext>
            </a:extLst>
          </p:cNvPr>
          <p:cNvSpPr>
            <a:spLocks xmlns:a="http://schemas.openxmlformats.org/drawingml/2006/main" noGrp="1"/>
          </p:cNvSpPr>
          <p:nvPr/>
        </p:nvSpPr>
        <p:spPr>
          <a:xfrm xmlns:a="http://schemas.openxmlformats.org/drawingml/2006/main">
            <a:off x="400050" y="582930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E01—E05</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2,400 synthetic trajectories</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900 frozen 7B episodes</a:t>
            </a:r>
          </a:p>
        </p:txBody>
      </p:sp>
    </p:spTree>
    <p:extLst>
      <p:ext uri="{BB962C8B-B14F-4D97-AF65-F5344CB8AC3E}">
        <p14:creationId xmlns:p14="http://schemas.microsoft.com/office/powerpoint/2010/main" val="3165089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70F7A3-7436-4E02-AB4F-707AF45DF6C1}"/>
              </a:ext>
            </a:extLst>
          </p:cNvPr>
          <p:cNvSpPr>
            <a:spLocks xmlns:a="http://schemas.openxmlformats.org/drawingml/2006/main" noGrp="1"/>
          </p:cNvSpPr>
          <p:nvPr/>
        </p:nvSpPr>
        <p:spPr>
          <a:xfrm xmlns:a="http://schemas.openxmlformats.org/drawingml/2006/main">
            <a:off x="400050" y="3619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D636D"/>
                </a:solidFill>
                <a:latin typeface="Helvetica Neue"/>
                <a:ea typeface="Helvetica Neue"/>
                <a:cs typeface="Helvetica Neue"/>
              </a:defRPr>
            </a:pPr>
            <a:r>
              <a:rPr sz="1350" b="1">
                <a:solidFill>
                  <a:srgbClr val="5D636D"/>
                </a:solidFill>
                <a:latin typeface="Helvetica Neue"/>
                <a:ea typeface="Helvetica Neue"/>
                <a:cs typeface="Helvetica Neue"/>
              </a:rPr>
              <a:t>SECTION 1</a:t>
            </a:r>
          </a:p>
        </p:txBody>
      </p:sp>
      <p:sp>
        <p:nvSpPr>
          <p:cNvPr id="2" name="">
            <a:extLst xmlns:a="http://schemas.openxmlformats.org/drawingml/2006/main">
              <a:ext uri="{FF2B5EF4-FFF2-40B4-BE49-F238E27FC236}">
                <a16:creationId xmlns:a16="http://schemas.microsoft.com/office/drawing/2014/main" id="{0B9CB11F-AFF6-4F03-AF0C-53CAADA4A84E}"/>
              </a:ext>
            </a:extLst>
          </p:cNvPr>
          <p:cNvSpPr>
            <a:spLocks xmlns:a="http://schemas.openxmlformats.org/drawingml/2006/main" noGrp="1"/>
          </p:cNvSpPr>
          <p:nvPr/>
        </p:nvSpPr>
        <p:spPr>
          <a:xfrm xmlns:a="http://schemas.openxmlformats.org/drawingml/2006/main">
            <a:off x="400050" y="1695450"/>
            <a:ext cx="8858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Problem Space</a:t>
            </a:r>
          </a:p>
        </p:txBody>
      </p:sp>
      <p:sp>
        <p:nvSpPr>
          <p:cNvPr id="3" name="">
            <a:extLst xmlns:a="http://schemas.openxmlformats.org/drawingml/2006/main">
              <a:ext uri="{FF2B5EF4-FFF2-40B4-BE49-F238E27FC236}">
                <a16:creationId xmlns:a16="http://schemas.microsoft.com/office/drawing/2014/main" id="{0DD7CF6D-5836-450F-A996-9E5E96610667}"/>
              </a:ext>
            </a:extLst>
          </p:cNvPr>
          <p:cNvSpPr>
            <a:spLocks xmlns:a="http://schemas.openxmlformats.org/drawingml/2006/main" noGrp="1"/>
          </p:cNvSpPr>
          <p:nvPr/>
        </p:nvSpPr>
        <p:spPr>
          <a:xfrm xmlns:a="http://schemas.openxmlformats.org/drawingml/2006/main">
            <a:off x="400050" y="4305300"/>
            <a:ext cx="7810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0">
                <a:solidFill>
                  <a:srgbClr val="5D636D"/>
                </a:solidFill>
                <a:latin typeface="Helvetica Neue"/>
                <a:ea typeface="Helvetica Neue"/>
                <a:cs typeface="Helvetica Neue"/>
              </a:defRPr>
            </a:pPr>
            <a:r>
              <a:rPr sz="2100" b="0">
                <a:solidFill>
                  <a:srgbClr val="5D636D"/>
                </a:solidFill>
                <a:latin typeface="Helvetica Neue"/>
                <a:ea typeface="Helvetica Neue"/>
                <a:cs typeface="Helvetica Neue"/>
              </a:rPr>
              <a:t>Why component-level safety breaks when stochastic agents coordinate across messages, tools, and time</a:t>
            </a:r>
          </a:p>
        </p:txBody>
      </p:sp>
      <p:sp>
        <p:nvSpPr>
          <p:cNvPr id="4" name="">
            <a:extLst xmlns:a="http://schemas.openxmlformats.org/drawingml/2006/main">
              <a:ext uri="{FF2B5EF4-FFF2-40B4-BE49-F238E27FC236}">
                <a16:creationId xmlns:a16="http://schemas.microsoft.com/office/drawing/2014/main" id="{07BCBD0C-57C1-44D1-BE35-FFC2818F58CB}"/>
              </a:ext>
            </a:extLst>
          </p:cNvPr>
          <p:cNvSpPr>
            <a:spLocks xmlns:a="http://schemas.openxmlformats.org/drawingml/2006/main" noGrp="1"/>
          </p:cNvSpPr>
          <p:nvPr/>
        </p:nvSpPr>
        <p:spPr>
          <a:xfrm xmlns:a="http://schemas.openxmlformats.org/drawingml/2006/main">
            <a:off x="9620250" y="876300"/>
            <a:ext cx="1809750" cy="4762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A949E6-9A66-4F1B-A102-0AEA175229F1}"/>
              </a:ext>
            </a:extLst>
          </p:cNvPr>
          <p:cNvSpPr>
            <a:spLocks xmlns:a="http://schemas.openxmlformats.org/drawingml/2006/main" noGrp="1"/>
          </p:cNvSpPr>
          <p:nvPr/>
        </p:nvSpPr>
        <p:spPr>
          <a:xfrm xmlns:a="http://schemas.openxmlformats.org/drawingml/2006/main">
            <a:off x="10096500" y="1352550"/>
            <a:ext cx="857250" cy="3810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47FDE2-12EE-41B9-8087-00AA0962E695}"/>
              </a:ext>
            </a:extLst>
          </p:cNvPr>
          <p:cNvSpPr>
            <a:spLocks xmlns:a="http://schemas.openxmlformats.org/drawingml/2006/main" noGrp="1"/>
          </p:cNvSpPr>
          <p:nvPr/>
        </p:nvSpPr>
        <p:spPr>
          <a:xfrm xmlns:a="http://schemas.openxmlformats.org/drawingml/2006/main">
            <a:off x="400050" y="582930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01 / PROBLEM SPACE</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From isolated outputs</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to system trajectories</a:t>
            </a:r>
          </a:p>
        </p:txBody>
      </p:sp>
    </p:spTree>
    <p:extLst>
      <p:ext uri="{BB962C8B-B14F-4D97-AF65-F5344CB8AC3E}">
        <p14:creationId xmlns:p14="http://schemas.microsoft.com/office/powerpoint/2010/main" val="31650899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F5E479-F304-43E0-9DD7-6ECE0BB1B711}"/>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4-title">
            <a:extLst xmlns:a="http://schemas.openxmlformats.org/drawingml/2006/main">
              <a:ext uri="{FF2B5EF4-FFF2-40B4-BE49-F238E27FC236}">
                <a16:creationId xmlns:a16="http://schemas.microsoft.com/office/drawing/2014/main" id="{75D1F63C-9327-4B72-9129-8688169032A5}"/>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Why multi-agent security is a system property</a:t>
            </a:r>
          </a:p>
        </p:txBody>
      </p:sp>
      <p:sp>
        <p:nvSpPr>
          <p:cNvPr id="3" name="">
            <a:extLst xmlns:a="http://schemas.openxmlformats.org/drawingml/2006/main">
              <a:ext uri="{FF2B5EF4-FFF2-40B4-BE49-F238E27FC236}">
                <a16:creationId xmlns:a16="http://schemas.microsoft.com/office/drawing/2014/main" id="{C457683D-8C23-4AC2-AA5B-ED38921DB861}"/>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A5BDC0CE-0622-4406-9B4F-98CF1B3429E7}"/>
              </a:ext>
            </a:extLst>
          </p:cNvPr>
          <p:cNvSpPr>
            <a:spLocks xmlns:a="http://schemas.openxmlformats.org/drawingml/2006/main" noGrp="1"/>
          </p:cNvSpPr>
          <p:nvPr/>
        </p:nvSpPr>
        <p:spPr>
          <a:xfrm xmlns:a="http://schemas.openxmlformats.org/drawingml/2006/main">
            <a:off x="400050" y="1543050"/>
            <a:ext cx="5429250" cy="42862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6CD06E-8FC1-495C-9B93-0E6F7A30042C}"/>
              </a:ext>
            </a:extLst>
          </p:cNvPr>
          <p:cNvSpPr>
            <a:spLocks xmlns:a="http://schemas.openxmlformats.org/drawingml/2006/main" noGrp="1"/>
          </p:cNvSpPr>
          <p:nvPr/>
        </p:nvSpPr>
        <p:spPr>
          <a:xfrm xmlns:a="http://schemas.openxmlformats.org/drawingml/2006/main">
            <a:off x="6191250" y="1543050"/>
            <a:ext cx="5600700" cy="4286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4363782-92FE-4FEB-9BA8-546B59559F92}"/>
              </a:ext>
            </a:extLst>
          </p:cNvPr>
          <p:cNvSpPr>
            <a:spLocks xmlns:a="http://schemas.openxmlformats.org/drawingml/2006/main" noGrp="1"/>
          </p:cNvSpPr>
          <p:nvPr/>
        </p:nvSpPr>
        <p:spPr>
          <a:xfrm xmlns:a="http://schemas.openxmlformats.org/drawingml/2006/main">
            <a:off x="685800" y="1857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Single-agent view</a:t>
            </a:r>
          </a:p>
        </p:txBody>
      </p:sp>
      <p:sp>
        <p:nvSpPr>
          <p:cNvPr id="7" name="">
            <a:extLst xmlns:a="http://schemas.openxmlformats.org/drawingml/2006/main">
              <a:ext uri="{FF2B5EF4-FFF2-40B4-BE49-F238E27FC236}">
                <a16:creationId xmlns:a16="http://schemas.microsoft.com/office/drawing/2014/main" id="{57764050-A6DA-4B46-82A2-CAB2EC10E2FA}"/>
              </a:ext>
            </a:extLst>
          </p:cNvPr>
          <p:cNvSpPr>
            <a:spLocks xmlns:a="http://schemas.openxmlformats.org/drawingml/2006/main" noGrp="1"/>
          </p:cNvSpPr>
          <p:nvPr/>
        </p:nvSpPr>
        <p:spPr>
          <a:xfrm xmlns:a="http://schemas.openxmlformats.org/drawingml/2006/main">
            <a:off x="685800" y="2476500"/>
            <a:ext cx="46672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Evaluate each agent independently</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Inspect local messages and actions</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Assume failures compose monotonically</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Optimize average performance</a:t>
            </a:r>
          </a:p>
        </p:txBody>
      </p:sp>
      <p:sp>
        <p:nvSpPr>
          <p:cNvPr id="8" name="">
            <a:extLst xmlns:a="http://schemas.openxmlformats.org/drawingml/2006/main">
              <a:ext uri="{FF2B5EF4-FFF2-40B4-BE49-F238E27FC236}">
                <a16:creationId xmlns:a16="http://schemas.microsoft.com/office/drawing/2014/main" id="{B775A0DB-A5FB-4312-BFF3-AD6BAB917018}"/>
              </a:ext>
            </a:extLst>
          </p:cNvPr>
          <p:cNvSpPr>
            <a:spLocks xmlns:a="http://schemas.openxmlformats.org/drawingml/2006/main" noGrp="1"/>
          </p:cNvSpPr>
          <p:nvPr/>
        </p:nvSpPr>
        <p:spPr>
          <a:xfrm xmlns:a="http://schemas.openxmlformats.org/drawingml/2006/main">
            <a:off x="6496050" y="18573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Multi-agent reality</a:t>
            </a:r>
          </a:p>
        </p:txBody>
      </p:sp>
      <p:sp>
        <p:nvSpPr>
          <p:cNvPr id="9" name="">
            <a:extLst xmlns:a="http://schemas.openxmlformats.org/drawingml/2006/main">
              <a:ext uri="{FF2B5EF4-FFF2-40B4-BE49-F238E27FC236}">
                <a16:creationId xmlns:a16="http://schemas.microsoft.com/office/drawing/2014/main" id="{E64D6E4E-7DEC-485C-B4D4-00B4FD5E6370}"/>
              </a:ext>
            </a:extLst>
          </p:cNvPr>
          <p:cNvSpPr>
            <a:spLocks xmlns:a="http://schemas.openxmlformats.org/drawingml/2006/main" noGrp="1"/>
          </p:cNvSpPr>
          <p:nvPr/>
        </p:nvSpPr>
        <p:spPr>
          <a:xfrm xmlns:a="http://schemas.openxmlformats.org/drawingml/2006/main">
            <a:off x="6496050" y="2476500"/>
            <a:ext cx="4762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1. Safe local steps can compose into harm.</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2. Coordination can hide in messages, tools, memory, or timing.</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3. Failures correlate across agents and defenses.</a:t>
            </a:r>
          </a:p>
        </p:txBody>
      </p:sp>
      <p:sp>
        <p:nvSpPr>
          <p:cNvPr id="10" name="">
            <a:extLst xmlns:a="http://schemas.openxmlformats.org/drawingml/2006/main">
              <a:ext uri="{FF2B5EF4-FFF2-40B4-BE49-F238E27FC236}">
                <a16:creationId xmlns:a16="http://schemas.microsoft.com/office/drawing/2014/main" id="{8B5C5AC7-7E09-417E-8BE5-0A3A14555694}"/>
              </a:ext>
            </a:extLst>
          </p:cNvPr>
          <p:cNvSpPr>
            <a:spLocks xmlns:a="http://schemas.openxmlformats.org/drawingml/2006/main" noGrp="1"/>
          </p:cNvSpPr>
          <p:nvPr/>
        </p:nvSpPr>
        <p:spPr>
          <a:xfrm xmlns:a="http://schemas.openxmlformats.org/drawingml/2006/main">
            <a:off x="400050" y="60198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A63434"/>
                </a:solidFill>
                <a:latin typeface="Helvetica Neue"/>
                <a:ea typeface="Helvetica Neue"/>
                <a:cs typeface="Helvetica Neue"/>
              </a:defRPr>
            </a:pPr>
            <a:r>
              <a:rPr sz="1500" b="1">
                <a:solidFill>
                  <a:srgbClr val="A63434"/>
                </a:solidFill>
                <a:latin typeface="Helvetica Neue"/>
                <a:ea typeface="Helvetica Neue"/>
                <a:cs typeface="Helvetica Neue"/>
              </a:rPr>
              <a:t>Defense must evaluate trajectories, coalitions, and consequences—not components alone.</a:t>
            </a:r>
          </a:p>
        </p:txBody>
      </p:sp>
    </p:spTree>
    <p:extLst>
      <p:ext uri="{BB962C8B-B14F-4D97-AF65-F5344CB8AC3E}">
        <p14:creationId xmlns:p14="http://schemas.microsoft.com/office/powerpoint/2010/main" val="1816091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70F7A3-7436-4E02-AB4F-707AF45DF6C1}"/>
              </a:ext>
            </a:extLst>
          </p:cNvPr>
          <p:cNvSpPr>
            <a:spLocks xmlns:a="http://schemas.openxmlformats.org/drawingml/2006/main" noGrp="1"/>
          </p:cNvSpPr>
          <p:nvPr/>
        </p:nvSpPr>
        <p:spPr>
          <a:xfrm xmlns:a="http://schemas.openxmlformats.org/drawingml/2006/main">
            <a:off x="400050" y="3619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D636D"/>
                </a:solidFill>
                <a:latin typeface="Helvetica Neue"/>
                <a:ea typeface="Helvetica Neue"/>
                <a:cs typeface="Helvetica Neue"/>
              </a:defRPr>
            </a:pPr>
            <a:r>
              <a:rPr sz="1350" b="1">
                <a:solidFill>
                  <a:srgbClr val="5D636D"/>
                </a:solidFill>
                <a:latin typeface="Helvetica Neue"/>
                <a:ea typeface="Helvetica Neue"/>
                <a:cs typeface="Helvetica Neue"/>
              </a:rPr>
              <a:t>SECTION 2</a:t>
            </a:r>
          </a:p>
        </p:txBody>
      </p:sp>
      <p:sp>
        <p:nvSpPr>
          <p:cNvPr id="2" name="">
            <a:extLst xmlns:a="http://schemas.openxmlformats.org/drawingml/2006/main">
              <a:ext uri="{FF2B5EF4-FFF2-40B4-BE49-F238E27FC236}">
                <a16:creationId xmlns:a16="http://schemas.microsoft.com/office/drawing/2014/main" id="{0B9CB11F-AFF6-4F03-AF0C-53CAADA4A84E}"/>
              </a:ext>
            </a:extLst>
          </p:cNvPr>
          <p:cNvSpPr>
            <a:spLocks xmlns:a="http://schemas.openxmlformats.org/drawingml/2006/main" noGrp="1"/>
          </p:cNvSpPr>
          <p:nvPr/>
        </p:nvSpPr>
        <p:spPr>
          <a:xfrm xmlns:a="http://schemas.openxmlformats.org/drawingml/2006/main">
            <a:off x="400050" y="1695450"/>
            <a:ext cx="8858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Multi-Agent</a:t>
            </a:r>
          </a:p>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Attack Vectors</a:t>
            </a:r>
          </a:p>
        </p:txBody>
      </p:sp>
      <p:sp>
        <p:nvSpPr>
          <p:cNvPr id="3" name="">
            <a:extLst xmlns:a="http://schemas.openxmlformats.org/drawingml/2006/main">
              <a:ext uri="{FF2B5EF4-FFF2-40B4-BE49-F238E27FC236}">
                <a16:creationId xmlns:a16="http://schemas.microsoft.com/office/drawing/2014/main" id="{0DD7CF6D-5836-450F-A996-9E5E96610667}"/>
              </a:ext>
            </a:extLst>
          </p:cNvPr>
          <p:cNvSpPr>
            <a:spLocks xmlns:a="http://schemas.openxmlformats.org/drawingml/2006/main" noGrp="1"/>
          </p:cNvSpPr>
          <p:nvPr/>
        </p:nvSpPr>
        <p:spPr>
          <a:xfrm xmlns:a="http://schemas.openxmlformats.org/drawingml/2006/main">
            <a:off x="400050" y="4305300"/>
            <a:ext cx="7810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0">
                <a:solidFill>
                  <a:srgbClr val="5D636D"/>
                </a:solidFill>
                <a:latin typeface="Helvetica Neue"/>
                <a:ea typeface="Helvetica Neue"/>
                <a:cs typeface="Helvetica Neue"/>
              </a:defRPr>
            </a:pPr>
            <a:r>
              <a:rPr sz="2100" b="0">
                <a:solidFill>
                  <a:srgbClr val="5D636D"/>
                </a:solidFill>
                <a:latin typeface="Helvetica Neue"/>
                <a:ea typeface="Helvetica Neue"/>
                <a:cs typeface="Helvetica Neue"/>
              </a:rPr>
              <a:t>Collusion, steganography, heterogeneous composition, and cascading compromise stress different defense surfaces</a:t>
            </a:r>
          </a:p>
        </p:txBody>
      </p:sp>
      <p:sp>
        <p:nvSpPr>
          <p:cNvPr id="4" name="">
            <a:extLst xmlns:a="http://schemas.openxmlformats.org/drawingml/2006/main">
              <a:ext uri="{FF2B5EF4-FFF2-40B4-BE49-F238E27FC236}">
                <a16:creationId xmlns:a16="http://schemas.microsoft.com/office/drawing/2014/main" id="{07BCBD0C-57C1-44D1-BE35-FFC2818F58CB}"/>
              </a:ext>
            </a:extLst>
          </p:cNvPr>
          <p:cNvSpPr>
            <a:spLocks xmlns:a="http://schemas.openxmlformats.org/drawingml/2006/main" noGrp="1"/>
          </p:cNvSpPr>
          <p:nvPr/>
        </p:nvSpPr>
        <p:spPr>
          <a:xfrm xmlns:a="http://schemas.openxmlformats.org/drawingml/2006/main">
            <a:off x="9620250" y="876300"/>
            <a:ext cx="1809750" cy="4762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A949E6-9A66-4F1B-A102-0AEA175229F1}"/>
              </a:ext>
            </a:extLst>
          </p:cNvPr>
          <p:cNvSpPr>
            <a:spLocks xmlns:a="http://schemas.openxmlformats.org/drawingml/2006/main" noGrp="1"/>
          </p:cNvSpPr>
          <p:nvPr/>
        </p:nvSpPr>
        <p:spPr>
          <a:xfrm xmlns:a="http://schemas.openxmlformats.org/drawingml/2006/main">
            <a:off x="10096500" y="1352550"/>
            <a:ext cx="857250" cy="3810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47FDE2-12EE-41B9-8087-00AA0962E695}"/>
              </a:ext>
            </a:extLst>
          </p:cNvPr>
          <p:cNvSpPr>
            <a:spLocks xmlns:a="http://schemas.openxmlformats.org/drawingml/2006/main" noGrp="1"/>
          </p:cNvSpPr>
          <p:nvPr/>
        </p:nvSpPr>
        <p:spPr>
          <a:xfrm xmlns:a="http://schemas.openxmlformats.org/drawingml/2006/main">
            <a:off x="400050" y="582930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02 / ATTACK VECTORS</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Channels, composition,</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and consequences</a:t>
            </a:r>
          </a:p>
        </p:txBody>
      </p:sp>
    </p:spTree>
    <p:extLst>
      <p:ext uri="{BB962C8B-B14F-4D97-AF65-F5344CB8AC3E}">
        <p14:creationId xmlns:p14="http://schemas.microsoft.com/office/powerpoint/2010/main" val="31650899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6F9099C-0853-4127-A943-84671A9A3C33}"/>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2-title">
            <a:extLst xmlns:a="http://schemas.openxmlformats.org/drawingml/2006/main">
              <a:ext uri="{FF2B5EF4-FFF2-40B4-BE49-F238E27FC236}">
                <a16:creationId xmlns:a16="http://schemas.microsoft.com/office/drawing/2014/main" id="{C64C9AF2-450C-416F-BF2D-736C72B43656}"/>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Compound attack axes defeat average-case defense</a:t>
            </a:r>
          </a:p>
        </p:txBody>
      </p:sp>
      <p:sp>
        <p:nvSpPr>
          <p:cNvPr id="3" name="">
            <a:extLst xmlns:a="http://schemas.openxmlformats.org/drawingml/2006/main">
              <a:ext uri="{FF2B5EF4-FFF2-40B4-BE49-F238E27FC236}">
                <a16:creationId xmlns:a16="http://schemas.microsoft.com/office/drawing/2014/main" id="{6B8828D0-64AE-4CF2-9B1A-8A36EB632F9B}"/>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E127BDB3-9CE1-48E3-833F-3C84ADFB6E8A}"/>
              </a:ext>
            </a:extLst>
          </p:cNvPr>
          <p:cNvSpPr>
            <a:spLocks xmlns:a="http://schemas.openxmlformats.org/drawingml/2006/main" noGrp="1"/>
          </p:cNvSpPr>
          <p:nvPr/>
        </p:nvSpPr>
        <p:spPr>
          <a:xfrm xmlns:a="http://schemas.openxmlformats.org/drawingml/2006/main">
            <a:off x="400050" y="13811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Section 3.3 treats attack categories and attack variation separately. The difficult cases combine adverse values across several axes.</a:t>
            </a:r>
          </a:p>
        </p:txBody>
      </p:sp>
      <p:sp>
        <p:nvSpPr>
          <p:cNvPr id="5" name="">
            <a:extLst xmlns:a="http://schemas.openxmlformats.org/drawingml/2006/main">
              <a:ext uri="{FF2B5EF4-FFF2-40B4-BE49-F238E27FC236}">
                <a16:creationId xmlns:a16="http://schemas.microsoft.com/office/drawing/2014/main" id="{A3DA942C-5803-40BF-99D2-B3060E3DC82F}"/>
              </a:ext>
            </a:extLst>
          </p:cNvPr>
          <p:cNvSpPr>
            <a:spLocks xmlns:a="http://schemas.openxmlformats.org/drawingml/2006/main" noGrp="1"/>
          </p:cNvSpPr>
          <p:nvPr/>
        </p:nvSpPr>
        <p:spPr>
          <a:xfrm xmlns:a="http://schemas.openxmlformats.org/drawingml/2006/main">
            <a:off x="400050" y="22383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Detectability</a:t>
            </a:r>
          </a:p>
        </p:txBody>
      </p:sp>
      <p:sp>
        <p:nvSpPr>
          <p:cNvPr id="6" name="">
            <a:extLst xmlns:a="http://schemas.openxmlformats.org/drawingml/2006/main">
              <a:ext uri="{FF2B5EF4-FFF2-40B4-BE49-F238E27FC236}">
                <a16:creationId xmlns:a16="http://schemas.microsoft.com/office/drawing/2014/main" id="{770E6606-A63A-4A64-BD78-345C67975B0E}"/>
              </a:ext>
            </a:extLst>
          </p:cNvPr>
          <p:cNvSpPr>
            <a:spLocks xmlns:a="http://schemas.openxmlformats.org/drawingml/2006/main" noGrp="1"/>
          </p:cNvSpPr>
          <p:nvPr/>
        </p:nvSpPr>
        <p:spPr>
          <a:xfrm xmlns:a="http://schemas.openxmlformats.org/drawingml/2006/main">
            <a:off x="2352675" y="2247900"/>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observable signal → structurally undetectable</a:t>
            </a:r>
          </a:p>
        </p:txBody>
      </p:sp>
      <p:cxnSp>
        <p:nvCxnSpPr>
          <p:cNvPr id="205" name=""/>
          <p:cNvCxnSpPr/>
          <p:nvPr/>
        </p:nvCxnSpPr>
        <p:spPr>
          <a:xfrm xmlns:a="http://schemas.openxmlformats.org/drawingml/2006/main">
            <a:off x="400050" y="2905125"/>
            <a:ext cx="5381625" cy="0"/>
          </a:xfrm>
          <a:prstGeom xmlns:a="http://schemas.openxmlformats.org/drawingml/2006/main" prst="straightConnector1">
            <a:avLst/>
          </a:prstGeom>
          <a:ln xmlns:a="http://schemas.openxmlformats.org/drawingml/2006/main" w="9525">
            <a:solidFill>
              <a:srgbClr val="B8BCC4"/>
            </a:solidFill>
            <a:prstDash val="solid"/>
          </a:ln>
        </p:spPr>
      </p:cxnSp>
      <p:sp>
        <p:nvSpPr>
          <p:cNvPr id="8" name="">
            <a:extLst xmlns:a="http://schemas.openxmlformats.org/drawingml/2006/main">
              <a:ext uri="{FF2B5EF4-FFF2-40B4-BE49-F238E27FC236}">
                <a16:creationId xmlns:a16="http://schemas.microsoft.com/office/drawing/2014/main" id="{D482E17F-FE5B-4B8F-B65C-4187B426CAB8}"/>
              </a:ext>
            </a:extLst>
          </p:cNvPr>
          <p:cNvSpPr>
            <a:spLocks xmlns:a="http://schemas.openxmlformats.org/drawingml/2006/main" noGrp="1"/>
          </p:cNvSpPr>
          <p:nvPr/>
        </p:nvSpPr>
        <p:spPr>
          <a:xfrm xmlns:a="http://schemas.openxmlformats.org/drawingml/2006/main">
            <a:off x="400050" y="317182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Locality</a:t>
            </a:r>
          </a:p>
        </p:txBody>
      </p:sp>
      <p:sp>
        <p:nvSpPr>
          <p:cNvPr id="9" name="">
            <a:extLst xmlns:a="http://schemas.openxmlformats.org/drawingml/2006/main">
              <a:ext uri="{FF2B5EF4-FFF2-40B4-BE49-F238E27FC236}">
                <a16:creationId xmlns:a16="http://schemas.microsoft.com/office/drawing/2014/main" id="{C5E8BB6E-6BDE-4FEA-B0BE-610B46DCD0CD}"/>
              </a:ext>
            </a:extLst>
          </p:cNvPr>
          <p:cNvSpPr>
            <a:spLocks xmlns:a="http://schemas.openxmlformats.org/drawingml/2006/main" noGrp="1"/>
          </p:cNvSpPr>
          <p:nvPr/>
        </p:nvSpPr>
        <p:spPr>
          <a:xfrm xmlns:a="http://schemas.openxmlformats.org/drawingml/2006/main">
            <a:off x="2352675" y="3181350"/>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one agent → coalition or whole graph</a:t>
            </a:r>
          </a:p>
        </p:txBody>
      </p:sp>
      <p:cxnSp>
        <p:nvCxnSpPr>
          <p:cNvPr id="208" name=""/>
          <p:cNvCxnSpPr/>
          <p:nvPr/>
        </p:nvCxnSpPr>
        <p:spPr>
          <a:xfrm xmlns:a="http://schemas.openxmlformats.org/drawingml/2006/main">
            <a:off x="400050" y="3838575"/>
            <a:ext cx="5381625"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
            <a:extLst xmlns:a="http://schemas.openxmlformats.org/drawingml/2006/main">
              <a:ext uri="{FF2B5EF4-FFF2-40B4-BE49-F238E27FC236}">
                <a16:creationId xmlns:a16="http://schemas.microsoft.com/office/drawing/2014/main" id="{6E92639D-9DFB-4113-B817-996142A393BB}"/>
              </a:ext>
            </a:extLst>
          </p:cNvPr>
          <p:cNvSpPr>
            <a:spLocks xmlns:a="http://schemas.openxmlformats.org/drawingml/2006/main" noGrp="1"/>
          </p:cNvSpPr>
          <p:nvPr/>
        </p:nvSpPr>
        <p:spPr>
          <a:xfrm xmlns:a="http://schemas.openxmlformats.org/drawingml/2006/main">
            <a:off x="400050" y="410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Cascading</a:t>
            </a:r>
          </a:p>
        </p:txBody>
      </p:sp>
      <p:sp>
        <p:nvSpPr>
          <p:cNvPr id="12" name="">
            <a:extLst xmlns:a="http://schemas.openxmlformats.org/drawingml/2006/main">
              <a:ext uri="{FF2B5EF4-FFF2-40B4-BE49-F238E27FC236}">
                <a16:creationId xmlns:a16="http://schemas.microsoft.com/office/drawing/2014/main" id="{2E86A434-AEE1-429F-82A0-838908E6FC70}"/>
              </a:ext>
            </a:extLst>
          </p:cNvPr>
          <p:cNvSpPr>
            <a:spLocks xmlns:a="http://schemas.openxmlformats.org/drawingml/2006/main" noGrp="1"/>
          </p:cNvSpPr>
          <p:nvPr/>
        </p:nvSpPr>
        <p:spPr>
          <a:xfrm xmlns:a="http://schemas.openxmlformats.org/drawingml/2006/main">
            <a:off x="2352675" y="4114800"/>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contained → propagating compromise</a:t>
            </a:r>
          </a:p>
        </p:txBody>
      </p:sp>
      <p:cxnSp>
        <p:nvCxnSpPr>
          <p:cNvPr id="211" name=""/>
          <p:cNvCxnSpPr/>
          <p:nvPr/>
        </p:nvCxnSpPr>
        <p:spPr>
          <a:xfrm xmlns:a="http://schemas.openxmlformats.org/drawingml/2006/main">
            <a:off x="400050" y="4772025"/>
            <a:ext cx="5381625"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
            <a:extLst xmlns:a="http://schemas.openxmlformats.org/drawingml/2006/main">
              <a:ext uri="{FF2B5EF4-FFF2-40B4-BE49-F238E27FC236}">
                <a16:creationId xmlns:a16="http://schemas.microsoft.com/office/drawing/2014/main" id="{77E83C11-4523-404D-9AA5-534569B319C1}"/>
              </a:ext>
            </a:extLst>
          </p:cNvPr>
          <p:cNvSpPr>
            <a:spLocks xmlns:a="http://schemas.openxmlformats.org/drawingml/2006/main" noGrp="1"/>
          </p:cNvSpPr>
          <p:nvPr/>
        </p:nvSpPr>
        <p:spPr>
          <a:xfrm xmlns:a="http://schemas.openxmlformats.org/drawingml/2006/main">
            <a:off x="400050" y="503872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Composition</a:t>
            </a:r>
          </a:p>
        </p:txBody>
      </p:sp>
      <p:sp>
        <p:nvSpPr>
          <p:cNvPr id="15" name="">
            <a:extLst xmlns:a="http://schemas.openxmlformats.org/drawingml/2006/main">
              <a:ext uri="{FF2B5EF4-FFF2-40B4-BE49-F238E27FC236}">
                <a16:creationId xmlns:a16="http://schemas.microsoft.com/office/drawing/2014/main" id="{C04FE275-7992-4688-B0DE-38C0904BA311}"/>
              </a:ext>
            </a:extLst>
          </p:cNvPr>
          <p:cNvSpPr>
            <a:spLocks xmlns:a="http://schemas.openxmlformats.org/drawingml/2006/main" noGrp="1"/>
          </p:cNvSpPr>
          <p:nvPr/>
        </p:nvSpPr>
        <p:spPr>
          <a:xfrm xmlns:a="http://schemas.openxmlformats.org/drawingml/2006/main">
            <a:off x="2352675" y="5048250"/>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one action → harmless-looking multi-step chain</a:t>
            </a:r>
          </a:p>
        </p:txBody>
      </p:sp>
      <p:cxnSp>
        <p:nvCxnSpPr>
          <p:cNvPr id="214" name=""/>
          <p:cNvCxnSpPr/>
          <p:nvPr/>
        </p:nvCxnSpPr>
        <p:spPr>
          <a:xfrm xmlns:a="http://schemas.openxmlformats.org/drawingml/2006/main">
            <a:off x="400050" y="5705475"/>
            <a:ext cx="5381625"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
            <a:extLst xmlns:a="http://schemas.openxmlformats.org/drawingml/2006/main">
              <a:ext uri="{FF2B5EF4-FFF2-40B4-BE49-F238E27FC236}">
                <a16:creationId xmlns:a16="http://schemas.microsoft.com/office/drawing/2014/main" id="{97536886-8946-4668-862F-F2C3339DC5C1}"/>
              </a:ext>
            </a:extLst>
          </p:cNvPr>
          <p:cNvSpPr>
            <a:spLocks xmlns:a="http://schemas.openxmlformats.org/drawingml/2006/main" noGrp="1"/>
          </p:cNvSpPr>
          <p:nvPr/>
        </p:nvSpPr>
        <p:spPr>
          <a:xfrm xmlns:a="http://schemas.openxmlformats.org/drawingml/2006/main">
            <a:off x="6210300" y="22383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Time horizon</a:t>
            </a:r>
          </a:p>
        </p:txBody>
      </p:sp>
      <p:sp>
        <p:nvSpPr>
          <p:cNvPr id="18" name="">
            <a:extLst xmlns:a="http://schemas.openxmlformats.org/drawingml/2006/main">
              <a:ext uri="{FF2B5EF4-FFF2-40B4-BE49-F238E27FC236}">
                <a16:creationId xmlns:a16="http://schemas.microsoft.com/office/drawing/2014/main" id="{3AA7B2CA-9108-4CFD-A862-542DD5103ACD}"/>
              </a:ext>
            </a:extLst>
          </p:cNvPr>
          <p:cNvSpPr>
            <a:spLocks xmlns:a="http://schemas.openxmlformats.org/drawingml/2006/main" noGrp="1"/>
          </p:cNvSpPr>
          <p:nvPr/>
        </p:nvSpPr>
        <p:spPr>
          <a:xfrm xmlns:a="http://schemas.openxmlformats.org/drawingml/2006/main">
            <a:off x="8162925" y="2247900"/>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one shot → deployment lifetime</a:t>
            </a:r>
          </a:p>
        </p:txBody>
      </p:sp>
      <p:cxnSp>
        <p:nvCxnSpPr>
          <p:cNvPr id="217" name=""/>
          <p:cNvCxnSpPr/>
          <p:nvPr/>
        </p:nvCxnSpPr>
        <p:spPr>
          <a:xfrm xmlns:a="http://schemas.openxmlformats.org/drawingml/2006/main">
            <a:off x="6210300" y="2905125"/>
            <a:ext cx="5381625" cy="0"/>
          </a:xfrm>
          <a:prstGeom xmlns:a="http://schemas.openxmlformats.org/drawingml/2006/main" prst="straightConnector1">
            <a:avLst/>
          </a:prstGeom>
          <a:ln xmlns:a="http://schemas.openxmlformats.org/drawingml/2006/main" w="9525">
            <a:solidFill>
              <a:srgbClr val="B8BCC4"/>
            </a:solidFill>
            <a:prstDash val="solid"/>
          </a:ln>
        </p:spPr>
      </p:cxnSp>
      <p:sp>
        <p:nvSpPr>
          <p:cNvPr id="20" name="">
            <a:extLst xmlns:a="http://schemas.openxmlformats.org/drawingml/2006/main">
              <a:ext uri="{FF2B5EF4-FFF2-40B4-BE49-F238E27FC236}">
                <a16:creationId xmlns:a16="http://schemas.microsoft.com/office/drawing/2014/main" id="{58F9C697-E14C-464E-AF35-6640827948D9}"/>
              </a:ext>
            </a:extLst>
          </p:cNvPr>
          <p:cNvSpPr>
            <a:spLocks xmlns:a="http://schemas.openxmlformats.org/drawingml/2006/main" noGrp="1"/>
          </p:cNvSpPr>
          <p:nvPr/>
        </p:nvSpPr>
        <p:spPr>
          <a:xfrm xmlns:a="http://schemas.openxmlformats.org/drawingml/2006/main">
            <a:off x="6210300" y="317182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Attributability</a:t>
            </a:r>
          </a:p>
        </p:txBody>
      </p:sp>
      <p:sp>
        <p:nvSpPr>
          <p:cNvPr id="21" name="">
            <a:extLst xmlns:a="http://schemas.openxmlformats.org/drawingml/2006/main">
              <a:ext uri="{FF2B5EF4-FFF2-40B4-BE49-F238E27FC236}">
                <a16:creationId xmlns:a16="http://schemas.microsoft.com/office/drawing/2014/main" id="{6C038FBD-DA15-40EB-8BBB-B6793AF2AA10}"/>
              </a:ext>
            </a:extLst>
          </p:cNvPr>
          <p:cNvSpPr>
            <a:spLocks xmlns:a="http://schemas.openxmlformats.org/drawingml/2006/main" noGrp="1"/>
          </p:cNvSpPr>
          <p:nvPr/>
        </p:nvSpPr>
        <p:spPr>
          <a:xfrm xmlns:a="http://schemas.openxmlformats.org/drawingml/2006/main">
            <a:off x="8162925" y="3181350"/>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traceable actor → degraded lineage</a:t>
            </a:r>
          </a:p>
        </p:txBody>
      </p:sp>
      <p:cxnSp>
        <p:nvCxnSpPr>
          <p:cNvPr id="220" name=""/>
          <p:cNvCxnSpPr/>
          <p:nvPr/>
        </p:nvCxnSpPr>
        <p:spPr>
          <a:xfrm xmlns:a="http://schemas.openxmlformats.org/drawingml/2006/main">
            <a:off x="6210300" y="3838575"/>
            <a:ext cx="5381625" cy="0"/>
          </a:xfrm>
          <a:prstGeom xmlns:a="http://schemas.openxmlformats.org/drawingml/2006/main" prst="straightConnector1">
            <a:avLst/>
          </a:prstGeom>
          <a:ln xmlns:a="http://schemas.openxmlformats.org/drawingml/2006/main" w="9525">
            <a:solidFill>
              <a:srgbClr val="B8BCC4"/>
            </a:solidFill>
            <a:prstDash val="solid"/>
          </a:ln>
        </p:spPr>
      </p:cxnSp>
      <p:sp>
        <p:nvSpPr>
          <p:cNvPr id="23" name="">
            <a:extLst xmlns:a="http://schemas.openxmlformats.org/drawingml/2006/main">
              <a:ext uri="{FF2B5EF4-FFF2-40B4-BE49-F238E27FC236}">
                <a16:creationId xmlns:a16="http://schemas.microsoft.com/office/drawing/2014/main" id="{893C0994-C306-4A4F-B1A3-E67CB9636448}"/>
              </a:ext>
            </a:extLst>
          </p:cNvPr>
          <p:cNvSpPr>
            <a:spLocks xmlns:a="http://schemas.openxmlformats.org/drawingml/2006/main" noGrp="1"/>
          </p:cNvSpPr>
          <p:nvPr/>
        </p:nvSpPr>
        <p:spPr>
          <a:xfrm xmlns:a="http://schemas.openxmlformats.org/drawingml/2006/main">
            <a:off x="6210300" y="410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Directness</a:t>
            </a:r>
          </a:p>
        </p:txBody>
      </p:sp>
      <p:sp>
        <p:nvSpPr>
          <p:cNvPr id="24" name="">
            <a:extLst xmlns:a="http://schemas.openxmlformats.org/drawingml/2006/main">
              <a:ext uri="{FF2B5EF4-FFF2-40B4-BE49-F238E27FC236}">
                <a16:creationId xmlns:a16="http://schemas.microsoft.com/office/drawing/2014/main" id="{C6570AA6-5AD7-408A-9559-FE035A8AE49B}"/>
              </a:ext>
            </a:extLst>
          </p:cNvPr>
          <p:cNvSpPr>
            <a:spLocks xmlns:a="http://schemas.openxmlformats.org/drawingml/2006/main" noGrp="1"/>
          </p:cNvSpPr>
          <p:nvPr/>
        </p:nvSpPr>
        <p:spPr>
          <a:xfrm xmlns:a="http://schemas.openxmlformats.org/drawingml/2006/main">
            <a:off x="8162925" y="4114800"/>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explicit attacker → emergent harm</a:t>
            </a:r>
          </a:p>
        </p:txBody>
      </p:sp>
      <p:cxnSp>
        <p:nvCxnSpPr>
          <p:cNvPr id="223" name=""/>
          <p:cNvCxnSpPr/>
          <p:nvPr/>
        </p:nvCxnSpPr>
        <p:spPr>
          <a:xfrm xmlns:a="http://schemas.openxmlformats.org/drawingml/2006/main">
            <a:off x="6210300" y="4772025"/>
            <a:ext cx="5381625" cy="0"/>
          </a:xfrm>
          <a:prstGeom xmlns:a="http://schemas.openxmlformats.org/drawingml/2006/main" prst="straightConnector1">
            <a:avLst/>
          </a:prstGeom>
          <a:ln xmlns:a="http://schemas.openxmlformats.org/drawingml/2006/main" w="9525">
            <a:solidFill>
              <a:srgbClr val="B8BCC4"/>
            </a:solidFill>
            <a:prstDash val="solid"/>
          </a:ln>
        </p:spPr>
      </p:cxnSp>
      <p:sp>
        <p:nvSpPr>
          <p:cNvPr id="26" name="">
            <a:extLst xmlns:a="http://schemas.openxmlformats.org/drawingml/2006/main">
              <a:ext uri="{FF2B5EF4-FFF2-40B4-BE49-F238E27FC236}">
                <a16:creationId xmlns:a16="http://schemas.microsoft.com/office/drawing/2014/main" id="{4622504A-45F0-4DA1-9FBF-264614677840}"/>
              </a:ext>
            </a:extLst>
          </p:cNvPr>
          <p:cNvSpPr>
            <a:spLocks xmlns:a="http://schemas.openxmlformats.org/drawingml/2006/main" noGrp="1"/>
          </p:cNvSpPr>
          <p:nvPr/>
        </p:nvSpPr>
        <p:spPr>
          <a:xfrm xmlns:a="http://schemas.openxmlformats.org/drawingml/2006/main">
            <a:off x="6210300" y="503872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Reversibility</a:t>
            </a:r>
          </a:p>
        </p:txBody>
      </p:sp>
      <p:sp>
        <p:nvSpPr>
          <p:cNvPr id="27" name="">
            <a:extLst xmlns:a="http://schemas.openxmlformats.org/drawingml/2006/main">
              <a:ext uri="{FF2B5EF4-FFF2-40B4-BE49-F238E27FC236}">
                <a16:creationId xmlns:a16="http://schemas.microsoft.com/office/drawing/2014/main" id="{EC7566D9-FFEF-4AC0-8A0C-353EB742DD11}"/>
              </a:ext>
            </a:extLst>
          </p:cNvPr>
          <p:cNvSpPr>
            <a:spLocks xmlns:a="http://schemas.openxmlformats.org/drawingml/2006/main" noGrp="1"/>
          </p:cNvSpPr>
          <p:nvPr/>
        </p:nvSpPr>
        <p:spPr>
          <a:xfrm xmlns:a="http://schemas.openxmlformats.org/drawingml/2006/main">
            <a:off x="8162925" y="5048250"/>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rollback → irreversible consequence</a:t>
            </a:r>
          </a:p>
        </p:txBody>
      </p:sp>
      <p:cxnSp>
        <p:nvCxnSpPr>
          <p:cNvPr id="226" name=""/>
          <p:cNvCxnSpPr/>
          <p:nvPr/>
        </p:nvCxnSpPr>
        <p:spPr>
          <a:xfrm xmlns:a="http://schemas.openxmlformats.org/drawingml/2006/main">
            <a:off x="6210300" y="5705475"/>
            <a:ext cx="5381625" cy="0"/>
          </a:xfrm>
          <a:prstGeom xmlns:a="http://schemas.openxmlformats.org/drawingml/2006/main" prst="straightConnector1">
            <a:avLst/>
          </a:prstGeom>
          <a:ln xmlns:a="http://schemas.openxmlformats.org/drawingml/2006/main" w="9525">
            <a:solidFill>
              <a:srgbClr val="B8BCC4"/>
            </a:solidFill>
            <a:prstDash val="solid"/>
          </a:ln>
        </p:spPr>
      </p:cxnSp>
      <p:sp>
        <p:nvSpPr>
          <p:cNvPr id="29" name="">
            <a:extLst xmlns:a="http://schemas.openxmlformats.org/drawingml/2006/main">
              <a:ext uri="{FF2B5EF4-FFF2-40B4-BE49-F238E27FC236}">
                <a16:creationId xmlns:a16="http://schemas.microsoft.com/office/drawing/2014/main" id="{5111AFF5-A4DF-4748-9178-36D3F5F4F42E}"/>
              </a:ext>
            </a:extLst>
          </p:cNvPr>
          <p:cNvSpPr>
            <a:spLocks xmlns:a="http://schemas.openxmlformats.org/drawingml/2006/main" noGrp="1"/>
          </p:cNvSpPr>
          <p:nvPr/>
        </p:nvSpPr>
        <p:spPr>
          <a:xfrm xmlns:a="http://schemas.openxmlformats.org/drawingml/2006/main">
            <a:off x="400050" y="60674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Design implication</a:t>
            </a:r>
          </a:p>
        </p:txBody>
      </p:sp>
      <p:sp>
        <p:nvSpPr>
          <p:cNvPr id="30" name="">
            <a:extLst xmlns:a="http://schemas.openxmlformats.org/drawingml/2006/main">
              <a:ext uri="{FF2B5EF4-FFF2-40B4-BE49-F238E27FC236}">
                <a16:creationId xmlns:a16="http://schemas.microsoft.com/office/drawing/2014/main" id="{5101A019-9594-44F2-B29F-330A98A7D83E}"/>
              </a:ext>
            </a:extLst>
          </p:cNvPr>
          <p:cNvSpPr>
            <a:spLocks xmlns:a="http://schemas.openxmlformats.org/drawingml/2006/main" noGrp="1"/>
          </p:cNvSpPr>
          <p:nvPr/>
        </p:nvSpPr>
        <p:spPr>
          <a:xfrm xmlns:a="http://schemas.openxmlformats.org/drawingml/2006/main">
            <a:off x="2400300" y="606742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Optimize the worst conditional tail—not the pooled average case.</a:t>
            </a:r>
          </a:p>
        </p:txBody>
      </p:sp>
    </p:spTree>
    <p:extLst>
      <p:ext uri="{BB962C8B-B14F-4D97-AF65-F5344CB8AC3E}">
        <p14:creationId xmlns:p14="http://schemas.microsoft.com/office/powerpoint/2010/main" val="118100183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F5E479-F304-43E0-9DD7-6ECE0BB1B711}"/>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4-title">
            <a:extLst xmlns:a="http://schemas.openxmlformats.org/drawingml/2006/main">
              <a:ext uri="{FF2B5EF4-FFF2-40B4-BE49-F238E27FC236}">
                <a16:creationId xmlns:a16="http://schemas.microsoft.com/office/drawing/2014/main" id="{75D1F63C-9327-4B72-9129-8688169032A5}"/>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Four vectors stress different defense surfaces</a:t>
            </a:r>
          </a:p>
        </p:txBody>
      </p:sp>
      <p:sp>
        <p:nvSpPr>
          <p:cNvPr id="3" name="">
            <a:extLst xmlns:a="http://schemas.openxmlformats.org/drawingml/2006/main">
              <a:ext uri="{FF2B5EF4-FFF2-40B4-BE49-F238E27FC236}">
                <a16:creationId xmlns:a16="http://schemas.microsoft.com/office/drawing/2014/main" id="{C457683D-8C23-4AC2-AA5B-ED38921DB861}"/>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A5BDC0CE-0622-4406-9B4F-98CF1B3429E7}"/>
              </a:ext>
            </a:extLst>
          </p:cNvPr>
          <p:cNvSpPr>
            <a:spLocks xmlns:a="http://schemas.openxmlformats.org/drawingml/2006/main" noGrp="1"/>
          </p:cNvSpPr>
          <p:nvPr/>
        </p:nvSpPr>
        <p:spPr>
          <a:xfrm xmlns:a="http://schemas.openxmlformats.org/drawingml/2006/main">
            <a:off x="400050" y="1543050"/>
            <a:ext cx="5429250" cy="42862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6CD06E-8FC1-495C-9B93-0E6F7A30042C}"/>
              </a:ext>
            </a:extLst>
          </p:cNvPr>
          <p:cNvSpPr>
            <a:spLocks xmlns:a="http://schemas.openxmlformats.org/drawingml/2006/main" noGrp="1"/>
          </p:cNvSpPr>
          <p:nvPr/>
        </p:nvSpPr>
        <p:spPr>
          <a:xfrm xmlns:a="http://schemas.openxmlformats.org/drawingml/2006/main">
            <a:off x="6191250" y="1543050"/>
            <a:ext cx="5600700" cy="4286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4363782-92FE-4FEB-9BA8-546B59559F92}"/>
              </a:ext>
            </a:extLst>
          </p:cNvPr>
          <p:cNvSpPr>
            <a:spLocks xmlns:a="http://schemas.openxmlformats.org/drawingml/2006/main" noGrp="1"/>
          </p:cNvSpPr>
          <p:nvPr/>
        </p:nvSpPr>
        <p:spPr>
          <a:xfrm xmlns:a="http://schemas.openxmlformats.org/drawingml/2006/main">
            <a:off x="685800" y="1857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Coordination channels</a:t>
            </a:r>
          </a:p>
        </p:txBody>
      </p:sp>
      <p:sp>
        <p:nvSpPr>
          <p:cNvPr id="7" name="">
            <a:extLst xmlns:a="http://schemas.openxmlformats.org/drawingml/2006/main">
              <a:ext uri="{FF2B5EF4-FFF2-40B4-BE49-F238E27FC236}">
                <a16:creationId xmlns:a16="http://schemas.microsoft.com/office/drawing/2014/main" id="{57764050-A6DA-4B46-82A2-CAB2EC10E2FA}"/>
              </a:ext>
            </a:extLst>
          </p:cNvPr>
          <p:cNvSpPr>
            <a:spLocks xmlns:a="http://schemas.openxmlformats.org/drawingml/2006/main" noGrp="1"/>
          </p:cNvSpPr>
          <p:nvPr/>
        </p:nvSpPr>
        <p:spPr>
          <a:xfrm xmlns:a="http://schemas.openxmlformats.org/drawingml/2006/main">
            <a:off x="685800" y="2476500"/>
            <a:ext cx="46672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Overt or semantic collusion</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Steganography and distribution matching</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Shared memory, tools, or scratchpads</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Delayed or low-rate signaling</a:t>
            </a:r>
          </a:p>
        </p:txBody>
      </p:sp>
      <p:sp>
        <p:nvSpPr>
          <p:cNvPr id="8" name="">
            <a:extLst xmlns:a="http://schemas.openxmlformats.org/drawingml/2006/main">
              <a:ext uri="{FF2B5EF4-FFF2-40B4-BE49-F238E27FC236}">
                <a16:creationId xmlns:a16="http://schemas.microsoft.com/office/drawing/2014/main" id="{B775A0DB-A5FB-4312-BFF3-AD6BAB917018}"/>
              </a:ext>
            </a:extLst>
          </p:cNvPr>
          <p:cNvSpPr>
            <a:spLocks xmlns:a="http://schemas.openxmlformats.org/drawingml/2006/main" noGrp="1"/>
          </p:cNvSpPr>
          <p:nvPr/>
        </p:nvSpPr>
        <p:spPr>
          <a:xfrm xmlns:a="http://schemas.openxmlformats.org/drawingml/2006/main">
            <a:off x="6496050" y="18573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System-level attacks</a:t>
            </a:r>
          </a:p>
        </p:txBody>
      </p:sp>
      <p:sp>
        <p:nvSpPr>
          <p:cNvPr id="9" name="">
            <a:extLst xmlns:a="http://schemas.openxmlformats.org/drawingml/2006/main">
              <a:ext uri="{FF2B5EF4-FFF2-40B4-BE49-F238E27FC236}">
                <a16:creationId xmlns:a16="http://schemas.microsoft.com/office/drawing/2014/main" id="{E64D6E4E-7DEC-485C-B4D4-00B4FD5E6370}"/>
              </a:ext>
            </a:extLst>
          </p:cNvPr>
          <p:cNvSpPr>
            <a:spLocks xmlns:a="http://schemas.openxmlformats.org/drawingml/2006/main" noGrp="1"/>
          </p:cNvSpPr>
          <p:nvPr/>
        </p:nvSpPr>
        <p:spPr>
          <a:xfrm xmlns:a="http://schemas.openxmlformats.org/drawingml/2006/main">
            <a:off x="6496050" y="2476500"/>
            <a:ext cx="4762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1. Heterogeneous task decomposition</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2. Locally acceptable multi-step workflows</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3. Cascading compromise and irreversible actions</a:t>
            </a:r>
          </a:p>
        </p:txBody>
      </p:sp>
      <p:sp>
        <p:nvSpPr>
          <p:cNvPr id="10" name="">
            <a:extLst xmlns:a="http://schemas.openxmlformats.org/drawingml/2006/main">
              <a:ext uri="{FF2B5EF4-FFF2-40B4-BE49-F238E27FC236}">
                <a16:creationId xmlns:a16="http://schemas.microsoft.com/office/drawing/2014/main" id="{8B5C5AC7-7E09-417E-8BE5-0A3A14555694}"/>
              </a:ext>
            </a:extLst>
          </p:cNvPr>
          <p:cNvSpPr>
            <a:spLocks xmlns:a="http://schemas.openxmlformats.org/drawingml/2006/main" noGrp="1"/>
          </p:cNvSpPr>
          <p:nvPr/>
        </p:nvSpPr>
        <p:spPr>
          <a:xfrm xmlns:a="http://schemas.openxmlformats.org/drawingml/2006/main">
            <a:off x="400050" y="60198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A63434"/>
                </a:solidFill>
                <a:latin typeface="Helvetica Neue"/>
                <a:ea typeface="Helvetica Neue"/>
                <a:cs typeface="Helvetica Neue"/>
              </a:defRPr>
            </a:pPr>
            <a:r>
              <a:rPr sz="1500" b="1">
                <a:solidFill>
                  <a:srgbClr val="A63434"/>
                </a:solidFill>
                <a:latin typeface="Helvetica Neue"/>
                <a:ea typeface="Helvetica Neue"/>
                <a:cs typeface="Helvetica Neue"/>
              </a:rPr>
              <a:t>Section 3.3 axes cut across every vector: detectability, locality, cascade, composition, horizon, attribution, directness, and reversibility.</a:t>
            </a:r>
          </a:p>
        </p:txBody>
      </p:sp>
    </p:spTree>
    <p:extLst>
      <p:ext uri="{BB962C8B-B14F-4D97-AF65-F5344CB8AC3E}">
        <p14:creationId xmlns:p14="http://schemas.microsoft.com/office/powerpoint/2010/main" val="1816091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70F7A3-7436-4E02-AB4F-707AF45DF6C1}"/>
              </a:ext>
            </a:extLst>
          </p:cNvPr>
          <p:cNvSpPr>
            <a:spLocks xmlns:a="http://schemas.openxmlformats.org/drawingml/2006/main" noGrp="1"/>
          </p:cNvSpPr>
          <p:nvPr/>
        </p:nvSpPr>
        <p:spPr>
          <a:xfrm xmlns:a="http://schemas.openxmlformats.org/drawingml/2006/main">
            <a:off x="400050" y="3619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D636D"/>
                </a:solidFill>
                <a:latin typeface="Helvetica Neue"/>
                <a:ea typeface="Helvetica Neue"/>
                <a:cs typeface="Helvetica Neue"/>
              </a:defRPr>
            </a:pPr>
            <a:r>
              <a:rPr sz="1350" b="1">
                <a:solidFill>
                  <a:srgbClr val="5D636D"/>
                </a:solidFill>
                <a:latin typeface="Helvetica Neue"/>
                <a:ea typeface="Helvetica Neue"/>
                <a:cs typeface="Helvetica Neue"/>
              </a:rPr>
              <a:t>SECTION 3</a:t>
            </a:r>
          </a:p>
        </p:txBody>
      </p:sp>
      <p:sp>
        <p:nvSpPr>
          <p:cNvPr id="2" name="">
            <a:extLst xmlns:a="http://schemas.openxmlformats.org/drawingml/2006/main">
              <a:ext uri="{FF2B5EF4-FFF2-40B4-BE49-F238E27FC236}">
                <a16:creationId xmlns:a16="http://schemas.microsoft.com/office/drawing/2014/main" id="{0B9CB11F-AFF6-4F03-AF0C-53CAADA4A84E}"/>
              </a:ext>
            </a:extLst>
          </p:cNvPr>
          <p:cNvSpPr>
            <a:spLocks xmlns:a="http://schemas.openxmlformats.org/drawingml/2006/main" noGrp="1"/>
          </p:cNvSpPr>
          <p:nvPr/>
        </p:nvSpPr>
        <p:spPr>
          <a:xfrm xmlns:a="http://schemas.openxmlformats.org/drawingml/2006/main">
            <a:off x="400050" y="1695450"/>
            <a:ext cx="8858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Proposed Defense</a:t>
            </a:r>
          </a:p>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Optimization</a:t>
            </a:r>
          </a:p>
        </p:txBody>
      </p:sp>
      <p:sp>
        <p:nvSpPr>
          <p:cNvPr id="3" name="">
            <a:extLst xmlns:a="http://schemas.openxmlformats.org/drawingml/2006/main">
              <a:ext uri="{FF2B5EF4-FFF2-40B4-BE49-F238E27FC236}">
                <a16:creationId xmlns:a16="http://schemas.microsoft.com/office/drawing/2014/main" id="{0DD7CF6D-5836-450F-A996-9E5E96610667}"/>
              </a:ext>
            </a:extLst>
          </p:cNvPr>
          <p:cNvSpPr>
            <a:spLocks xmlns:a="http://schemas.openxmlformats.org/drawingml/2006/main" noGrp="1"/>
          </p:cNvSpPr>
          <p:nvPr/>
        </p:nvSpPr>
        <p:spPr>
          <a:xfrm xmlns:a="http://schemas.openxmlformats.org/drawingml/2006/main">
            <a:off x="400050" y="4305300"/>
            <a:ext cx="7810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0">
                <a:solidFill>
                  <a:srgbClr val="5D636D"/>
                </a:solidFill>
                <a:latin typeface="Helvetica Neue"/>
                <a:ea typeface="Helvetica Neue"/>
                <a:cs typeface="Helvetica Neue"/>
              </a:defRPr>
            </a:pPr>
            <a:r>
              <a:rPr sz="2100" b="0">
                <a:solidFill>
                  <a:srgbClr val="5D636D"/>
                </a:solidFill>
                <a:latin typeface="Helvetica Neue"/>
                <a:ea typeface="Helvetica Neue"/>
                <a:cs typeface="Helvetica Neue"/>
              </a:rPr>
              <a:t>Select mechanism-diverse stacks by worst-cell tail risk under utility and latency constraints</a:t>
            </a:r>
          </a:p>
        </p:txBody>
      </p:sp>
      <p:sp>
        <p:nvSpPr>
          <p:cNvPr id="4" name="">
            <a:extLst xmlns:a="http://schemas.openxmlformats.org/drawingml/2006/main">
              <a:ext uri="{FF2B5EF4-FFF2-40B4-BE49-F238E27FC236}">
                <a16:creationId xmlns:a16="http://schemas.microsoft.com/office/drawing/2014/main" id="{07BCBD0C-57C1-44D1-BE35-FFC2818F58CB}"/>
              </a:ext>
            </a:extLst>
          </p:cNvPr>
          <p:cNvSpPr>
            <a:spLocks xmlns:a="http://schemas.openxmlformats.org/drawingml/2006/main" noGrp="1"/>
          </p:cNvSpPr>
          <p:nvPr/>
        </p:nvSpPr>
        <p:spPr>
          <a:xfrm xmlns:a="http://schemas.openxmlformats.org/drawingml/2006/main">
            <a:off x="9620250" y="876300"/>
            <a:ext cx="1809750" cy="4762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A949E6-9A66-4F1B-A102-0AEA175229F1}"/>
              </a:ext>
            </a:extLst>
          </p:cNvPr>
          <p:cNvSpPr>
            <a:spLocks xmlns:a="http://schemas.openxmlformats.org/drawingml/2006/main" noGrp="1"/>
          </p:cNvSpPr>
          <p:nvPr/>
        </p:nvSpPr>
        <p:spPr>
          <a:xfrm xmlns:a="http://schemas.openxmlformats.org/drawingml/2006/main">
            <a:off x="10096500" y="1352550"/>
            <a:ext cx="857250" cy="3810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47FDE2-12EE-41B9-8087-00AA0962E695}"/>
              </a:ext>
            </a:extLst>
          </p:cNvPr>
          <p:cNvSpPr>
            <a:spLocks xmlns:a="http://schemas.openxmlformats.org/drawingml/2006/main" noGrp="1"/>
          </p:cNvSpPr>
          <p:nvPr/>
        </p:nvSpPr>
        <p:spPr>
          <a:xfrm xmlns:a="http://schemas.openxmlformats.org/drawingml/2006/main">
            <a:off x="400050" y="582930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03 / PROPOSAL</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From average-case scores</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to tail-robust stacks</a:t>
            </a:r>
          </a:p>
        </p:txBody>
      </p:sp>
    </p:spTree>
    <p:extLst>
      <p:ext uri="{BB962C8B-B14F-4D97-AF65-F5344CB8AC3E}">
        <p14:creationId xmlns:p14="http://schemas.microsoft.com/office/powerpoint/2010/main" val="31650899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4848647-FB61-4778-9EC2-3A58A81DFCD3}"/>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3-title">
            <a:extLst xmlns:a="http://schemas.openxmlformats.org/drawingml/2006/main">
              <a:ext uri="{FF2B5EF4-FFF2-40B4-BE49-F238E27FC236}">
                <a16:creationId xmlns:a16="http://schemas.microsoft.com/office/drawing/2014/main" id="{80917119-A4B0-4A44-B08A-E16727614702}"/>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Tail selection meets failure-mechanism diversity</a:t>
            </a:r>
          </a:p>
        </p:txBody>
      </p:sp>
      <p:sp>
        <p:nvSpPr>
          <p:cNvPr id="3" name="">
            <a:extLst xmlns:a="http://schemas.openxmlformats.org/drawingml/2006/main">
              <a:ext uri="{FF2B5EF4-FFF2-40B4-BE49-F238E27FC236}">
                <a16:creationId xmlns:a16="http://schemas.microsoft.com/office/drawing/2014/main" id="{BEDE2EBA-D36D-49AB-8187-2FDB10017724}"/>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DCF1168C-9623-4937-A5F9-695B64D72F98}"/>
              </a:ext>
            </a:extLst>
          </p:cNvPr>
          <p:cNvSpPr>
            <a:spLocks xmlns:a="http://schemas.openxmlformats.org/drawingml/2006/main" noGrp="1"/>
          </p:cNvSpPr>
          <p:nvPr/>
        </p:nvSpPr>
        <p:spPr>
          <a:xfrm xmlns:a="http://schemas.openxmlformats.org/drawingml/2006/main">
            <a:off x="400050" y="1524000"/>
            <a:ext cx="11391900" cy="14287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C293257-CBDE-47AB-AF4B-960321F12C27}"/>
              </a:ext>
            </a:extLst>
          </p:cNvPr>
          <p:cNvSpPr>
            <a:spLocks xmlns:a="http://schemas.openxmlformats.org/drawingml/2006/main" noGrp="1"/>
          </p:cNvSpPr>
          <p:nvPr/>
        </p:nvSpPr>
        <p:spPr>
          <a:xfrm xmlns:a="http://schemas.openxmlformats.org/drawingml/2006/main">
            <a:off x="704850" y="1838325"/>
            <a:ext cx="1076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π* = arg minπ  maxg  UCB[CVaR0.10(Z | g, BR(π,g))]</a:t>
            </a:r>
          </a:p>
        </p:txBody>
      </p:sp>
      <p:sp>
        <p:nvSpPr>
          <p:cNvPr id="6" name="">
            <a:extLst xmlns:a="http://schemas.openxmlformats.org/drawingml/2006/main">
              <a:ext uri="{FF2B5EF4-FFF2-40B4-BE49-F238E27FC236}">
                <a16:creationId xmlns:a16="http://schemas.microsoft.com/office/drawing/2014/main" id="{F407BEC2-BC3B-478F-A276-D0E9C5EFEAA9}"/>
              </a:ext>
            </a:extLst>
          </p:cNvPr>
          <p:cNvSpPr>
            <a:spLocks xmlns:a="http://schemas.openxmlformats.org/drawingml/2006/main" noGrp="1"/>
          </p:cNvSpPr>
          <p:nvPr/>
        </p:nvSpPr>
        <p:spPr>
          <a:xfrm xmlns:a="http://schemas.openxmlformats.org/drawingml/2006/main">
            <a:off x="1714500" y="245745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subject to utility, false-alarm, and latency constraints</a:t>
            </a:r>
          </a:p>
        </p:txBody>
      </p:sp>
      <p:sp>
        <p:nvSpPr>
          <p:cNvPr id="7" name="">
            <a:extLst xmlns:a="http://schemas.openxmlformats.org/drawingml/2006/main">
              <a:ext uri="{FF2B5EF4-FFF2-40B4-BE49-F238E27FC236}">
                <a16:creationId xmlns:a16="http://schemas.microsoft.com/office/drawing/2014/main" id="{2253CCCC-5864-40E5-8EAC-3BA32BDB17E3}"/>
              </a:ext>
            </a:extLst>
          </p:cNvPr>
          <p:cNvSpPr>
            <a:spLocks xmlns:a="http://schemas.openxmlformats.org/drawingml/2006/main" noGrp="1"/>
          </p:cNvSpPr>
          <p:nvPr/>
        </p:nvSpPr>
        <p:spPr>
          <a:xfrm xmlns:a="http://schemas.openxmlformats.org/drawingml/2006/main">
            <a:off x="400050" y="3333750"/>
            <a:ext cx="3476625" cy="233362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E03F6CD-9259-4F54-812A-FFB39B485E15}"/>
              </a:ext>
            </a:extLst>
          </p:cNvPr>
          <p:cNvSpPr>
            <a:spLocks xmlns:a="http://schemas.openxmlformats.org/drawingml/2006/main" noGrp="1"/>
          </p:cNvSpPr>
          <p:nvPr/>
        </p:nvSpPr>
        <p:spPr>
          <a:xfrm xmlns:a="http://schemas.openxmlformats.org/drawingml/2006/main">
            <a:off x="400050" y="3333750"/>
            <a:ext cx="95250" cy="2333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06367CB-2A30-4606-B8AC-85ADF02EDC0D}"/>
              </a:ext>
            </a:extLst>
          </p:cNvPr>
          <p:cNvSpPr>
            <a:spLocks xmlns:a="http://schemas.openxmlformats.org/drawingml/2006/main" noGrp="1"/>
          </p:cNvSpPr>
          <p:nvPr/>
        </p:nvSpPr>
        <p:spPr>
          <a:xfrm xmlns:a="http://schemas.openxmlformats.org/drawingml/2006/main">
            <a:off x="666750" y="3600450"/>
            <a:ext cx="30384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Tail</a:t>
            </a:r>
          </a:p>
        </p:txBody>
      </p:sp>
      <p:sp>
        <p:nvSpPr>
          <p:cNvPr id="10" name="">
            <a:extLst xmlns:a="http://schemas.openxmlformats.org/drawingml/2006/main">
              <a:ext uri="{FF2B5EF4-FFF2-40B4-BE49-F238E27FC236}">
                <a16:creationId xmlns:a16="http://schemas.microsoft.com/office/drawing/2014/main" id="{5F2A1A58-4A26-45BB-9CDC-3E248A55CE60}"/>
              </a:ext>
            </a:extLst>
          </p:cNvPr>
          <p:cNvSpPr>
            <a:spLocks xmlns:a="http://schemas.openxmlformats.org/drawingml/2006/main" noGrp="1"/>
          </p:cNvSpPr>
          <p:nvPr/>
        </p:nvSpPr>
        <p:spPr>
          <a:xfrm xmlns:a="http://schemas.openxmlformats.org/drawingml/2006/main">
            <a:off x="666750" y="4457700"/>
            <a:ext cx="30384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Selection targets rare severe trajectories inside each attack cell—not merely cell means.</a:t>
            </a:r>
          </a:p>
        </p:txBody>
      </p:sp>
      <p:sp>
        <p:nvSpPr>
          <p:cNvPr id="11" name="">
            <a:extLst xmlns:a="http://schemas.openxmlformats.org/drawingml/2006/main">
              <a:ext uri="{FF2B5EF4-FFF2-40B4-BE49-F238E27FC236}">
                <a16:creationId xmlns:a16="http://schemas.microsoft.com/office/drawing/2014/main" id="{6903C398-AF4E-4E84-AF78-E2A7AC6BC217}"/>
              </a:ext>
            </a:extLst>
          </p:cNvPr>
          <p:cNvSpPr>
            <a:spLocks xmlns:a="http://schemas.openxmlformats.org/drawingml/2006/main" noGrp="1"/>
          </p:cNvSpPr>
          <p:nvPr/>
        </p:nvSpPr>
        <p:spPr>
          <a:xfrm xmlns:a="http://schemas.openxmlformats.org/drawingml/2006/main">
            <a:off x="4352925" y="3333750"/>
            <a:ext cx="3476625" cy="233362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46A2609-3DE1-431B-BF03-DD80BE047084}"/>
              </a:ext>
            </a:extLst>
          </p:cNvPr>
          <p:cNvSpPr>
            <a:spLocks xmlns:a="http://schemas.openxmlformats.org/drawingml/2006/main" noGrp="1"/>
          </p:cNvSpPr>
          <p:nvPr/>
        </p:nvSpPr>
        <p:spPr>
          <a:xfrm xmlns:a="http://schemas.openxmlformats.org/drawingml/2006/main">
            <a:off x="4352925" y="3333750"/>
            <a:ext cx="95250" cy="2333625"/>
          </a:xfrm>
          <a:prstGeom xmlns:a="http://schemas.openxmlformats.org/drawingml/2006/main" prst="rect">
            <a:avLst/>
          </a:prstGeom>
          <a:solidFill xmlns:a="http://schemas.openxmlformats.org/drawingml/2006/main">
            <a:srgbClr val="20704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F560E2F-A6B1-4608-941A-6893980456F0}"/>
              </a:ext>
            </a:extLst>
          </p:cNvPr>
          <p:cNvSpPr>
            <a:spLocks xmlns:a="http://schemas.openxmlformats.org/drawingml/2006/main" noGrp="1"/>
          </p:cNvSpPr>
          <p:nvPr/>
        </p:nvSpPr>
        <p:spPr>
          <a:xfrm xmlns:a="http://schemas.openxmlformats.org/drawingml/2006/main">
            <a:off x="4619625" y="3600450"/>
            <a:ext cx="30384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20704A"/>
                </a:solidFill>
                <a:latin typeface="Helvetica Neue"/>
                <a:ea typeface="Helvetica Neue"/>
                <a:cs typeface="Helvetica Neue"/>
              </a:defRPr>
            </a:pPr>
            <a:r>
              <a:rPr sz="3150" b="1">
                <a:solidFill>
                  <a:srgbClr val="20704A"/>
                </a:solidFill>
                <a:latin typeface="Helvetica Neue"/>
                <a:ea typeface="Helvetica Neue"/>
                <a:cs typeface="Helvetica Neue"/>
              </a:rPr>
              <a:t>Γ</a:t>
            </a:r>
          </a:p>
        </p:txBody>
      </p:sp>
      <p:sp>
        <p:nvSpPr>
          <p:cNvPr id="14" name="">
            <a:extLst xmlns:a="http://schemas.openxmlformats.org/drawingml/2006/main">
              <a:ext uri="{FF2B5EF4-FFF2-40B4-BE49-F238E27FC236}">
                <a16:creationId xmlns:a16="http://schemas.microsoft.com/office/drawing/2014/main" id="{37865616-D563-457C-9700-054E969AD9E0}"/>
              </a:ext>
            </a:extLst>
          </p:cNvPr>
          <p:cNvSpPr>
            <a:spLocks xmlns:a="http://schemas.openxmlformats.org/drawingml/2006/main" noGrp="1"/>
          </p:cNvSpPr>
          <p:nvPr/>
        </p:nvSpPr>
        <p:spPr>
          <a:xfrm xmlns:a="http://schemas.openxmlformats.org/drawingml/2006/main">
            <a:off x="4619625" y="4457700"/>
            <a:ext cx="30384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Matched singleton forks measure whether defense layers share the same failure set.</a:t>
            </a:r>
          </a:p>
        </p:txBody>
      </p:sp>
      <p:sp>
        <p:nvSpPr>
          <p:cNvPr id="15" name="">
            <a:extLst xmlns:a="http://schemas.openxmlformats.org/drawingml/2006/main">
              <a:ext uri="{FF2B5EF4-FFF2-40B4-BE49-F238E27FC236}">
                <a16:creationId xmlns:a16="http://schemas.microsoft.com/office/drawing/2014/main" id="{FCA349C8-526C-4964-A919-DAC5F0F71567}"/>
              </a:ext>
            </a:extLst>
          </p:cNvPr>
          <p:cNvSpPr>
            <a:spLocks xmlns:a="http://schemas.openxmlformats.org/drawingml/2006/main" noGrp="1"/>
          </p:cNvSpPr>
          <p:nvPr/>
        </p:nvSpPr>
        <p:spPr>
          <a:xfrm xmlns:a="http://schemas.openxmlformats.org/drawingml/2006/main">
            <a:off x="8305800" y="3333750"/>
            <a:ext cx="3486150" cy="233362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26B66CD-D7BD-4129-A76E-BBF01D8173C3}"/>
              </a:ext>
            </a:extLst>
          </p:cNvPr>
          <p:cNvSpPr>
            <a:spLocks xmlns:a="http://schemas.openxmlformats.org/drawingml/2006/main" noGrp="1"/>
          </p:cNvSpPr>
          <p:nvPr/>
        </p:nvSpPr>
        <p:spPr>
          <a:xfrm xmlns:a="http://schemas.openxmlformats.org/drawingml/2006/main">
            <a:off x="8305800" y="3333750"/>
            <a:ext cx="95250" cy="2333625"/>
          </a:xfrm>
          <a:prstGeom xmlns:a="http://schemas.openxmlformats.org/drawingml/2006/main" prst="rect">
            <a:avLst/>
          </a:prstGeom>
          <a:solidFill xmlns:a="http://schemas.openxmlformats.org/drawingml/2006/main">
            <a:srgbClr val="C86B2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CA5DCE2-6E7A-46D1-AC6D-8960A1A5C35D}"/>
              </a:ext>
            </a:extLst>
          </p:cNvPr>
          <p:cNvSpPr>
            <a:spLocks xmlns:a="http://schemas.openxmlformats.org/drawingml/2006/main" noGrp="1"/>
          </p:cNvSpPr>
          <p:nvPr/>
        </p:nvSpPr>
        <p:spPr>
          <a:xfrm xmlns:a="http://schemas.openxmlformats.org/drawingml/2006/main">
            <a:off x="8572500" y="3600450"/>
            <a:ext cx="304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C86B20"/>
                </a:solidFill>
                <a:latin typeface="Helvetica Neue"/>
                <a:ea typeface="Helvetica Neue"/>
                <a:cs typeface="Helvetica Neue"/>
              </a:defRPr>
            </a:pPr>
            <a:r>
              <a:rPr sz="3150" b="1">
                <a:solidFill>
                  <a:srgbClr val="C86B20"/>
                </a:solidFill>
                <a:latin typeface="Helvetica Neue"/>
                <a:ea typeface="Helvetica Neue"/>
                <a:cs typeface="Helvetica Neue"/>
              </a:rPr>
              <a:t>BR(π,g)</a:t>
            </a:r>
          </a:p>
        </p:txBody>
      </p:sp>
      <p:sp>
        <p:nvSpPr>
          <p:cNvPr id="18" name="">
            <a:extLst xmlns:a="http://schemas.openxmlformats.org/drawingml/2006/main">
              <a:ext uri="{FF2B5EF4-FFF2-40B4-BE49-F238E27FC236}">
                <a16:creationId xmlns:a16="http://schemas.microsoft.com/office/drawing/2014/main" id="{ECA3C488-3D18-4BBE-BBF0-7AF9005A8316}"/>
              </a:ext>
            </a:extLst>
          </p:cNvPr>
          <p:cNvSpPr>
            <a:spLocks xmlns:a="http://schemas.openxmlformats.org/drawingml/2006/main" noGrp="1"/>
          </p:cNvSpPr>
          <p:nvPr/>
        </p:nvSpPr>
        <p:spPr>
          <a:xfrm xmlns:a="http://schemas.openxmlformats.org/drawingml/2006/main">
            <a:off x="8572500" y="4457700"/>
            <a:ext cx="304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The attacker is re-optimized against each deployed stack under an equal budget.</a:t>
            </a:r>
          </a:p>
        </p:txBody>
      </p:sp>
      <p:sp>
        <p:nvSpPr>
          <p:cNvPr id="19" name="">
            <a:extLst xmlns:a="http://schemas.openxmlformats.org/drawingml/2006/main">
              <a:ext uri="{FF2B5EF4-FFF2-40B4-BE49-F238E27FC236}">
                <a16:creationId xmlns:a16="http://schemas.microsoft.com/office/drawing/2014/main" id="{376FC88A-3A68-4EDD-97E8-83662CDB3BA0}"/>
              </a:ext>
            </a:extLst>
          </p:cNvPr>
          <p:cNvSpPr>
            <a:spLocks xmlns:a="http://schemas.openxmlformats.org/drawingml/2006/main" noGrp="1"/>
          </p:cNvSpPr>
          <p:nvPr/>
        </p:nvSpPr>
        <p:spPr>
          <a:xfrm xmlns:a="http://schemas.openxmlformats.org/drawingml/2006/main">
            <a:off x="400050" y="5953125"/>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Distinctive prediction: validation failure geometry predicts adaptive held-out stack gain.</a:t>
            </a:r>
          </a:p>
        </p:txBody>
      </p:sp>
    </p:spTree>
    <p:extLst>
      <p:ext uri="{BB962C8B-B14F-4D97-AF65-F5344CB8AC3E}">
        <p14:creationId xmlns:p14="http://schemas.microsoft.com/office/powerpoint/2010/main" val="12638531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F5E479-F304-43E0-9DD7-6ECE0BB1B711}"/>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4-title">
            <a:extLst xmlns:a="http://schemas.openxmlformats.org/drawingml/2006/main">
              <a:ext uri="{FF2B5EF4-FFF2-40B4-BE49-F238E27FC236}">
                <a16:creationId xmlns:a16="http://schemas.microsoft.com/office/drawing/2014/main" id="{75D1F63C-9327-4B72-9129-8688169032A5}"/>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The testable novelty is common-mode geometry</a:t>
            </a:r>
          </a:p>
        </p:txBody>
      </p:sp>
      <p:sp>
        <p:nvSpPr>
          <p:cNvPr id="3" name="">
            <a:extLst xmlns:a="http://schemas.openxmlformats.org/drawingml/2006/main">
              <a:ext uri="{FF2B5EF4-FFF2-40B4-BE49-F238E27FC236}">
                <a16:creationId xmlns:a16="http://schemas.microsoft.com/office/drawing/2014/main" id="{C457683D-8C23-4AC2-AA5B-ED38921DB861}"/>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A5BDC0CE-0622-4406-9B4F-98CF1B3429E7}"/>
              </a:ext>
            </a:extLst>
          </p:cNvPr>
          <p:cNvSpPr>
            <a:spLocks xmlns:a="http://schemas.openxmlformats.org/drawingml/2006/main" noGrp="1"/>
          </p:cNvSpPr>
          <p:nvPr/>
        </p:nvSpPr>
        <p:spPr>
          <a:xfrm xmlns:a="http://schemas.openxmlformats.org/drawingml/2006/main">
            <a:off x="400050" y="1543050"/>
            <a:ext cx="5429250" cy="42862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6CD06E-8FC1-495C-9B93-0E6F7A30042C}"/>
              </a:ext>
            </a:extLst>
          </p:cNvPr>
          <p:cNvSpPr>
            <a:spLocks xmlns:a="http://schemas.openxmlformats.org/drawingml/2006/main" noGrp="1"/>
          </p:cNvSpPr>
          <p:nvPr/>
        </p:nvSpPr>
        <p:spPr>
          <a:xfrm xmlns:a="http://schemas.openxmlformats.org/drawingml/2006/main">
            <a:off x="6191250" y="1543050"/>
            <a:ext cx="5600700" cy="4286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4363782-92FE-4FEB-9BA8-546B59559F92}"/>
              </a:ext>
            </a:extLst>
          </p:cNvPr>
          <p:cNvSpPr>
            <a:spLocks xmlns:a="http://schemas.openxmlformats.org/drawingml/2006/main" noGrp="1"/>
          </p:cNvSpPr>
          <p:nvPr/>
        </p:nvSpPr>
        <p:spPr>
          <a:xfrm xmlns:a="http://schemas.openxmlformats.org/drawingml/2006/main">
            <a:off x="685800" y="1857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Established machinery</a:t>
            </a:r>
          </a:p>
        </p:txBody>
      </p:sp>
      <p:sp>
        <p:nvSpPr>
          <p:cNvPr id="7" name="">
            <a:extLst xmlns:a="http://schemas.openxmlformats.org/drawingml/2006/main">
              <a:ext uri="{FF2B5EF4-FFF2-40B4-BE49-F238E27FC236}">
                <a16:creationId xmlns:a16="http://schemas.microsoft.com/office/drawing/2014/main" id="{57764050-A6DA-4B46-82A2-CAB2EC10E2FA}"/>
              </a:ext>
            </a:extLst>
          </p:cNvPr>
          <p:cNvSpPr>
            <a:spLocks xmlns:a="http://schemas.openxmlformats.org/drawingml/2006/main" noGrp="1"/>
          </p:cNvSpPr>
          <p:nvPr/>
        </p:nvSpPr>
        <p:spPr>
          <a:xfrm xmlns:a="http://schemas.openxmlformats.org/drawingml/2006/main">
            <a:off x="685800" y="2476500"/>
            <a:ext cx="46672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CVaR / expected shortfall</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Worst-group or distributionally robust selection</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Confidence bounds and multiplicity control</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Anytime-valid sequential evidence</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Utility-constrained optimization</a:t>
            </a:r>
          </a:p>
        </p:txBody>
      </p:sp>
      <p:sp>
        <p:nvSpPr>
          <p:cNvPr id="8" name="">
            <a:extLst xmlns:a="http://schemas.openxmlformats.org/drawingml/2006/main">
              <a:ext uri="{FF2B5EF4-FFF2-40B4-BE49-F238E27FC236}">
                <a16:creationId xmlns:a16="http://schemas.microsoft.com/office/drawing/2014/main" id="{B775A0DB-A5FB-4312-BFF3-AD6BAB917018}"/>
              </a:ext>
            </a:extLst>
          </p:cNvPr>
          <p:cNvSpPr>
            <a:spLocks xmlns:a="http://schemas.openxmlformats.org/drawingml/2006/main" noGrp="1"/>
          </p:cNvSpPr>
          <p:nvPr/>
        </p:nvSpPr>
        <p:spPr>
          <a:xfrm xmlns:a="http://schemas.openxmlformats.org/drawingml/2006/main">
            <a:off x="6496050" y="18573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New hypotheses to falsify</a:t>
            </a:r>
          </a:p>
        </p:txBody>
      </p:sp>
      <p:sp>
        <p:nvSpPr>
          <p:cNvPr id="9" name="">
            <a:extLst xmlns:a="http://schemas.openxmlformats.org/drawingml/2006/main">
              <a:ext uri="{FF2B5EF4-FFF2-40B4-BE49-F238E27FC236}">
                <a16:creationId xmlns:a16="http://schemas.microsoft.com/office/drawing/2014/main" id="{E64D6E4E-7DEC-485C-B4D4-00B4FD5E6370}"/>
              </a:ext>
            </a:extLst>
          </p:cNvPr>
          <p:cNvSpPr>
            <a:spLocks xmlns:a="http://schemas.openxmlformats.org/drawingml/2006/main" noGrp="1"/>
          </p:cNvSpPr>
          <p:nvPr/>
        </p:nvSpPr>
        <p:spPr>
          <a:xfrm xmlns:a="http://schemas.openxmlformats.org/drawingml/2006/main">
            <a:off x="6496050" y="2476500"/>
            <a:ext cx="4762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1. Fixed-panel layer failures are complementary.</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2. Complementarity survives stack-aware adaptation.</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3. Validation Γ predicts held-out realized gain beyond component quality and cost.</a:t>
            </a:r>
          </a:p>
        </p:txBody>
      </p:sp>
      <p:sp>
        <p:nvSpPr>
          <p:cNvPr id="10" name="">
            <a:extLst xmlns:a="http://schemas.openxmlformats.org/drawingml/2006/main">
              <a:ext uri="{FF2B5EF4-FFF2-40B4-BE49-F238E27FC236}">
                <a16:creationId xmlns:a16="http://schemas.microsoft.com/office/drawing/2014/main" id="{8B5C5AC7-7E09-417E-8BE5-0A3A14555694}"/>
              </a:ext>
            </a:extLst>
          </p:cNvPr>
          <p:cNvSpPr>
            <a:spLocks xmlns:a="http://schemas.openxmlformats.org/drawingml/2006/main" noGrp="1"/>
          </p:cNvSpPr>
          <p:nvPr/>
        </p:nvSpPr>
        <p:spPr>
          <a:xfrm xmlns:a="http://schemas.openxmlformats.org/drawingml/2006/main">
            <a:off x="400050" y="60198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A63434"/>
                </a:solidFill>
                <a:latin typeface="Helvetica Neue"/>
                <a:ea typeface="Helvetica Neue"/>
                <a:cs typeface="Helvetica Neue"/>
              </a:defRPr>
            </a:pPr>
            <a:r>
              <a:rPr sz="1500" b="1">
                <a:solidFill>
                  <a:srgbClr val="A63434"/>
                </a:solidFill>
                <a:latin typeface="Helvetica Neue"/>
                <a:ea typeface="Helvetica Neue"/>
                <a:cs typeface="Helvetica Neue"/>
              </a:rPr>
              <a:t>No universal claim: success is bounded by the registered models, channels, tools, and attacker budget.</a:t>
            </a:r>
          </a:p>
        </p:txBody>
      </p:sp>
    </p:spTree>
    <p:extLst>
      <p:ext uri="{BB962C8B-B14F-4D97-AF65-F5344CB8AC3E}">
        <p14:creationId xmlns:p14="http://schemas.microsoft.com/office/powerpoint/2010/main" val="18160911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40C0637-2900-4AC7-8115-15880B65833E}"/>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5-title">
            <a:extLst xmlns:a="http://schemas.openxmlformats.org/drawingml/2006/main">
              <a:ext uri="{FF2B5EF4-FFF2-40B4-BE49-F238E27FC236}">
                <a16:creationId xmlns:a16="http://schemas.microsoft.com/office/drawing/2014/main" id="{441AD398-7AE6-4EEA-9B80-FD3B60A02616}"/>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One harness separates five scientific tests</a:t>
            </a:r>
          </a:p>
        </p:txBody>
      </p:sp>
      <p:sp>
        <p:nvSpPr>
          <p:cNvPr id="3" name="">
            <a:extLst xmlns:a="http://schemas.openxmlformats.org/drawingml/2006/main">
              <a:ext uri="{FF2B5EF4-FFF2-40B4-BE49-F238E27FC236}">
                <a16:creationId xmlns:a16="http://schemas.microsoft.com/office/drawing/2014/main" id="{8CD8FA7F-9A2D-4011-9DBB-172F8588C881}"/>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10</a:t>
            </a:r>
          </a:p>
        </p:txBody>
      </p:sp>
      <p:cxnSp>
        <p:nvCxnSpPr>
          <p:cNvPr id="54" name=""/>
          <p:cNvCxnSpPr/>
          <p:nvPr/>
        </p:nvCxnSpPr>
        <p:spPr>
          <a:xfrm xmlns:a="http://schemas.openxmlformats.org/drawingml/2006/main">
            <a:off x="809625" y="3286125"/>
            <a:ext cx="10287000" cy="0"/>
          </a:xfrm>
          <a:prstGeom xmlns:a="http://schemas.openxmlformats.org/drawingml/2006/main" prst="straightConnector1">
            <a:avLst/>
          </a:prstGeom>
          <a:ln xmlns:a="http://schemas.openxmlformats.org/drawingml/2006/main" w="19050">
            <a:solidFill>
              <a:srgbClr val="000000"/>
            </a:solidFill>
            <a:prstDash val="solid"/>
          </a:ln>
        </p:spPr>
      </p:cxnSp>
      <p:sp>
        <p:nvSpPr>
          <p:cNvPr id="5" name="">
            <a:extLst xmlns:a="http://schemas.openxmlformats.org/drawingml/2006/main">
              <a:ext uri="{FF2B5EF4-FFF2-40B4-BE49-F238E27FC236}">
                <a16:creationId xmlns:a16="http://schemas.microsoft.com/office/drawing/2014/main" id="{66046216-E4D4-4D8E-953C-B0941DA7B03B}"/>
              </a:ext>
            </a:extLst>
          </p:cNvPr>
          <p:cNvSpPr>
            <a:spLocks xmlns:a="http://schemas.openxmlformats.org/drawingml/2006/main" noGrp="1"/>
          </p:cNvSpPr>
          <p:nvPr/>
        </p:nvSpPr>
        <p:spPr>
          <a:xfrm xmlns:a="http://schemas.openxmlformats.org/drawingml/2006/main">
            <a:off x="1047750" y="3028950"/>
            <a:ext cx="514350" cy="514350"/>
          </a:xfrm>
          <a:prstGeom xmlns:a="http://schemas.openxmlformats.org/drawingml/2006/main" prst="roundRect">
            <a:avLst>
              <a:gd name="adj" fmla="val 14815"/>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4B26A82-3BE2-4191-8AFE-A09B72852B04}"/>
              </a:ext>
            </a:extLst>
          </p:cNvPr>
          <p:cNvSpPr>
            <a:spLocks xmlns:a="http://schemas.openxmlformats.org/drawingml/2006/main" noGrp="1"/>
          </p:cNvSpPr>
          <p:nvPr/>
        </p:nvSpPr>
        <p:spPr>
          <a:xfrm xmlns:a="http://schemas.openxmlformats.org/drawingml/2006/main">
            <a:off x="1047750" y="3114675"/>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77AEA8DC-57F5-4EF4-B9E5-702D8025C4E4}"/>
              </a:ext>
            </a:extLst>
          </p:cNvPr>
          <p:cNvSpPr>
            <a:spLocks xmlns:a="http://schemas.openxmlformats.org/drawingml/2006/main" noGrp="1"/>
          </p:cNvSpPr>
          <p:nvPr/>
        </p:nvSpPr>
        <p:spPr>
          <a:xfrm xmlns:a="http://schemas.openxmlformats.org/drawingml/2006/main">
            <a:off x="809625" y="3857625"/>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Matched panels</a:t>
            </a:r>
          </a:p>
        </p:txBody>
      </p:sp>
      <p:sp>
        <p:nvSpPr>
          <p:cNvPr id="8" name="">
            <a:extLst xmlns:a="http://schemas.openxmlformats.org/drawingml/2006/main">
              <a:ext uri="{FF2B5EF4-FFF2-40B4-BE49-F238E27FC236}">
                <a16:creationId xmlns:a16="http://schemas.microsoft.com/office/drawing/2014/main" id="{1A6C8E62-D104-4EE6-B680-46BA5CFEB906}"/>
              </a:ext>
            </a:extLst>
          </p:cNvPr>
          <p:cNvSpPr>
            <a:spLocks xmlns:a="http://schemas.openxmlformats.org/drawingml/2006/main" noGrp="1"/>
          </p:cNvSpPr>
          <p:nvPr/>
        </p:nvSpPr>
        <p:spPr>
          <a:xfrm xmlns:a="http://schemas.openxmlformats.org/drawingml/2006/main">
            <a:off x="809625" y="438150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D636D"/>
                </a:solidFill>
                <a:latin typeface="Helvetica Neue"/>
                <a:ea typeface="Helvetica Neue"/>
                <a:cs typeface="Helvetica Neue"/>
              </a:defRPr>
            </a:pPr>
            <a:r>
              <a:rPr sz="1275" b="0">
                <a:solidFill>
                  <a:srgbClr val="5D636D"/>
                </a:solidFill>
                <a:latin typeface="Helvetica Neue"/>
                <a:ea typeface="Helvetica Neue"/>
                <a:cs typeface="Helvetica Neue"/>
              </a:rPr>
              <a:t>Replay one attack against each singleton and the full stack.</a:t>
            </a:r>
          </a:p>
        </p:txBody>
      </p:sp>
      <p:sp>
        <p:nvSpPr>
          <p:cNvPr id="9" name="">
            <a:extLst xmlns:a="http://schemas.openxmlformats.org/drawingml/2006/main">
              <a:ext uri="{FF2B5EF4-FFF2-40B4-BE49-F238E27FC236}">
                <a16:creationId xmlns:a16="http://schemas.microsoft.com/office/drawing/2014/main" id="{AAC8D885-1CB0-4121-AD8B-7357057F7EB5}"/>
              </a:ext>
            </a:extLst>
          </p:cNvPr>
          <p:cNvSpPr>
            <a:spLocks xmlns:a="http://schemas.openxmlformats.org/drawingml/2006/main" noGrp="1"/>
          </p:cNvSpPr>
          <p:nvPr/>
        </p:nvSpPr>
        <p:spPr>
          <a:xfrm xmlns:a="http://schemas.openxmlformats.org/drawingml/2006/main">
            <a:off x="3143250" y="3028950"/>
            <a:ext cx="514350" cy="514350"/>
          </a:xfrm>
          <a:prstGeom xmlns:a="http://schemas.openxmlformats.org/drawingml/2006/main" prst="roundRect">
            <a:avLst>
              <a:gd name="adj" fmla="val 14815"/>
            </a:avLst>
          </a:prstGeom>
          <a:solidFill xmlns:a="http://schemas.openxmlformats.org/drawingml/2006/main">
            <a:srgbClr val="3D8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064D015-870C-4988-8E6D-8753A8033398}"/>
              </a:ext>
            </a:extLst>
          </p:cNvPr>
          <p:cNvSpPr>
            <a:spLocks xmlns:a="http://schemas.openxmlformats.org/drawingml/2006/main" noGrp="1"/>
          </p:cNvSpPr>
          <p:nvPr/>
        </p:nvSpPr>
        <p:spPr>
          <a:xfrm xmlns:a="http://schemas.openxmlformats.org/drawingml/2006/main">
            <a:off x="3143250" y="3114675"/>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0A8BD092-31B0-4340-ACE0-6C045FC98EA9}"/>
              </a:ext>
            </a:extLst>
          </p:cNvPr>
          <p:cNvSpPr>
            <a:spLocks xmlns:a="http://schemas.openxmlformats.org/drawingml/2006/main" noGrp="1"/>
          </p:cNvSpPr>
          <p:nvPr/>
        </p:nvSpPr>
        <p:spPr>
          <a:xfrm xmlns:a="http://schemas.openxmlformats.org/drawingml/2006/main">
            <a:off x="2905125" y="3857625"/>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Validation selection</a:t>
            </a:r>
          </a:p>
        </p:txBody>
      </p:sp>
      <p:sp>
        <p:nvSpPr>
          <p:cNvPr id="12" name="">
            <a:extLst xmlns:a="http://schemas.openxmlformats.org/drawingml/2006/main">
              <a:ext uri="{FF2B5EF4-FFF2-40B4-BE49-F238E27FC236}">
                <a16:creationId xmlns:a16="http://schemas.microsoft.com/office/drawing/2014/main" id="{35DD1D8E-2A5F-4CC1-9FC5-66431A65437C}"/>
              </a:ext>
            </a:extLst>
          </p:cNvPr>
          <p:cNvSpPr>
            <a:spLocks xmlns:a="http://schemas.openxmlformats.org/drawingml/2006/main" noGrp="1"/>
          </p:cNvSpPr>
          <p:nvPr/>
        </p:nvSpPr>
        <p:spPr>
          <a:xfrm xmlns:a="http://schemas.openxmlformats.org/drawingml/2006/main">
            <a:off x="2905125" y="438150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D636D"/>
                </a:solidFill>
                <a:latin typeface="Helvetica Neue"/>
                <a:ea typeface="Helvetica Neue"/>
                <a:cs typeface="Helvetica Neue"/>
              </a:defRPr>
            </a:pPr>
            <a:r>
              <a:rPr sz="1275" b="0">
                <a:solidFill>
                  <a:srgbClr val="5D636D"/>
                </a:solidFill>
                <a:latin typeface="Helvetica Neue"/>
                <a:ea typeface="Helvetica Neue"/>
                <a:cs typeface="Helvetica Neue"/>
              </a:rPr>
              <a:t>Compare five selectors on identical trajectories and constraints.</a:t>
            </a:r>
          </a:p>
        </p:txBody>
      </p:sp>
      <p:sp>
        <p:nvSpPr>
          <p:cNvPr id="13" name="">
            <a:extLst xmlns:a="http://schemas.openxmlformats.org/drawingml/2006/main">
              <a:ext uri="{FF2B5EF4-FFF2-40B4-BE49-F238E27FC236}">
                <a16:creationId xmlns:a16="http://schemas.microsoft.com/office/drawing/2014/main" id="{EBA0158D-8023-4FED-AEE8-0193D8EF7442}"/>
              </a:ext>
            </a:extLst>
          </p:cNvPr>
          <p:cNvSpPr>
            <a:spLocks xmlns:a="http://schemas.openxmlformats.org/drawingml/2006/main" noGrp="1"/>
          </p:cNvSpPr>
          <p:nvPr/>
        </p:nvSpPr>
        <p:spPr>
          <a:xfrm xmlns:a="http://schemas.openxmlformats.org/drawingml/2006/main">
            <a:off x="5238750" y="3028950"/>
            <a:ext cx="514350" cy="514350"/>
          </a:xfrm>
          <a:prstGeom xmlns:a="http://schemas.openxmlformats.org/drawingml/2006/main" prst="roundRect">
            <a:avLst>
              <a:gd name="adj" fmla="val 14815"/>
            </a:avLst>
          </a:prstGeom>
          <a:solidFill xmlns:a="http://schemas.openxmlformats.org/drawingml/2006/main">
            <a:srgbClr val="3D8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7AA2E37-6335-4467-A68F-A54558966970}"/>
              </a:ext>
            </a:extLst>
          </p:cNvPr>
          <p:cNvSpPr>
            <a:spLocks xmlns:a="http://schemas.openxmlformats.org/drawingml/2006/main" noGrp="1"/>
          </p:cNvSpPr>
          <p:nvPr/>
        </p:nvSpPr>
        <p:spPr>
          <a:xfrm xmlns:a="http://schemas.openxmlformats.org/drawingml/2006/main">
            <a:off x="5238750" y="3114675"/>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7B6B4469-E9C9-4273-AA7D-6452F5DC8E62}"/>
              </a:ext>
            </a:extLst>
          </p:cNvPr>
          <p:cNvSpPr>
            <a:spLocks xmlns:a="http://schemas.openxmlformats.org/drawingml/2006/main" noGrp="1"/>
          </p:cNvSpPr>
          <p:nvPr/>
        </p:nvSpPr>
        <p:spPr>
          <a:xfrm xmlns:a="http://schemas.openxmlformats.org/drawingml/2006/main">
            <a:off x="5000625" y="3857625"/>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Best response</a:t>
            </a:r>
          </a:p>
        </p:txBody>
      </p:sp>
      <p:sp>
        <p:nvSpPr>
          <p:cNvPr id="16" name="">
            <a:extLst xmlns:a="http://schemas.openxmlformats.org/drawingml/2006/main">
              <a:ext uri="{FF2B5EF4-FFF2-40B4-BE49-F238E27FC236}">
                <a16:creationId xmlns:a16="http://schemas.microsoft.com/office/drawing/2014/main" id="{DA1C8A96-7D87-4C67-851A-962D3213FC3B}"/>
              </a:ext>
            </a:extLst>
          </p:cNvPr>
          <p:cNvSpPr>
            <a:spLocks xmlns:a="http://schemas.openxmlformats.org/drawingml/2006/main" noGrp="1"/>
          </p:cNvSpPr>
          <p:nvPr/>
        </p:nvSpPr>
        <p:spPr>
          <a:xfrm xmlns:a="http://schemas.openxmlformats.org/drawingml/2006/main">
            <a:off x="5000625" y="438150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D636D"/>
                </a:solidFill>
                <a:latin typeface="Helvetica Neue"/>
                <a:ea typeface="Helvetica Neue"/>
                <a:cs typeface="Helvetica Neue"/>
              </a:defRPr>
            </a:pPr>
            <a:r>
              <a:rPr sz="1275" b="0">
                <a:solidFill>
                  <a:srgbClr val="5D636D"/>
                </a:solidFill>
                <a:latin typeface="Helvetica Neue"/>
                <a:ea typeface="Helvetica Neue"/>
                <a:cs typeface="Helvetica Neue"/>
              </a:rPr>
              <a:t>Search against each stack with the same query and rollout budget.</a:t>
            </a:r>
          </a:p>
        </p:txBody>
      </p:sp>
      <p:sp>
        <p:nvSpPr>
          <p:cNvPr id="17" name="">
            <a:extLst xmlns:a="http://schemas.openxmlformats.org/drawingml/2006/main">
              <a:ext uri="{FF2B5EF4-FFF2-40B4-BE49-F238E27FC236}">
                <a16:creationId xmlns:a16="http://schemas.microsoft.com/office/drawing/2014/main" id="{1C3E2F06-061B-4E6C-A459-4B439181F500}"/>
              </a:ext>
            </a:extLst>
          </p:cNvPr>
          <p:cNvSpPr>
            <a:spLocks xmlns:a="http://schemas.openxmlformats.org/drawingml/2006/main" noGrp="1"/>
          </p:cNvSpPr>
          <p:nvPr/>
        </p:nvSpPr>
        <p:spPr>
          <a:xfrm xmlns:a="http://schemas.openxmlformats.org/drawingml/2006/main">
            <a:off x="7334250" y="3028950"/>
            <a:ext cx="514350" cy="514350"/>
          </a:xfrm>
          <a:prstGeom xmlns:a="http://schemas.openxmlformats.org/drawingml/2006/main" prst="roundRect">
            <a:avLst>
              <a:gd name="adj" fmla="val 14815"/>
            </a:avLst>
          </a:prstGeom>
          <a:solidFill xmlns:a="http://schemas.openxmlformats.org/drawingml/2006/main">
            <a:srgbClr val="3D8D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10F6B17-0CBF-4604-96C8-53689B09D751}"/>
              </a:ext>
            </a:extLst>
          </p:cNvPr>
          <p:cNvSpPr>
            <a:spLocks xmlns:a="http://schemas.openxmlformats.org/drawingml/2006/main" noGrp="1"/>
          </p:cNvSpPr>
          <p:nvPr/>
        </p:nvSpPr>
        <p:spPr>
          <a:xfrm xmlns:a="http://schemas.openxmlformats.org/drawingml/2006/main">
            <a:off x="7334250" y="3114675"/>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9768903A-CDCF-4019-91F7-DA192D3768B8}"/>
              </a:ext>
            </a:extLst>
          </p:cNvPr>
          <p:cNvSpPr>
            <a:spLocks xmlns:a="http://schemas.openxmlformats.org/drawingml/2006/main" noGrp="1"/>
          </p:cNvSpPr>
          <p:nvPr/>
        </p:nvSpPr>
        <p:spPr>
          <a:xfrm xmlns:a="http://schemas.openxmlformats.org/drawingml/2006/main">
            <a:off x="7096125" y="3857625"/>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Sealed holdout</a:t>
            </a:r>
          </a:p>
        </p:txBody>
      </p:sp>
      <p:sp>
        <p:nvSpPr>
          <p:cNvPr id="20" name="">
            <a:extLst xmlns:a="http://schemas.openxmlformats.org/drawingml/2006/main">
              <a:ext uri="{FF2B5EF4-FFF2-40B4-BE49-F238E27FC236}">
                <a16:creationId xmlns:a16="http://schemas.microsoft.com/office/drawing/2014/main" id="{32F10897-8291-41A0-BF23-7138DD56C1B3}"/>
              </a:ext>
            </a:extLst>
          </p:cNvPr>
          <p:cNvSpPr>
            <a:spLocks xmlns:a="http://schemas.openxmlformats.org/drawingml/2006/main" noGrp="1"/>
          </p:cNvSpPr>
          <p:nvPr/>
        </p:nvSpPr>
        <p:spPr>
          <a:xfrm xmlns:a="http://schemas.openxmlformats.org/drawingml/2006/main">
            <a:off x="7096125" y="438150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D636D"/>
                </a:solidFill>
                <a:latin typeface="Helvetica Neue"/>
                <a:ea typeface="Helvetica Neue"/>
                <a:cs typeface="Helvetica Neue"/>
              </a:defRPr>
            </a:pPr>
            <a:r>
              <a:rPr sz="1275" b="0">
                <a:solidFill>
                  <a:srgbClr val="5D636D"/>
                </a:solidFill>
                <a:latin typeface="Helvetica Neue"/>
                <a:ea typeface="Helvetica Neue"/>
                <a:cs typeface="Helvetica Neue"/>
              </a:rPr>
              <a:t>Open test cells only after a hash-bound selection artifact exists.</a:t>
            </a:r>
          </a:p>
        </p:txBody>
      </p:sp>
      <p:sp>
        <p:nvSpPr>
          <p:cNvPr id="21" name="">
            <a:extLst xmlns:a="http://schemas.openxmlformats.org/drawingml/2006/main">
              <a:ext uri="{FF2B5EF4-FFF2-40B4-BE49-F238E27FC236}">
                <a16:creationId xmlns:a16="http://schemas.microsoft.com/office/drawing/2014/main" id="{A2CAA663-9917-49BF-91CD-1D48A3E961DE}"/>
              </a:ext>
            </a:extLst>
          </p:cNvPr>
          <p:cNvSpPr>
            <a:spLocks xmlns:a="http://schemas.openxmlformats.org/drawingml/2006/main" noGrp="1"/>
          </p:cNvSpPr>
          <p:nvPr/>
        </p:nvSpPr>
        <p:spPr>
          <a:xfrm xmlns:a="http://schemas.openxmlformats.org/drawingml/2006/main">
            <a:off x="9429750" y="3028950"/>
            <a:ext cx="514350" cy="514350"/>
          </a:xfrm>
          <a:prstGeom xmlns:a="http://schemas.openxmlformats.org/drawingml/2006/main" prst="roundRect">
            <a:avLst>
              <a:gd name="adj" fmla="val 14815"/>
            </a:avLst>
          </a:prstGeom>
          <a:solidFill xmlns:a="http://schemas.openxmlformats.org/drawingml/2006/main">
            <a:srgbClr val="3D8D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7493813-4F51-4713-98FE-5377906B2030}"/>
              </a:ext>
            </a:extLst>
          </p:cNvPr>
          <p:cNvSpPr>
            <a:spLocks xmlns:a="http://schemas.openxmlformats.org/drawingml/2006/main" noGrp="1"/>
          </p:cNvSpPr>
          <p:nvPr/>
        </p:nvSpPr>
        <p:spPr>
          <a:xfrm xmlns:a="http://schemas.openxmlformats.org/drawingml/2006/main">
            <a:off x="9429750" y="3114675"/>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5</a:t>
            </a:r>
          </a:p>
        </p:txBody>
      </p:sp>
      <p:sp>
        <p:nvSpPr>
          <p:cNvPr id="23" name="">
            <a:extLst xmlns:a="http://schemas.openxmlformats.org/drawingml/2006/main">
              <a:ext uri="{FF2B5EF4-FFF2-40B4-BE49-F238E27FC236}">
                <a16:creationId xmlns:a16="http://schemas.microsoft.com/office/drawing/2014/main" id="{E3BB2C60-5262-4233-A12A-F382C8620E31}"/>
              </a:ext>
            </a:extLst>
          </p:cNvPr>
          <p:cNvSpPr>
            <a:spLocks xmlns:a="http://schemas.openxmlformats.org/drawingml/2006/main" noGrp="1"/>
          </p:cNvSpPr>
          <p:nvPr/>
        </p:nvSpPr>
        <p:spPr>
          <a:xfrm xmlns:a="http://schemas.openxmlformats.org/drawingml/2006/main">
            <a:off x="9191625" y="3857625"/>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Before harm</a:t>
            </a:r>
          </a:p>
        </p:txBody>
      </p:sp>
      <p:sp>
        <p:nvSpPr>
          <p:cNvPr id="24" name="">
            <a:extLst xmlns:a="http://schemas.openxmlformats.org/drawingml/2006/main">
              <a:ext uri="{FF2B5EF4-FFF2-40B4-BE49-F238E27FC236}">
                <a16:creationId xmlns:a16="http://schemas.microsoft.com/office/drawing/2014/main" id="{E019D626-7430-4C84-BCEA-92269403A1AC}"/>
              </a:ext>
            </a:extLst>
          </p:cNvPr>
          <p:cNvSpPr>
            <a:spLocks xmlns:a="http://schemas.openxmlformats.org/drawingml/2006/main" noGrp="1"/>
          </p:cNvSpPr>
          <p:nvPr/>
        </p:nvSpPr>
        <p:spPr>
          <a:xfrm xmlns:a="http://schemas.openxmlformats.org/drawingml/2006/main">
            <a:off x="9191625" y="438150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D636D"/>
                </a:solidFill>
                <a:latin typeface="Helvetica Neue"/>
                <a:ea typeface="Helvetica Neue"/>
                <a:cs typeface="Helvetica Neue"/>
              </a:defRPr>
            </a:pPr>
            <a:r>
              <a:rPr sz="1275" b="0">
                <a:solidFill>
                  <a:srgbClr val="5D636D"/>
                </a:solidFill>
                <a:latin typeface="Helvetica Neue"/>
                <a:ea typeface="Helvetica Neue"/>
                <a:cs typeface="Helvetica Neue"/>
              </a:rPr>
              <a:t>Score intervention relative to the first irreversible action.</a:t>
            </a:r>
          </a:p>
        </p:txBody>
      </p:sp>
      <p:sp>
        <p:nvSpPr>
          <p:cNvPr id="25" name="">
            <a:extLst xmlns:a="http://schemas.openxmlformats.org/drawingml/2006/main">
              <a:ext uri="{FF2B5EF4-FFF2-40B4-BE49-F238E27FC236}">
                <a16:creationId xmlns:a16="http://schemas.microsoft.com/office/drawing/2014/main" id="{651CDE00-70DF-47F6-B12D-E17859631631}"/>
              </a:ext>
            </a:extLst>
          </p:cNvPr>
          <p:cNvSpPr>
            <a:spLocks xmlns:a="http://schemas.openxmlformats.org/drawingml/2006/main" noGrp="1"/>
          </p:cNvSpPr>
          <p:nvPr/>
        </p:nvSpPr>
        <p:spPr>
          <a:xfrm xmlns:a="http://schemas.openxmlformats.org/drawingml/2006/main">
            <a:off x="400050" y="15240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Common contract</a:t>
            </a:r>
          </a:p>
        </p:txBody>
      </p:sp>
      <p:sp>
        <p:nvSpPr>
          <p:cNvPr id="26" name="">
            <a:extLst xmlns:a="http://schemas.openxmlformats.org/drawingml/2006/main">
              <a:ext uri="{FF2B5EF4-FFF2-40B4-BE49-F238E27FC236}">
                <a16:creationId xmlns:a16="http://schemas.microsoft.com/office/drawing/2014/main" id="{E7202833-D67E-47B9-94D1-9180578073B0}"/>
              </a:ext>
            </a:extLst>
          </p:cNvPr>
          <p:cNvSpPr>
            <a:spLocks xmlns:a="http://schemas.openxmlformats.org/drawingml/2006/main" noGrp="1"/>
          </p:cNvSpPr>
          <p:nvPr/>
        </p:nvSpPr>
        <p:spPr>
          <a:xfrm xmlns:a="http://schemas.openxmlformats.org/drawingml/2006/main">
            <a:off x="400050" y="19526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D636D"/>
                </a:solidFill>
                <a:latin typeface="Helvetica Neue"/>
                <a:ea typeface="Helvetica Neue"/>
                <a:cs typeface="Helvetica Neue"/>
              </a:defRPr>
            </a:pPr>
            <a:r>
              <a:rPr sz="1575" b="0">
                <a:solidFill>
                  <a:srgbClr val="5D636D"/>
                </a:solidFill>
                <a:latin typeface="Helvetica Neue"/>
                <a:ea typeface="Helvetica Neue"/>
                <a:cs typeface="Helvetica Neue"/>
              </a:rPr>
              <a:t>Immutable assignments • paired seeds • model/runtime revision • consequence loss • utility • latency • trace hash</a:t>
            </a:r>
          </a:p>
        </p:txBody>
      </p:sp>
    </p:spTree>
    <p:extLst>
      <p:ext uri="{BB962C8B-B14F-4D97-AF65-F5344CB8AC3E}">
        <p14:creationId xmlns:p14="http://schemas.microsoft.com/office/powerpoint/2010/main" val="10690950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70F7A3-7436-4E02-AB4F-707AF45DF6C1}"/>
              </a:ext>
            </a:extLst>
          </p:cNvPr>
          <p:cNvSpPr>
            <a:spLocks xmlns:a="http://schemas.openxmlformats.org/drawingml/2006/main" noGrp="1"/>
          </p:cNvSpPr>
          <p:nvPr/>
        </p:nvSpPr>
        <p:spPr>
          <a:xfrm xmlns:a="http://schemas.openxmlformats.org/drawingml/2006/main">
            <a:off x="400050" y="3619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D636D"/>
                </a:solidFill>
                <a:latin typeface="Helvetica Neue"/>
                <a:ea typeface="Helvetica Neue"/>
                <a:cs typeface="Helvetica Neue"/>
              </a:defRPr>
            </a:pPr>
            <a:r>
              <a:rPr sz="1350" b="1">
                <a:solidFill>
                  <a:srgbClr val="5D636D"/>
                </a:solidFill>
                <a:latin typeface="Helvetica Neue"/>
                <a:ea typeface="Helvetica Neue"/>
                <a:cs typeface="Helvetica Neue"/>
              </a:rPr>
              <a:t>SECTION 4</a:t>
            </a:r>
          </a:p>
        </p:txBody>
      </p:sp>
      <p:sp>
        <p:nvSpPr>
          <p:cNvPr id="2" name="">
            <a:extLst xmlns:a="http://schemas.openxmlformats.org/drawingml/2006/main">
              <a:ext uri="{FF2B5EF4-FFF2-40B4-BE49-F238E27FC236}">
                <a16:creationId xmlns:a16="http://schemas.microsoft.com/office/drawing/2014/main" id="{0B9CB11F-AFF6-4F03-AF0C-53CAADA4A84E}"/>
              </a:ext>
            </a:extLst>
          </p:cNvPr>
          <p:cNvSpPr>
            <a:spLocks xmlns:a="http://schemas.openxmlformats.org/drawingml/2006/main" noGrp="1"/>
          </p:cNvSpPr>
          <p:nvPr/>
        </p:nvSpPr>
        <p:spPr>
          <a:xfrm xmlns:a="http://schemas.openxmlformats.org/drawingml/2006/main">
            <a:off x="400050" y="1695450"/>
            <a:ext cx="8858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Experiments and</a:t>
            </a:r>
          </a:p>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Conclusions</a:t>
            </a:r>
          </a:p>
        </p:txBody>
      </p:sp>
      <p:sp>
        <p:nvSpPr>
          <p:cNvPr id="3" name="">
            <a:extLst xmlns:a="http://schemas.openxmlformats.org/drawingml/2006/main">
              <a:ext uri="{FF2B5EF4-FFF2-40B4-BE49-F238E27FC236}">
                <a16:creationId xmlns:a16="http://schemas.microsoft.com/office/drawing/2014/main" id="{0DD7CF6D-5836-450F-A996-9E5E96610667}"/>
              </a:ext>
            </a:extLst>
          </p:cNvPr>
          <p:cNvSpPr>
            <a:spLocks xmlns:a="http://schemas.openxmlformats.org/drawingml/2006/main" noGrp="1"/>
          </p:cNvSpPr>
          <p:nvPr/>
        </p:nvSpPr>
        <p:spPr>
          <a:xfrm xmlns:a="http://schemas.openxmlformats.org/drawingml/2006/main">
            <a:off x="400050" y="4305300"/>
            <a:ext cx="7810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0">
                <a:solidFill>
                  <a:srgbClr val="5D636D"/>
                </a:solidFill>
                <a:latin typeface="Helvetica Neue"/>
                <a:ea typeface="Helvetica Neue"/>
                <a:cs typeface="Helvetica Neue"/>
              </a:defRPr>
            </a:pPr>
            <a:r>
              <a:rPr sz="2100" b="0">
                <a:solidFill>
                  <a:srgbClr val="5D636D"/>
                </a:solidFill>
                <a:latin typeface="Helvetica Neue"/>
                <a:ea typeface="Helvetica Neue"/>
                <a:cs typeface="Helvetica Neue"/>
              </a:rPr>
              <a:t>Canaries, controlled evidence, negative results, and the gates required before stronger claims</a:t>
            </a:r>
          </a:p>
        </p:txBody>
      </p:sp>
      <p:sp>
        <p:nvSpPr>
          <p:cNvPr id="4" name="">
            <a:extLst xmlns:a="http://schemas.openxmlformats.org/drawingml/2006/main">
              <a:ext uri="{FF2B5EF4-FFF2-40B4-BE49-F238E27FC236}">
                <a16:creationId xmlns:a16="http://schemas.microsoft.com/office/drawing/2014/main" id="{07BCBD0C-57C1-44D1-BE35-FFC2818F58CB}"/>
              </a:ext>
            </a:extLst>
          </p:cNvPr>
          <p:cNvSpPr>
            <a:spLocks xmlns:a="http://schemas.openxmlformats.org/drawingml/2006/main" noGrp="1"/>
          </p:cNvSpPr>
          <p:nvPr/>
        </p:nvSpPr>
        <p:spPr>
          <a:xfrm xmlns:a="http://schemas.openxmlformats.org/drawingml/2006/main">
            <a:off x="9620250" y="876300"/>
            <a:ext cx="1809750" cy="4762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A949E6-9A66-4F1B-A102-0AEA175229F1}"/>
              </a:ext>
            </a:extLst>
          </p:cNvPr>
          <p:cNvSpPr>
            <a:spLocks xmlns:a="http://schemas.openxmlformats.org/drawingml/2006/main" noGrp="1"/>
          </p:cNvSpPr>
          <p:nvPr/>
        </p:nvSpPr>
        <p:spPr>
          <a:xfrm xmlns:a="http://schemas.openxmlformats.org/drawingml/2006/main">
            <a:off x="10096500" y="1352550"/>
            <a:ext cx="857250" cy="3810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47FDE2-12EE-41B9-8087-00AA0962E695}"/>
              </a:ext>
            </a:extLst>
          </p:cNvPr>
          <p:cNvSpPr>
            <a:spLocks xmlns:a="http://schemas.openxmlformats.org/drawingml/2006/main" noGrp="1"/>
          </p:cNvSpPr>
          <p:nvPr/>
        </p:nvSpPr>
        <p:spPr>
          <a:xfrm xmlns:a="http://schemas.openxmlformats.org/drawingml/2006/main">
            <a:off x="400050" y="582930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04 / EVIDENCE</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What is supported—</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and what remains open</a:t>
            </a:r>
          </a:p>
        </p:txBody>
      </p:sp>
    </p:spTree>
    <p:extLst>
      <p:ext uri="{BB962C8B-B14F-4D97-AF65-F5344CB8AC3E}">
        <p14:creationId xmlns:p14="http://schemas.microsoft.com/office/powerpoint/2010/main" val="31650899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1131C71-3FBE-45E9-B711-EDD3B75D35EC}"/>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6-title">
            <a:extLst xmlns:a="http://schemas.openxmlformats.org/drawingml/2006/main">
              <a:ext uri="{FF2B5EF4-FFF2-40B4-BE49-F238E27FC236}">
                <a16:creationId xmlns:a16="http://schemas.microsoft.com/office/drawing/2014/main" id="{CA9E1DB2-44DE-4718-AAFD-A4928026059A}"/>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What actually ran</a:t>
            </a:r>
          </a:p>
        </p:txBody>
      </p:sp>
      <p:sp>
        <p:nvSpPr>
          <p:cNvPr id="3" name="">
            <a:extLst xmlns:a="http://schemas.openxmlformats.org/drawingml/2006/main">
              <a:ext uri="{FF2B5EF4-FFF2-40B4-BE49-F238E27FC236}">
                <a16:creationId xmlns:a16="http://schemas.microsoft.com/office/drawing/2014/main" id="{C0F74CF4-81B3-48FE-9AEA-F5440C2341C6}"/>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C317BDED-2BE1-4928-97F6-FC2F2BA93993}"/>
              </a:ext>
            </a:extLst>
          </p:cNvPr>
          <p:cNvSpPr>
            <a:spLocks xmlns:a="http://schemas.openxmlformats.org/drawingml/2006/main" noGrp="1"/>
          </p:cNvSpPr>
          <p:nvPr/>
        </p:nvSpPr>
        <p:spPr>
          <a:xfrm xmlns:a="http://schemas.openxmlformats.org/drawingml/2006/main">
            <a:off x="400050" y="1809750"/>
            <a:ext cx="3476625" cy="33337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D2BDC0F-8382-4F57-96E5-060EA267342B}"/>
              </a:ext>
            </a:extLst>
          </p:cNvPr>
          <p:cNvSpPr>
            <a:spLocks xmlns:a="http://schemas.openxmlformats.org/drawingml/2006/main" noGrp="1"/>
          </p:cNvSpPr>
          <p:nvPr/>
        </p:nvSpPr>
        <p:spPr>
          <a:xfrm xmlns:a="http://schemas.openxmlformats.org/drawingml/2006/main">
            <a:off x="400050" y="1809750"/>
            <a:ext cx="95250" cy="3333750"/>
          </a:xfrm>
          <a:prstGeom xmlns:a="http://schemas.openxmlformats.org/drawingml/2006/main" prst="rect">
            <a:avLst/>
          </a:prstGeom>
          <a:solidFill xmlns:a="http://schemas.openxmlformats.org/drawingml/2006/main">
            <a:srgbClr val="5D636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957BA5D-E40A-4135-938D-774336F5BE0A}"/>
              </a:ext>
            </a:extLst>
          </p:cNvPr>
          <p:cNvSpPr>
            <a:spLocks xmlns:a="http://schemas.openxmlformats.org/drawingml/2006/main" noGrp="1"/>
          </p:cNvSpPr>
          <p:nvPr/>
        </p:nvSpPr>
        <p:spPr>
          <a:xfrm xmlns:a="http://schemas.openxmlformats.org/drawingml/2006/main">
            <a:off x="666750" y="2076450"/>
            <a:ext cx="30384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5D636D"/>
                </a:solidFill>
                <a:latin typeface="Helvetica Neue"/>
                <a:ea typeface="Helvetica Neue"/>
                <a:cs typeface="Helvetica Neue"/>
              </a:defRPr>
            </a:pPr>
            <a:r>
              <a:rPr sz="3150" b="1">
                <a:solidFill>
                  <a:srgbClr val="5D636D"/>
                </a:solidFill>
                <a:latin typeface="Helvetica Neue"/>
                <a:ea typeface="Helvetica Neue"/>
                <a:cs typeface="Helvetica Neue"/>
              </a:rPr>
              <a:t>2,400</a:t>
            </a:r>
          </a:p>
        </p:txBody>
      </p:sp>
      <p:sp>
        <p:nvSpPr>
          <p:cNvPr id="7" name="">
            <a:extLst xmlns:a="http://schemas.openxmlformats.org/drawingml/2006/main">
              <a:ext uri="{FF2B5EF4-FFF2-40B4-BE49-F238E27FC236}">
                <a16:creationId xmlns:a16="http://schemas.microsoft.com/office/drawing/2014/main" id="{948BF936-6003-469C-9E55-F76CBEA7BD55}"/>
              </a:ext>
            </a:extLst>
          </p:cNvPr>
          <p:cNvSpPr>
            <a:spLocks xmlns:a="http://schemas.openxmlformats.org/drawingml/2006/main" noGrp="1"/>
          </p:cNvSpPr>
          <p:nvPr/>
        </p:nvSpPr>
        <p:spPr>
          <a:xfrm xmlns:a="http://schemas.openxmlformats.org/drawingml/2006/main">
            <a:off x="666750" y="2933700"/>
            <a:ext cx="303847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Controlled trajectories</a:t>
            </a:r>
          </a:p>
          <a:p xmlns:a="http://schemas.openxmlformats.org/drawingml/2006/main">
            <a:r>
              <a:t/>
            </a:r>
          </a:p>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Deterministic failure simulator; no LLM agents. Registered cells, stacks, and known fixtures.</a:t>
            </a:r>
          </a:p>
        </p:txBody>
      </p:sp>
      <p:sp>
        <p:nvSpPr>
          <p:cNvPr id="8" name="">
            <a:extLst xmlns:a="http://schemas.openxmlformats.org/drawingml/2006/main">
              <a:ext uri="{FF2B5EF4-FFF2-40B4-BE49-F238E27FC236}">
                <a16:creationId xmlns:a16="http://schemas.microsoft.com/office/drawing/2014/main" id="{6EDB8085-898C-4C86-B1FA-6D1D5FF6008B}"/>
              </a:ext>
            </a:extLst>
          </p:cNvPr>
          <p:cNvSpPr>
            <a:spLocks xmlns:a="http://schemas.openxmlformats.org/drawingml/2006/main" noGrp="1"/>
          </p:cNvSpPr>
          <p:nvPr/>
        </p:nvSpPr>
        <p:spPr>
          <a:xfrm xmlns:a="http://schemas.openxmlformats.org/drawingml/2006/main">
            <a:off x="4352925" y="1809750"/>
            <a:ext cx="3476625" cy="33337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8AABD1D-F00F-4EC1-9266-2BE52D1E0BCF}"/>
              </a:ext>
            </a:extLst>
          </p:cNvPr>
          <p:cNvSpPr>
            <a:spLocks xmlns:a="http://schemas.openxmlformats.org/drawingml/2006/main" noGrp="1"/>
          </p:cNvSpPr>
          <p:nvPr/>
        </p:nvSpPr>
        <p:spPr>
          <a:xfrm xmlns:a="http://schemas.openxmlformats.org/drawingml/2006/main">
            <a:off x="4352925" y="1809750"/>
            <a:ext cx="9525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A659B87-AB64-4F51-A371-EF4D948A5ABB}"/>
              </a:ext>
            </a:extLst>
          </p:cNvPr>
          <p:cNvSpPr>
            <a:spLocks xmlns:a="http://schemas.openxmlformats.org/drawingml/2006/main" noGrp="1"/>
          </p:cNvSpPr>
          <p:nvPr/>
        </p:nvSpPr>
        <p:spPr>
          <a:xfrm xmlns:a="http://schemas.openxmlformats.org/drawingml/2006/main">
            <a:off x="4619625" y="2076450"/>
            <a:ext cx="30384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64 + 24</a:t>
            </a:r>
          </a:p>
        </p:txBody>
      </p:sp>
      <p:sp>
        <p:nvSpPr>
          <p:cNvPr id="11" name="">
            <a:extLst xmlns:a="http://schemas.openxmlformats.org/drawingml/2006/main">
              <a:ext uri="{FF2B5EF4-FFF2-40B4-BE49-F238E27FC236}">
                <a16:creationId xmlns:a16="http://schemas.microsoft.com/office/drawing/2014/main" id="{FA1B36BE-585A-435E-AA53-5D01585EE58C}"/>
              </a:ext>
            </a:extLst>
          </p:cNvPr>
          <p:cNvSpPr>
            <a:spLocks xmlns:a="http://schemas.openxmlformats.org/drawingml/2006/main" noGrp="1"/>
          </p:cNvSpPr>
          <p:nvPr/>
        </p:nvSpPr>
        <p:spPr>
          <a:xfrm xmlns:a="http://schemas.openxmlformats.org/drawingml/2006/main">
            <a:off x="4619625" y="2933700"/>
            <a:ext cx="303847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Online 7B canaries</a:t>
            </a:r>
          </a:p>
          <a:p xmlns:a="http://schemas.openxmlformats.org/drawingml/2006/main">
            <a:r>
              <a:t/>
            </a:r>
          </a:p>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Two-agent covert channel (64) and six-role workflow (24), with defenses inside the gateway.</a:t>
            </a:r>
          </a:p>
        </p:txBody>
      </p:sp>
      <p:sp>
        <p:nvSpPr>
          <p:cNvPr id="12" name="">
            <a:extLst xmlns:a="http://schemas.openxmlformats.org/drawingml/2006/main">
              <a:ext uri="{FF2B5EF4-FFF2-40B4-BE49-F238E27FC236}">
                <a16:creationId xmlns:a16="http://schemas.microsoft.com/office/drawing/2014/main" id="{7EAC07C0-0BDD-492D-9A25-0C42D64E6656}"/>
              </a:ext>
            </a:extLst>
          </p:cNvPr>
          <p:cNvSpPr>
            <a:spLocks xmlns:a="http://schemas.openxmlformats.org/drawingml/2006/main" noGrp="1"/>
          </p:cNvSpPr>
          <p:nvPr/>
        </p:nvSpPr>
        <p:spPr>
          <a:xfrm xmlns:a="http://schemas.openxmlformats.org/drawingml/2006/main">
            <a:off x="8305800" y="1809750"/>
            <a:ext cx="3486150" cy="33337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C24F48E-FA4D-4F63-B5C6-E8B25428484A}"/>
              </a:ext>
            </a:extLst>
          </p:cNvPr>
          <p:cNvSpPr>
            <a:spLocks xmlns:a="http://schemas.openxmlformats.org/drawingml/2006/main" noGrp="1"/>
          </p:cNvSpPr>
          <p:nvPr/>
        </p:nvSpPr>
        <p:spPr>
          <a:xfrm xmlns:a="http://schemas.openxmlformats.org/drawingml/2006/main">
            <a:off x="8305800" y="1809750"/>
            <a:ext cx="95250" cy="3333750"/>
          </a:xfrm>
          <a:prstGeom xmlns:a="http://schemas.openxmlformats.org/drawingml/2006/main" prst="rect">
            <a:avLst/>
          </a:prstGeom>
          <a:solidFill xmlns:a="http://schemas.openxmlformats.org/drawingml/2006/main">
            <a:srgbClr val="20704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1B2D4F-964F-42B1-8200-323DE068DD6E}"/>
              </a:ext>
            </a:extLst>
          </p:cNvPr>
          <p:cNvSpPr>
            <a:spLocks xmlns:a="http://schemas.openxmlformats.org/drawingml/2006/main" noGrp="1"/>
          </p:cNvSpPr>
          <p:nvPr/>
        </p:nvSpPr>
        <p:spPr>
          <a:xfrm xmlns:a="http://schemas.openxmlformats.org/drawingml/2006/main">
            <a:off x="8572500" y="2076450"/>
            <a:ext cx="304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20704A"/>
                </a:solidFill>
                <a:latin typeface="Helvetica Neue"/>
                <a:ea typeface="Helvetica Neue"/>
                <a:cs typeface="Helvetica Neue"/>
              </a:defRPr>
            </a:pPr>
            <a:r>
              <a:rPr sz="3150" b="1">
                <a:solidFill>
                  <a:srgbClr val="20704A"/>
                </a:solidFill>
                <a:latin typeface="Helvetica Neue"/>
                <a:ea typeface="Helvetica Neue"/>
                <a:cs typeface="Helvetica Neue"/>
              </a:rPr>
              <a:t>900</a:t>
            </a:r>
          </a:p>
        </p:txBody>
      </p:sp>
      <p:sp>
        <p:nvSpPr>
          <p:cNvPr id="15" name="">
            <a:extLst xmlns:a="http://schemas.openxmlformats.org/drawingml/2006/main">
              <a:ext uri="{FF2B5EF4-FFF2-40B4-BE49-F238E27FC236}">
                <a16:creationId xmlns:a16="http://schemas.microsoft.com/office/drawing/2014/main" id="{E76C9C74-72A0-4552-948E-ACA23CC56274}"/>
              </a:ext>
            </a:extLst>
          </p:cNvPr>
          <p:cNvSpPr>
            <a:spLocks xmlns:a="http://schemas.openxmlformats.org/drawingml/2006/main" noGrp="1"/>
          </p:cNvSpPr>
          <p:nvPr/>
        </p:nvSpPr>
        <p:spPr>
          <a:xfrm xmlns:a="http://schemas.openxmlformats.org/drawingml/2006/main">
            <a:off x="8572500" y="2933700"/>
            <a:ext cx="3048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Sequential 7B episodes</a:t>
            </a:r>
          </a:p>
          <a:p xmlns:a="http://schemas.openxmlformats.org/drawingml/2006/main">
            <a:r>
              <a:t/>
            </a:r>
          </a:p>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Two agents, 100 turns, 900 episodes; monitors score trace-derived statistics after generation.</a:t>
            </a:r>
          </a:p>
        </p:txBody>
      </p:sp>
      <p:sp>
        <p:nvSpPr>
          <p:cNvPr id="16" name="">
            <a:extLst xmlns:a="http://schemas.openxmlformats.org/drawingml/2006/main">
              <a:ext uri="{FF2B5EF4-FFF2-40B4-BE49-F238E27FC236}">
                <a16:creationId xmlns:a16="http://schemas.microsoft.com/office/drawing/2014/main" id="{A84ABC26-1996-4C7A-9D39-7267C562B8D0}"/>
              </a:ext>
            </a:extLst>
          </p:cNvPr>
          <p:cNvSpPr>
            <a:spLocks xmlns:a="http://schemas.openxmlformats.org/drawingml/2006/main" noGrp="1"/>
          </p:cNvSpPr>
          <p:nvPr/>
        </p:nvSpPr>
        <p:spPr>
          <a:xfrm xmlns:a="http://schemas.openxmlformats.org/drawingml/2006/main">
            <a:off x="400050" y="561975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C86B20"/>
                </a:solidFill>
                <a:latin typeface="Helvetica Neue"/>
                <a:ea typeface="Helvetica Neue"/>
                <a:cs typeface="Helvetica Neue"/>
              </a:defRPr>
            </a:pPr>
            <a:r>
              <a:rPr sz="2100" b="1">
                <a:solidFill>
                  <a:srgbClr val="C86B20"/>
                </a:solidFill>
                <a:latin typeface="Helvetica Neue"/>
                <a:ea typeface="Helvetica Neue"/>
                <a:cs typeface="Helvetica Neue"/>
              </a:rPr>
              <a:t>Boundary: no genuinely held-out model family or autonomous stack-specific attack search has run.</a:t>
            </a:r>
          </a:p>
        </p:txBody>
      </p:sp>
    </p:spTree>
    <p:extLst>
      <p:ext uri="{BB962C8B-B14F-4D97-AF65-F5344CB8AC3E}">
        <p14:creationId xmlns:p14="http://schemas.microsoft.com/office/powerpoint/2010/main" val="31458286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F5E479-F304-43E0-9DD7-6ECE0BB1B711}"/>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4-title">
            <a:extLst xmlns:a="http://schemas.openxmlformats.org/drawingml/2006/main">
              <a:ext uri="{FF2B5EF4-FFF2-40B4-BE49-F238E27FC236}">
                <a16:creationId xmlns:a16="http://schemas.microsoft.com/office/drawing/2014/main" id="{75D1F63C-9327-4B72-9129-8688169032A5}"/>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Attack induction was scaffolded—not autonomous</a:t>
            </a:r>
          </a:p>
        </p:txBody>
      </p:sp>
      <p:sp>
        <p:nvSpPr>
          <p:cNvPr id="3" name="">
            <a:extLst xmlns:a="http://schemas.openxmlformats.org/drawingml/2006/main">
              <a:ext uri="{FF2B5EF4-FFF2-40B4-BE49-F238E27FC236}">
                <a16:creationId xmlns:a16="http://schemas.microsoft.com/office/drawing/2014/main" id="{C457683D-8C23-4AC2-AA5B-ED38921DB861}"/>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A5BDC0CE-0622-4406-9B4F-98CF1B3429E7}"/>
              </a:ext>
            </a:extLst>
          </p:cNvPr>
          <p:cNvSpPr>
            <a:spLocks xmlns:a="http://schemas.openxmlformats.org/drawingml/2006/main" noGrp="1"/>
          </p:cNvSpPr>
          <p:nvPr/>
        </p:nvSpPr>
        <p:spPr>
          <a:xfrm xmlns:a="http://schemas.openxmlformats.org/drawingml/2006/main">
            <a:off x="400050" y="1543050"/>
            <a:ext cx="5429250" cy="42862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6CD06E-8FC1-495C-9B93-0E6F7A30042C}"/>
              </a:ext>
            </a:extLst>
          </p:cNvPr>
          <p:cNvSpPr>
            <a:spLocks xmlns:a="http://schemas.openxmlformats.org/drawingml/2006/main" noGrp="1"/>
          </p:cNvSpPr>
          <p:nvPr/>
        </p:nvSpPr>
        <p:spPr>
          <a:xfrm xmlns:a="http://schemas.openxmlformats.org/drawingml/2006/main">
            <a:off x="6191250" y="1543050"/>
            <a:ext cx="5600700" cy="4286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4363782-92FE-4FEB-9BA8-546B59559F92}"/>
              </a:ext>
            </a:extLst>
          </p:cNvPr>
          <p:cNvSpPr>
            <a:spLocks xmlns:a="http://schemas.openxmlformats.org/drawingml/2006/main" noGrp="1"/>
          </p:cNvSpPr>
          <p:nvPr/>
        </p:nvSpPr>
        <p:spPr>
          <a:xfrm xmlns:a="http://schemas.openxmlformats.org/drawingml/2006/main">
            <a:off x="685800" y="1857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Registered execution</a:t>
            </a:r>
          </a:p>
        </p:txBody>
      </p:sp>
      <p:sp>
        <p:nvSpPr>
          <p:cNvPr id="7" name="">
            <a:extLst xmlns:a="http://schemas.openxmlformats.org/drawingml/2006/main">
              <a:ext uri="{FF2B5EF4-FFF2-40B4-BE49-F238E27FC236}">
                <a16:creationId xmlns:a16="http://schemas.microsoft.com/office/drawing/2014/main" id="{57764050-A6DA-4B46-82A2-CAB2EC10E2FA}"/>
              </a:ext>
            </a:extLst>
          </p:cNvPr>
          <p:cNvSpPr>
            <a:spLocks xmlns:a="http://schemas.openxmlformats.org/drawingml/2006/main" noGrp="1"/>
          </p:cNvSpPr>
          <p:nvPr/>
        </p:nvSpPr>
        <p:spPr>
          <a:xfrm xmlns:a="http://schemas.openxmlformats.org/drawingml/2006/main">
            <a:off x="685800" y="2476500"/>
            <a:ext cx="46672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Supplied two-bit codebook</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Exact planner/reviewer actions</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Tests protocol execution and manipulation checks</a:t>
            </a:r>
          </a:p>
        </p:txBody>
      </p:sp>
      <p:sp>
        <p:nvSpPr>
          <p:cNvPr id="8" name="">
            <a:extLst xmlns:a="http://schemas.openxmlformats.org/drawingml/2006/main">
              <a:ext uri="{FF2B5EF4-FFF2-40B4-BE49-F238E27FC236}">
                <a16:creationId xmlns:a16="http://schemas.microsoft.com/office/drawing/2014/main" id="{B775A0DB-A5FB-4312-BFF3-AD6BAB917018}"/>
              </a:ext>
            </a:extLst>
          </p:cNvPr>
          <p:cNvSpPr>
            <a:spLocks xmlns:a="http://schemas.openxmlformats.org/drawingml/2006/main" noGrp="1"/>
          </p:cNvSpPr>
          <p:nvPr/>
        </p:nvSpPr>
        <p:spPr>
          <a:xfrm xmlns:a="http://schemas.openxmlformats.org/drawingml/2006/main">
            <a:off x="6496050" y="18573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Goal-driven pressure</a:t>
            </a:r>
          </a:p>
        </p:txBody>
      </p:sp>
      <p:sp>
        <p:nvSpPr>
          <p:cNvPr id="9" name="">
            <a:extLst xmlns:a="http://schemas.openxmlformats.org/drawingml/2006/main">
              <a:ext uri="{FF2B5EF4-FFF2-40B4-BE49-F238E27FC236}">
                <a16:creationId xmlns:a16="http://schemas.microsoft.com/office/drawing/2014/main" id="{E64D6E4E-7DEC-485C-B4D4-00B4FD5E6370}"/>
              </a:ext>
            </a:extLst>
          </p:cNvPr>
          <p:cNvSpPr>
            <a:spLocks xmlns:a="http://schemas.openxmlformats.org/drawingml/2006/main" noGrp="1"/>
          </p:cNvSpPr>
          <p:nvPr/>
        </p:nvSpPr>
        <p:spPr>
          <a:xfrm xmlns:a="http://schemas.openxmlformats.org/drawingml/2006/main">
            <a:off x="6496050" y="2476500"/>
            <a:ext cx="4762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 Randomized attack onset</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 Low-rate, delayed, memory, and reward objectives</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 Agents see objectives and history—not condition labels</a:t>
            </a:r>
          </a:p>
        </p:txBody>
      </p:sp>
      <p:sp>
        <p:nvSpPr>
          <p:cNvPr id="10" name="">
            <a:extLst xmlns:a="http://schemas.openxmlformats.org/drawingml/2006/main">
              <a:ext uri="{FF2B5EF4-FFF2-40B4-BE49-F238E27FC236}">
                <a16:creationId xmlns:a16="http://schemas.microsoft.com/office/drawing/2014/main" id="{8B5C5AC7-7E09-417E-8BE5-0A3A14555694}"/>
              </a:ext>
            </a:extLst>
          </p:cNvPr>
          <p:cNvSpPr>
            <a:spLocks xmlns:a="http://schemas.openxmlformats.org/drawingml/2006/main" noGrp="1"/>
          </p:cNvSpPr>
          <p:nvPr/>
        </p:nvSpPr>
        <p:spPr>
          <a:xfrm xmlns:a="http://schemas.openxmlformats.org/drawingml/2006/main">
            <a:off x="400050" y="60198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A63434"/>
                </a:solidFill>
                <a:latin typeface="Helvetica Neue"/>
                <a:ea typeface="Helvetica Neue"/>
                <a:cs typeface="Helvetica Neue"/>
              </a:defRPr>
            </a:pPr>
            <a:r>
              <a:rPr sz="1500" b="1">
                <a:solidFill>
                  <a:srgbClr val="A63434"/>
                </a:solidFill>
                <a:latin typeface="Helvetica Neue"/>
                <a:ea typeface="Helvetica Neue"/>
                <a:cs typeface="Helvetica Neue"/>
              </a:rPr>
              <a:t>Not yet run: autonomous collusion discovery or equal-budget LLM best response against each stack.</a:t>
            </a:r>
          </a:p>
        </p:txBody>
      </p:sp>
    </p:spTree>
    <p:extLst>
      <p:ext uri="{BB962C8B-B14F-4D97-AF65-F5344CB8AC3E}">
        <p14:creationId xmlns:p14="http://schemas.microsoft.com/office/powerpoint/2010/main" val="18160911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F5E479-F304-43E0-9DD7-6ECE0BB1B711}"/>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4-title">
            <a:extLst xmlns:a="http://schemas.openxmlformats.org/drawingml/2006/main">
              <a:ext uri="{FF2B5EF4-FFF2-40B4-BE49-F238E27FC236}">
                <a16:creationId xmlns:a16="http://schemas.microsoft.com/office/drawing/2014/main" id="{75D1F63C-9327-4B72-9129-8688169032A5}"/>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Only two studies deploy defenses online</a:t>
            </a:r>
          </a:p>
        </p:txBody>
      </p:sp>
      <p:sp>
        <p:nvSpPr>
          <p:cNvPr id="3" name="">
            <a:extLst xmlns:a="http://schemas.openxmlformats.org/drawingml/2006/main">
              <a:ext uri="{FF2B5EF4-FFF2-40B4-BE49-F238E27FC236}">
                <a16:creationId xmlns:a16="http://schemas.microsoft.com/office/drawing/2014/main" id="{C457683D-8C23-4AC2-AA5B-ED38921DB861}"/>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A5BDC0CE-0622-4406-9B4F-98CF1B3429E7}"/>
              </a:ext>
            </a:extLst>
          </p:cNvPr>
          <p:cNvSpPr>
            <a:spLocks xmlns:a="http://schemas.openxmlformats.org/drawingml/2006/main" noGrp="1"/>
          </p:cNvSpPr>
          <p:nvPr/>
        </p:nvSpPr>
        <p:spPr>
          <a:xfrm xmlns:a="http://schemas.openxmlformats.org/drawingml/2006/main">
            <a:off x="400050" y="1543050"/>
            <a:ext cx="5429250" cy="42862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6CD06E-8FC1-495C-9B93-0E6F7A30042C}"/>
              </a:ext>
            </a:extLst>
          </p:cNvPr>
          <p:cNvSpPr>
            <a:spLocks xmlns:a="http://schemas.openxmlformats.org/drawingml/2006/main" noGrp="1"/>
          </p:cNvSpPr>
          <p:nvPr/>
        </p:nvSpPr>
        <p:spPr>
          <a:xfrm xmlns:a="http://schemas.openxmlformats.org/drawingml/2006/main">
            <a:off x="6191250" y="1543050"/>
            <a:ext cx="5600700" cy="4286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4363782-92FE-4FEB-9BA8-546B59559F92}"/>
              </a:ext>
            </a:extLst>
          </p:cNvPr>
          <p:cNvSpPr>
            <a:spLocks xmlns:a="http://schemas.openxmlformats.org/drawingml/2006/main" noGrp="1"/>
          </p:cNvSpPr>
          <p:nvPr/>
        </p:nvSpPr>
        <p:spPr>
          <a:xfrm xmlns:a="http://schemas.openxmlformats.org/drawingml/2006/main">
            <a:off x="685800" y="1857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Inside the gateway</a:t>
            </a:r>
          </a:p>
        </p:txBody>
      </p:sp>
      <p:sp>
        <p:nvSpPr>
          <p:cNvPr id="7" name="">
            <a:extLst xmlns:a="http://schemas.openxmlformats.org/drawingml/2006/main">
              <a:ext uri="{FF2B5EF4-FFF2-40B4-BE49-F238E27FC236}">
                <a16:creationId xmlns:a16="http://schemas.microsoft.com/office/drawing/2014/main" id="{57764050-A6DA-4B46-82A2-CAB2EC10E2FA}"/>
              </a:ext>
            </a:extLst>
          </p:cNvPr>
          <p:cNvSpPr>
            <a:spLocks xmlns:a="http://schemas.openxmlformats.org/drawingml/2006/main" noGrp="1"/>
          </p:cNvSpPr>
          <p:nvPr/>
        </p:nvSpPr>
        <p:spPr>
          <a:xfrm xmlns:a="http://schemas.openxmlformats.org/drawingml/2006/main">
            <a:off x="685800" y="2476500"/>
            <a:ext cx="46672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Capacity mediator rewrites messages before receipt</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Workflow repair or gate transforms or blocks before external action</a:t>
            </a:r>
          </a:p>
        </p:txBody>
      </p:sp>
      <p:sp>
        <p:nvSpPr>
          <p:cNvPr id="8" name="">
            <a:extLst xmlns:a="http://schemas.openxmlformats.org/drawingml/2006/main">
              <a:ext uri="{FF2B5EF4-FFF2-40B4-BE49-F238E27FC236}">
                <a16:creationId xmlns:a16="http://schemas.microsoft.com/office/drawing/2014/main" id="{B775A0DB-A5FB-4312-BFF3-AD6BAB917018}"/>
              </a:ext>
            </a:extLst>
          </p:cNvPr>
          <p:cNvSpPr>
            <a:spLocks xmlns:a="http://schemas.openxmlformats.org/drawingml/2006/main" noGrp="1"/>
          </p:cNvSpPr>
          <p:nvPr/>
        </p:nvSpPr>
        <p:spPr>
          <a:xfrm xmlns:a="http://schemas.openxmlformats.org/drawingml/2006/main">
            <a:off x="6496050" y="18573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After the trajectory</a:t>
            </a:r>
          </a:p>
        </p:txBody>
      </p:sp>
      <p:sp>
        <p:nvSpPr>
          <p:cNvPr id="9" name="">
            <a:extLst xmlns:a="http://schemas.openxmlformats.org/drawingml/2006/main">
              <a:ext uri="{FF2B5EF4-FFF2-40B4-BE49-F238E27FC236}">
                <a16:creationId xmlns:a16="http://schemas.microsoft.com/office/drawing/2014/main" id="{E64D6E4E-7DEC-485C-B4D4-00B4FD5E6370}"/>
              </a:ext>
            </a:extLst>
          </p:cNvPr>
          <p:cNvSpPr>
            <a:spLocks xmlns:a="http://schemas.openxmlformats.org/drawingml/2006/main" noGrp="1"/>
          </p:cNvSpPr>
          <p:nvPr/>
        </p:nvSpPr>
        <p:spPr>
          <a:xfrm xmlns:a="http://schemas.openxmlformats.org/drawingml/2006/main">
            <a:off x="6496050" y="2476500"/>
            <a:ext cx="4762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 Phase 5 monitors score trace-derived statistics offline</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 Synthetic suite samples outcomes from a known probability model</a:t>
            </a:r>
          </a:p>
        </p:txBody>
      </p:sp>
      <p:sp>
        <p:nvSpPr>
          <p:cNvPr id="10" name="">
            <a:extLst xmlns:a="http://schemas.openxmlformats.org/drawingml/2006/main">
              <a:ext uri="{FF2B5EF4-FFF2-40B4-BE49-F238E27FC236}">
                <a16:creationId xmlns:a16="http://schemas.microsoft.com/office/drawing/2014/main" id="{8B5C5AC7-7E09-417E-8BE5-0A3A14555694}"/>
              </a:ext>
            </a:extLst>
          </p:cNvPr>
          <p:cNvSpPr>
            <a:spLocks xmlns:a="http://schemas.openxmlformats.org/drawingml/2006/main" noGrp="1"/>
          </p:cNvSpPr>
          <p:nvPr/>
        </p:nvSpPr>
        <p:spPr>
          <a:xfrm xmlns:a="http://schemas.openxmlformats.org/drawingml/2006/main">
            <a:off x="400050" y="60198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A63434"/>
                </a:solidFill>
                <a:latin typeface="Helvetica Neue"/>
                <a:ea typeface="Helvetica Neue"/>
                <a:cs typeface="Helvetica Neue"/>
              </a:defRPr>
            </a:pPr>
            <a:r>
              <a:rPr sz="1500" b="1">
                <a:solidFill>
                  <a:srgbClr val="A63434"/>
                </a:solidFill>
                <a:latin typeface="Helvetica Neue"/>
                <a:ea typeface="Helvetica Neue"/>
                <a:cs typeface="Helvetica Neue"/>
              </a:rPr>
              <a:t>Stored: full synthetic outcomes + Phase 5 score shards. Trace-complete 7B reruns add raw events and model outputs.</a:t>
            </a:r>
          </a:p>
        </p:txBody>
      </p:sp>
    </p:spTree>
    <p:extLst>
      <p:ext uri="{BB962C8B-B14F-4D97-AF65-F5344CB8AC3E}">
        <p14:creationId xmlns:p14="http://schemas.microsoft.com/office/powerpoint/2010/main" val="18160911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F5E479-F304-43E0-9DD7-6ECE0BB1B711}"/>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4-title">
            <a:extLst xmlns:a="http://schemas.openxmlformats.org/drawingml/2006/main">
              <a:ext uri="{FF2B5EF4-FFF2-40B4-BE49-F238E27FC236}">
                <a16:creationId xmlns:a16="http://schemas.microsoft.com/office/drawing/2014/main" id="{75D1F63C-9327-4B72-9129-8688169032A5}"/>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Conclusions use effect metrics plus uncertainty</a:t>
            </a:r>
          </a:p>
        </p:txBody>
      </p:sp>
      <p:sp>
        <p:nvSpPr>
          <p:cNvPr id="3" name="">
            <a:extLst xmlns:a="http://schemas.openxmlformats.org/drawingml/2006/main">
              <a:ext uri="{FF2B5EF4-FFF2-40B4-BE49-F238E27FC236}">
                <a16:creationId xmlns:a16="http://schemas.microsoft.com/office/drawing/2014/main" id="{C457683D-8C23-4AC2-AA5B-ED38921DB861}"/>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A5BDC0CE-0622-4406-9B4F-98CF1B3429E7}"/>
              </a:ext>
            </a:extLst>
          </p:cNvPr>
          <p:cNvSpPr>
            <a:spLocks xmlns:a="http://schemas.openxmlformats.org/drawingml/2006/main" noGrp="1"/>
          </p:cNvSpPr>
          <p:nvPr/>
        </p:nvSpPr>
        <p:spPr>
          <a:xfrm xmlns:a="http://schemas.openxmlformats.org/drawingml/2006/main">
            <a:off x="400050" y="1543050"/>
            <a:ext cx="5429250" cy="42862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6CD06E-8FC1-495C-9B93-0E6F7A30042C}"/>
              </a:ext>
            </a:extLst>
          </p:cNvPr>
          <p:cNvSpPr>
            <a:spLocks xmlns:a="http://schemas.openxmlformats.org/drawingml/2006/main" noGrp="1"/>
          </p:cNvSpPr>
          <p:nvPr/>
        </p:nvSpPr>
        <p:spPr>
          <a:xfrm xmlns:a="http://schemas.openxmlformats.org/drawingml/2006/main">
            <a:off x="6191250" y="1543050"/>
            <a:ext cx="5600700" cy="4286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4363782-92FE-4FEB-9BA8-546B59559F92}"/>
              </a:ext>
            </a:extLst>
          </p:cNvPr>
          <p:cNvSpPr>
            <a:spLocks xmlns:a="http://schemas.openxmlformats.org/drawingml/2006/main" noGrp="1"/>
          </p:cNvSpPr>
          <p:nvPr/>
        </p:nvSpPr>
        <p:spPr>
          <a:xfrm xmlns:a="http://schemas.openxmlformats.org/drawingml/2006/main">
            <a:off x="685800" y="1857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Effect metrics</a:t>
            </a:r>
          </a:p>
        </p:txBody>
      </p:sp>
      <p:sp>
        <p:nvSpPr>
          <p:cNvPr id="7" name="">
            <a:extLst xmlns:a="http://schemas.openxmlformats.org/drawingml/2006/main">
              <a:ext uri="{FF2B5EF4-FFF2-40B4-BE49-F238E27FC236}">
                <a16:creationId xmlns:a16="http://schemas.microsoft.com/office/drawing/2014/main" id="{57764050-A6DA-4B46-82A2-CAB2EC10E2FA}"/>
              </a:ext>
            </a:extLst>
          </p:cNvPr>
          <p:cNvSpPr>
            <a:spLocks xmlns:a="http://schemas.openxmlformats.org/drawingml/2006/main" noGrp="1"/>
          </p:cNvSpPr>
          <p:nvPr/>
        </p:nvSpPr>
        <p:spPr>
          <a:xfrm xmlns:a="http://schemas.openxmlformats.org/drawingml/2006/main">
            <a:off x="685800" y="2476500"/>
            <a:ext cx="46672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Attack success, mutual information, exact utility</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Harm, remediation, Γ, realized gain, interaction</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Before-harm intervention</a:t>
            </a:r>
          </a:p>
        </p:txBody>
      </p:sp>
      <p:sp>
        <p:nvSpPr>
          <p:cNvPr id="8" name="">
            <a:extLst xmlns:a="http://schemas.openxmlformats.org/drawingml/2006/main">
              <a:ext uri="{FF2B5EF4-FFF2-40B4-BE49-F238E27FC236}">
                <a16:creationId xmlns:a16="http://schemas.microsoft.com/office/drawing/2014/main" id="{B775A0DB-A5FB-4312-BFF3-AD6BAB917018}"/>
              </a:ext>
            </a:extLst>
          </p:cNvPr>
          <p:cNvSpPr>
            <a:spLocks xmlns:a="http://schemas.openxmlformats.org/drawingml/2006/main" noGrp="1"/>
          </p:cNvSpPr>
          <p:nvPr/>
        </p:nvSpPr>
        <p:spPr>
          <a:xfrm xmlns:a="http://schemas.openxmlformats.org/drawingml/2006/main">
            <a:off x="6496050" y="18573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Uncertainty and selection</a:t>
            </a:r>
          </a:p>
        </p:txBody>
      </p:sp>
      <p:sp>
        <p:nvSpPr>
          <p:cNvPr id="9" name="">
            <a:extLst xmlns:a="http://schemas.openxmlformats.org/drawingml/2006/main">
              <a:ext uri="{FF2B5EF4-FFF2-40B4-BE49-F238E27FC236}">
                <a16:creationId xmlns:a16="http://schemas.microsoft.com/office/drawing/2014/main" id="{E64D6E4E-7DEC-485C-B4D4-00B4FD5E6370}"/>
              </a:ext>
            </a:extLst>
          </p:cNvPr>
          <p:cNvSpPr>
            <a:spLocks xmlns:a="http://schemas.openxmlformats.org/drawingml/2006/main" noGrp="1"/>
          </p:cNvSpPr>
          <p:nvPr/>
        </p:nvSpPr>
        <p:spPr>
          <a:xfrm xmlns:a="http://schemas.openxmlformats.org/drawingml/2006/main">
            <a:off x="6496050" y="2476500"/>
            <a:ext cx="4762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 Wilson 95% bounds</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 Worst-decile CVaR + DKW upper bound</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 Paired Hoeffding lower bound</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 2,000-bootstrap delay; Spearman diagnostic</a:t>
            </a:r>
          </a:p>
        </p:txBody>
      </p:sp>
      <p:sp>
        <p:nvSpPr>
          <p:cNvPr id="10" name="">
            <a:extLst xmlns:a="http://schemas.openxmlformats.org/drawingml/2006/main">
              <a:ext uri="{FF2B5EF4-FFF2-40B4-BE49-F238E27FC236}">
                <a16:creationId xmlns:a16="http://schemas.microsoft.com/office/drawing/2014/main" id="{8B5C5AC7-7E09-417E-8BE5-0A3A14555694}"/>
              </a:ext>
            </a:extLst>
          </p:cNvPr>
          <p:cNvSpPr>
            <a:spLocks xmlns:a="http://schemas.openxmlformats.org/drawingml/2006/main" noGrp="1"/>
          </p:cNvSpPr>
          <p:nvPr/>
        </p:nvSpPr>
        <p:spPr>
          <a:xfrm xmlns:a="http://schemas.openxmlformats.org/drawingml/2006/main">
            <a:off x="400050" y="60198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A63434"/>
                </a:solidFill>
                <a:latin typeface="Helvetica Neue"/>
                <a:ea typeface="Helvetica Neue"/>
                <a:cs typeface="Helvetica Neue"/>
              </a:defRPr>
            </a:pPr>
            <a:r>
              <a:rPr sz="1500" b="1">
                <a:solidFill>
                  <a:srgbClr val="A63434"/>
                </a:solidFill>
                <a:latin typeface="Helvetica Neue"/>
                <a:ea typeface="Helvetica Neue"/>
                <a:cs typeface="Helvetica Neue"/>
              </a:rPr>
              <a:t>Limits: canary intervals are wide; E04 ρ = 0.866 uses only three synthetic stacks and is not confirmatory.</a:t>
            </a:r>
          </a:p>
        </p:txBody>
      </p:sp>
    </p:spTree>
    <p:extLst>
      <p:ext uri="{BB962C8B-B14F-4D97-AF65-F5344CB8AC3E}">
        <p14:creationId xmlns:p14="http://schemas.microsoft.com/office/powerpoint/2010/main" val="18160911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1131C71-3FBE-45E9-B711-EDD3B75D35EC}"/>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6-title">
            <a:extLst xmlns:a="http://schemas.openxmlformats.org/drawingml/2006/main">
              <a:ext uri="{FF2B5EF4-FFF2-40B4-BE49-F238E27FC236}">
                <a16:creationId xmlns:a16="http://schemas.microsoft.com/office/drawing/2014/main" id="{CA9E1DB2-44DE-4718-AAFD-A4928026059A}"/>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Evidence levels are explicit—not interchangeable</a:t>
            </a:r>
          </a:p>
        </p:txBody>
      </p:sp>
      <p:sp>
        <p:nvSpPr>
          <p:cNvPr id="3" name="">
            <a:extLst xmlns:a="http://schemas.openxmlformats.org/drawingml/2006/main">
              <a:ext uri="{FF2B5EF4-FFF2-40B4-BE49-F238E27FC236}">
                <a16:creationId xmlns:a16="http://schemas.microsoft.com/office/drawing/2014/main" id="{C0F74CF4-81B3-48FE-9AEA-F5440C2341C6}"/>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C317BDED-2BE1-4928-97F6-FC2F2BA93993}"/>
              </a:ext>
            </a:extLst>
          </p:cNvPr>
          <p:cNvSpPr>
            <a:spLocks xmlns:a="http://schemas.openxmlformats.org/drawingml/2006/main" noGrp="1"/>
          </p:cNvSpPr>
          <p:nvPr/>
        </p:nvSpPr>
        <p:spPr>
          <a:xfrm xmlns:a="http://schemas.openxmlformats.org/drawingml/2006/main">
            <a:off x="400050" y="1809750"/>
            <a:ext cx="3476625" cy="33337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D2BDC0F-8382-4F57-96E5-060EA267342B}"/>
              </a:ext>
            </a:extLst>
          </p:cNvPr>
          <p:cNvSpPr>
            <a:spLocks xmlns:a="http://schemas.openxmlformats.org/drawingml/2006/main" noGrp="1"/>
          </p:cNvSpPr>
          <p:nvPr/>
        </p:nvSpPr>
        <p:spPr>
          <a:xfrm xmlns:a="http://schemas.openxmlformats.org/drawingml/2006/main">
            <a:off x="400050" y="1809750"/>
            <a:ext cx="95250" cy="3333750"/>
          </a:xfrm>
          <a:prstGeom xmlns:a="http://schemas.openxmlformats.org/drawingml/2006/main" prst="rect">
            <a:avLst/>
          </a:prstGeom>
          <a:solidFill xmlns:a="http://schemas.openxmlformats.org/drawingml/2006/main">
            <a:srgbClr val="5D636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957BA5D-E40A-4135-938D-774336F5BE0A}"/>
              </a:ext>
            </a:extLst>
          </p:cNvPr>
          <p:cNvSpPr>
            <a:spLocks xmlns:a="http://schemas.openxmlformats.org/drawingml/2006/main" noGrp="1"/>
          </p:cNvSpPr>
          <p:nvPr/>
        </p:nvSpPr>
        <p:spPr>
          <a:xfrm xmlns:a="http://schemas.openxmlformats.org/drawingml/2006/main">
            <a:off x="666750" y="2076450"/>
            <a:ext cx="30384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5D636D"/>
                </a:solidFill>
                <a:latin typeface="Helvetica Neue"/>
                <a:ea typeface="Helvetica Neue"/>
                <a:cs typeface="Helvetica Neue"/>
              </a:defRPr>
            </a:pPr>
            <a:r>
              <a:rPr sz="3150" b="1">
                <a:solidFill>
                  <a:srgbClr val="5D636D"/>
                </a:solidFill>
                <a:latin typeface="Helvetica Neue"/>
                <a:ea typeface="Helvetica Neue"/>
                <a:cs typeface="Helvetica Neue"/>
              </a:rPr>
              <a:t>2,400</a:t>
            </a:r>
          </a:p>
        </p:txBody>
      </p:sp>
      <p:sp>
        <p:nvSpPr>
          <p:cNvPr id="7" name="">
            <a:extLst xmlns:a="http://schemas.openxmlformats.org/drawingml/2006/main">
              <a:ext uri="{FF2B5EF4-FFF2-40B4-BE49-F238E27FC236}">
                <a16:creationId xmlns:a16="http://schemas.microsoft.com/office/drawing/2014/main" id="{948BF936-6003-469C-9E55-F76CBEA7BD55}"/>
              </a:ext>
            </a:extLst>
          </p:cNvPr>
          <p:cNvSpPr>
            <a:spLocks xmlns:a="http://schemas.openxmlformats.org/drawingml/2006/main" noGrp="1"/>
          </p:cNvSpPr>
          <p:nvPr/>
        </p:nvSpPr>
        <p:spPr>
          <a:xfrm xmlns:a="http://schemas.openxmlformats.org/drawingml/2006/main">
            <a:off x="666750" y="2933700"/>
            <a:ext cx="303847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Controlled trajectories</a:t>
            </a:r>
          </a:p>
          <a:p xmlns:a="http://schemas.openxmlformats.org/drawingml/2006/main">
            <a:r>
              <a:t/>
            </a:r>
          </a:p>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Validates estimands, leakage controls, selectors, and known positive/negative fixtures.</a:t>
            </a:r>
          </a:p>
        </p:txBody>
      </p:sp>
      <p:sp>
        <p:nvSpPr>
          <p:cNvPr id="8" name="">
            <a:extLst xmlns:a="http://schemas.openxmlformats.org/drawingml/2006/main">
              <a:ext uri="{FF2B5EF4-FFF2-40B4-BE49-F238E27FC236}">
                <a16:creationId xmlns:a16="http://schemas.microsoft.com/office/drawing/2014/main" id="{6EDB8085-898C-4C86-B1FA-6D1D5FF6008B}"/>
              </a:ext>
            </a:extLst>
          </p:cNvPr>
          <p:cNvSpPr>
            <a:spLocks xmlns:a="http://schemas.openxmlformats.org/drawingml/2006/main" noGrp="1"/>
          </p:cNvSpPr>
          <p:nvPr/>
        </p:nvSpPr>
        <p:spPr>
          <a:xfrm xmlns:a="http://schemas.openxmlformats.org/drawingml/2006/main">
            <a:off x="4352925" y="1809750"/>
            <a:ext cx="3476625" cy="33337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8AABD1D-F00F-4EC1-9266-2BE52D1E0BCF}"/>
              </a:ext>
            </a:extLst>
          </p:cNvPr>
          <p:cNvSpPr>
            <a:spLocks xmlns:a="http://schemas.openxmlformats.org/drawingml/2006/main" noGrp="1"/>
          </p:cNvSpPr>
          <p:nvPr/>
        </p:nvSpPr>
        <p:spPr>
          <a:xfrm xmlns:a="http://schemas.openxmlformats.org/drawingml/2006/main">
            <a:off x="4352925" y="1809750"/>
            <a:ext cx="9525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A659B87-AB64-4F51-A371-EF4D948A5ABB}"/>
              </a:ext>
            </a:extLst>
          </p:cNvPr>
          <p:cNvSpPr>
            <a:spLocks xmlns:a="http://schemas.openxmlformats.org/drawingml/2006/main" noGrp="1"/>
          </p:cNvSpPr>
          <p:nvPr/>
        </p:nvSpPr>
        <p:spPr>
          <a:xfrm xmlns:a="http://schemas.openxmlformats.org/drawingml/2006/main">
            <a:off x="4619625" y="2076450"/>
            <a:ext cx="30384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64 + 24</a:t>
            </a:r>
          </a:p>
        </p:txBody>
      </p:sp>
      <p:sp>
        <p:nvSpPr>
          <p:cNvPr id="11" name="">
            <a:extLst xmlns:a="http://schemas.openxmlformats.org/drawingml/2006/main">
              <a:ext uri="{FF2B5EF4-FFF2-40B4-BE49-F238E27FC236}">
                <a16:creationId xmlns:a16="http://schemas.microsoft.com/office/drawing/2014/main" id="{FA1B36BE-585A-435E-AA53-5D01585EE58C}"/>
              </a:ext>
            </a:extLst>
          </p:cNvPr>
          <p:cNvSpPr>
            <a:spLocks xmlns:a="http://schemas.openxmlformats.org/drawingml/2006/main" noGrp="1"/>
          </p:cNvSpPr>
          <p:nvPr/>
        </p:nvSpPr>
        <p:spPr>
          <a:xfrm xmlns:a="http://schemas.openxmlformats.org/drawingml/2006/main">
            <a:off x="4619625" y="2933700"/>
            <a:ext cx="303847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7B mechanism canaries</a:t>
            </a:r>
          </a:p>
          <a:p xmlns:a="http://schemas.openxmlformats.org/drawingml/2006/main">
            <a:r>
              <a:t/>
            </a:r>
          </a:p>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Shows covert-channel and remediation paths execute on pinned Qwen2.5-7B.</a:t>
            </a:r>
          </a:p>
        </p:txBody>
      </p:sp>
      <p:sp>
        <p:nvSpPr>
          <p:cNvPr id="12" name="">
            <a:extLst xmlns:a="http://schemas.openxmlformats.org/drawingml/2006/main">
              <a:ext uri="{FF2B5EF4-FFF2-40B4-BE49-F238E27FC236}">
                <a16:creationId xmlns:a16="http://schemas.microsoft.com/office/drawing/2014/main" id="{7EAC07C0-0BDD-492D-9A25-0C42D64E6656}"/>
              </a:ext>
            </a:extLst>
          </p:cNvPr>
          <p:cNvSpPr>
            <a:spLocks xmlns:a="http://schemas.openxmlformats.org/drawingml/2006/main" noGrp="1"/>
          </p:cNvSpPr>
          <p:nvPr/>
        </p:nvSpPr>
        <p:spPr>
          <a:xfrm xmlns:a="http://schemas.openxmlformats.org/drawingml/2006/main">
            <a:off x="8305800" y="1809750"/>
            <a:ext cx="3486150" cy="33337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C24F48E-FA4D-4F63-B5C6-E8B25428484A}"/>
              </a:ext>
            </a:extLst>
          </p:cNvPr>
          <p:cNvSpPr>
            <a:spLocks xmlns:a="http://schemas.openxmlformats.org/drawingml/2006/main" noGrp="1"/>
          </p:cNvSpPr>
          <p:nvPr/>
        </p:nvSpPr>
        <p:spPr>
          <a:xfrm xmlns:a="http://schemas.openxmlformats.org/drawingml/2006/main">
            <a:off x="8305800" y="1809750"/>
            <a:ext cx="95250" cy="3333750"/>
          </a:xfrm>
          <a:prstGeom xmlns:a="http://schemas.openxmlformats.org/drawingml/2006/main" prst="rect">
            <a:avLst/>
          </a:prstGeom>
          <a:solidFill xmlns:a="http://schemas.openxmlformats.org/drawingml/2006/main">
            <a:srgbClr val="20704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1B2D4F-964F-42B1-8200-323DE068DD6E}"/>
              </a:ext>
            </a:extLst>
          </p:cNvPr>
          <p:cNvSpPr>
            <a:spLocks xmlns:a="http://schemas.openxmlformats.org/drawingml/2006/main" noGrp="1"/>
          </p:cNvSpPr>
          <p:nvPr/>
        </p:nvSpPr>
        <p:spPr>
          <a:xfrm xmlns:a="http://schemas.openxmlformats.org/drawingml/2006/main">
            <a:off x="8572500" y="2076450"/>
            <a:ext cx="304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20704A"/>
                </a:solidFill>
                <a:latin typeface="Helvetica Neue"/>
                <a:ea typeface="Helvetica Neue"/>
                <a:cs typeface="Helvetica Neue"/>
              </a:defRPr>
            </a:pPr>
            <a:r>
              <a:rPr sz="3150" b="1">
                <a:solidFill>
                  <a:srgbClr val="20704A"/>
                </a:solidFill>
                <a:latin typeface="Helvetica Neue"/>
                <a:ea typeface="Helvetica Neue"/>
                <a:cs typeface="Helvetica Neue"/>
              </a:rPr>
              <a:t>900</a:t>
            </a:r>
          </a:p>
        </p:txBody>
      </p:sp>
      <p:sp>
        <p:nvSpPr>
          <p:cNvPr id="15" name="">
            <a:extLst xmlns:a="http://schemas.openxmlformats.org/drawingml/2006/main">
              <a:ext uri="{FF2B5EF4-FFF2-40B4-BE49-F238E27FC236}">
                <a16:creationId xmlns:a16="http://schemas.microsoft.com/office/drawing/2014/main" id="{E76C9C74-72A0-4552-948E-ACA23CC56274}"/>
              </a:ext>
            </a:extLst>
          </p:cNvPr>
          <p:cNvSpPr>
            <a:spLocks xmlns:a="http://schemas.openxmlformats.org/drawingml/2006/main" noGrp="1"/>
          </p:cNvSpPr>
          <p:nvPr/>
        </p:nvSpPr>
        <p:spPr>
          <a:xfrm xmlns:a="http://schemas.openxmlformats.org/drawingml/2006/main">
            <a:off x="8572500" y="2933700"/>
            <a:ext cx="3048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Frozen 7B sequential episodes</a:t>
            </a:r>
          </a:p>
          <a:p xmlns:a="http://schemas.openxmlformats.org/drawingml/2006/main">
            <a:r>
              <a:t/>
            </a:r>
          </a:p>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Supports registered lifetime-error claims—not the full layered conjecture.</a:t>
            </a:r>
          </a:p>
        </p:txBody>
      </p:sp>
      <p:sp>
        <p:nvSpPr>
          <p:cNvPr id="16" name="">
            <a:extLst xmlns:a="http://schemas.openxmlformats.org/drawingml/2006/main">
              <a:ext uri="{FF2B5EF4-FFF2-40B4-BE49-F238E27FC236}">
                <a16:creationId xmlns:a16="http://schemas.microsoft.com/office/drawing/2014/main" id="{A84ABC26-1996-4C7A-9D39-7267C562B8D0}"/>
              </a:ext>
            </a:extLst>
          </p:cNvPr>
          <p:cNvSpPr>
            <a:spLocks xmlns:a="http://schemas.openxmlformats.org/drawingml/2006/main" noGrp="1"/>
          </p:cNvSpPr>
          <p:nvPr/>
        </p:nvSpPr>
        <p:spPr>
          <a:xfrm xmlns:a="http://schemas.openxmlformats.org/drawingml/2006/main">
            <a:off x="400050" y="561975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C86B20"/>
                </a:solidFill>
                <a:latin typeface="Helvetica Neue"/>
                <a:ea typeface="Helvetica Neue"/>
                <a:cs typeface="Helvetica Neue"/>
              </a:defRPr>
            </a:pPr>
            <a:r>
              <a:rPr sz="2100" b="1">
                <a:solidFill>
                  <a:srgbClr val="C86B20"/>
                </a:solidFill>
                <a:latin typeface="Helvetica Neue"/>
                <a:ea typeface="Helvetica Neue"/>
                <a:cs typeface="Helvetica Neue"/>
              </a:rPr>
              <a:t>Overall status: mechanism-backed feasibility; full conjecture unconfirmed.</a:t>
            </a:r>
          </a:p>
        </p:txBody>
      </p:sp>
    </p:spTree>
    <p:extLst>
      <p:ext uri="{BB962C8B-B14F-4D97-AF65-F5344CB8AC3E}">
        <p14:creationId xmlns:p14="http://schemas.microsoft.com/office/powerpoint/2010/main" val="31458286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82E770-9413-4750-8886-127FE3D82DEE}"/>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7-title">
            <a:extLst xmlns:a="http://schemas.openxmlformats.org/drawingml/2006/main">
              <a:ext uri="{FF2B5EF4-FFF2-40B4-BE49-F238E27FC236}">
                <a16:creationId xmlns:a16="http://schemas.microsoft.com/office/drawing/2014/main" id="{1462EBED-5E7F-431A-BF19-FD71AA234E9E}"/>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Typed mediation reduces adapted attack success</a:t>
            </a:r>
          </a:p>
        </p:txBody>
      </p:sp>
      <p:sp>
        <p:nvSpPr>
          <p:cNvPr id="3" name="">
            <a:extLst xmlns:a="http://schemas.openxmlformats.org/drawingml/2006/main">
              <a:ext uri="{FF2B5EF4-FFF2-40B4-BE49-F238E27FC236}">
                <a16:creationId xmlns:a16="http://schemas.microsoft.com/office/drawing/2014/main" id="{5F56FD1D-B3B8-4CF1-B87C-53F33837B1A2}"/>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17</a:t>
            </a:r>
          </a:p>
        </p:txBody>
      </p:sp>
      <p:graphicFrame>
        <p:nvGraphicFramePr>
          <p:cNvPr id="16" name="Chart"/>
          <p:cNvGraphicFramePr/>
          <p:nvPr/>
        </p:nvGraphicFramePr>
        <p:xfrm>
          <a:off xmlns:a="http://schemas.openxmlformats.org/drawingml/2006/main" x="400050" y="1571625"/>
          <a:ext xmlns:a="http://schemas.openxmlformats.org/drawingml/2006/main" cx="7239000" cy="4429125"/>
        </p:xfrm>
        <a:graphic xmlns:a="http://schemas.openxmlformats.org/drawingml/2006/main">
          <a:graphicData uri="http://schemas.openxmlformats.org/drawingml/2006/chart">
            <c:chart xmlns:r="http://schemas.openxmlformats.org/officeDocument/2006/relationships" xmlns:c="http://schemas.openxmlformats.org/drawingml/2006/chart" r:id="Rf49cdf31482048b5"/>
          </a:graphicData>
        </a:graphic>
      </p:graphicFrame>
      <p:sp>
        <p:nvSpPr>
          <p:cNvPr id="5" name="">
            <a:extLst xmlns:a="http://schemas.openxmlformats.org/drawingml/2006/main">
              <a:ext uri="{FF2B5EF4-FFF2-40B4-BE49-F238E27FC236}">
                <a16:creationId xmlns:a16="http://schemas.microsoft.com/office/drawing/2014/main" id="{AB7ACE5B-E8E8-4FC4-8106-33D26A91A67F}"/>
              </a:ext>
            </a:extLst>
          </p:cNvPr>
          <p:cNvSpPr>
            <a:spLocks xmlns:a="http://schemas.openxmlformats.org/drawingml/2006/main" noGrp="1"/>
          </p:cNvSpPr>
          <p:nvPr/>
        </p:nvSpPr>
        <p:spPr>
          <a:xfrm xmlns:a="http://schemas.openxmlformats.org/drawingml/2006/main">
            <a:off x="8096250" y="1762125"/>
            <a:ext cx="3381375" cy="16192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EE2CFBA-E705-4925-899C-F147B4A5C4F8}"/>
              </a:ext>
            </a:extLst>
          </p:cNvPr>
          <p:cNvSpPr>
            <a:spLocks xmlns:a="http://schemas.openxmlformats.org/drawingml/2006/main" noGrp="1"/>
          </p:cNvSpPr>
          <p:nvPr/>
        </p:nvSpPr>
        <p:spPr>
          <a:xfrm xmlns:a="http://schemas.openxmlformats.org/drawingml/2006/main">
            <a:off x="8382000" y="20955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400" b="1">
                <a:solidFill>
                  <a:srgbClr val="20704A"/>
                </a:solidFill>
                <a:latin typeface="Helvetica Neue"/>
                <a:ea typeface="Helvetica Neue"/>
                <a:cs typeface="Helvetica Neue"/>
              </a:defRPr>
            </a:pPr>
            <a:r>
              <a:rPr sz="2400" b="1">
                <a:solidFill>
                  <a:srgbClr val="20704A"/>
                </a:solidFill>
                <a:latin typeface="Helvetica Neue"/>
                <a:ea typeface="Helvetica Neue"/>
                <a:cs typeface="Helvetica Neue"/>
              </a:rPr>
              <a:t>Utility = 1.00</a:t>
            </a:r>
          </a:p>
        </p:txBody>
      </p:sp>
      <p:sp>
        <p:nvSpPr>
          <p:cNvPr id="7" name="">
            <a:extLst xmlns:a="http://schemas.openxmlformats.org/drawingml/2006/main">
              <a:ext uri="{FF2B5EF4-FFF2-40B4-BE49-F238E27FC236}">
                <a16:creationId xmlns:a16="http://schemas.microsoft.com/office/drawing/2014/main" id="{47BE331E-680F-400F-B6A4-3549287B487F}"/>
              </a:ext>
            </a:extLst>
          </p:cNvPr>
          <p:cNvSpPr>
            <a:spLocks xmlns:a="http://schemas.openxmlformats.org/drawingml/2006/main" noGrp="1"/>
          </p:cNvSpPr>
          <p:nvPr/>
        </p:nvSpPr>
        <p:spPr>
          <a:xfrm xmlns:a="http://schemas.openxmlformats.org/drawingml/2006/main">
            <a:off x="8382000" y="265747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5D636D"/>
                </a:solidFill>
                <a:latin typeface="Helvetica Neue"/>
                <a:ea typeface="Helvetica Neue"/>
                <a:cs typeface="Helvetica Neue"/>
              </a:defRPr>
            </a:pPr>
            <a:r>
              <a:rPr sz="1425" b="0">
                <a:solidFill>
                  <a:srgbClr val="5D636D"/>
                </a:solidFill>
                <a:latin typeface="Helvetica Neue"/>
                <a:ea typeface="Helvetica Neue"/>
                <a:cs typeface="Helvetica Neue"/>
              </a:rPr>
              <a:t>in every condition</a:t>
            </a:r>
          </a:p>
        </p:txBody>
      </p:sp>
      <p:sp>
        <p:nvSpPr>
          <p:cNvPr id="8" name="">
            <a:extLst xmlns:a="http://schemas.openxmlformats.org/drawingml/2006/main">
              <a:ext uri="{FF2B5EF4-FFF2-40B4-BE49-F238E27FC236}">
                <a16:creationId xmlns:a16="http://schemas.microsoft.com/office/drawing/2014/main" id="{C7CFEFA4-1619-4CA4-9FCB-794628C032E3}"/>
              </a:ext>
            </a:extLst>
          </p:cNvPr>
          <p:cNvSpPr>
            <a:spLocks xmlns:a="http://schemas.openxmlformats.org/drawingml/2006/main" noGrp="1"/>
          </p:cNvSpPr>
          <p:nvPr/>
        </p:nvSpPr>
        <p:spPr>
          <a:xfrm xmlns:a="http://schemas.openxmlformats.org/drawingml/2006/main">
            <a:off x="8096250" y="376237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What it teaches</a:t>
            </a:r>
          </a:p>
        </p:txBody>
      </p:sp>
      <p:sp>
        <p:nvSpPr>
          <p:cNvPr id="9" name="">
            <a:extLst xmlns:a="http://schemas.openxmlformats.org/drawingml/2006/main">
              <a:ext uri="{FF2B5EF4-FFF2-40B4-BE49-F238E27FC236}">
                <a16:creationId xmlns:a16="http://schemas.microsoft.com/office/drawing/2014/main" id="{BEEDD393-25F8-4C82-B43A-66209D7B3AF6}"/>
              </a:ext>
            </a:extLst>
          </p:cNvPr>
          <p:cNvSpPr>
            <a:spLocks xmlns:a="http://schemas.openxmlformats.org/drawingml/2006/main" noGrp="1"/>
          </p:cNvSpPr>
          <p:nvPr/>
        </p:nvSpPr>
        <p:spPr>
          <a:xfrm xmlns:a="http://schemas.openxmlformats.org/drawingml/2006/main">
            <a:off x="8096250" y="4267200"/>
            <a:ext cx="3238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D636D"/>
                </a:solidFill>
                <a:latin typeface="Helvetica Neue"/>
                <a:ea typeface="Helvetica Neue"/>
                <a:cs typeface="Helvetica Neue"/>
              </a:defRPr>
            </a:pPr>
            <a:r>
              <a:rPr sz="1500" b="0">
                <a:solidFill>
                  <a:srgbClr val="5D636D"/>
                </a:solidFill>
                <a:latin typeface="Helvetica Neue"/>
                <a:ea typeface="Helvetica Neue"/>
                <a:cs typeface="Helvetica Neue"/>
              </a:rPr>
              <a:t>Suppressing one representation does not remove task-compatible channel capacity. The typed schema removes registered carrier degrees of freedom.</a:t>
            </a:r>
          </a:p>
        </p:txBody>
      </p:sp>
      <p:sp>
        <p:nvSpPr>
          <p:cNvPr id="10" name="">
            <a:extLst xmlns:a="http://schemas.openxmlformats.org/drawingml/2006/main">
              <a:ext uri="{FF2B5EF4-FFF2-40B4-BE49-F238E27FC236}">
                <a16:creationId xmlns:a16="http://schemas.microsoft.com/office/drawing/2014/main" id="{CC6D110C-6349-4F49-B810-60959413977D}"/>
              </a:ext>
            </a:extLst>
          </p:cNvPr>
          <p:cNvSpPr>
            <a:spLocks xmlns:a="http://schemas.openxmlformats.org/drawingml/2006/main" noGrp="1"/>
          </p:cNvSpPr>
          <p:nvPr/>
        </p:nvSpPr>
        <p:spPr>
          <a:xfrm xmlns:a="http://schemas.openxmlformats.org/drawingml/2006/main">
            <a:off x="400050" y="6115050"/>
            <a:ext cx="904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D636D"/>
                </a:solidFill>
                <a:latin typeface="Helvetica Neue"/>
                <a:ea typeface="Helvetica Neue"/>
                <a:cs typeface="Helvetica Neue"/>
              </a:defRPr>
            </a:pPr>
            <a:r>
              <a:rPr sz="1200" b="0">
                <a:solidFill>
                  <a:srgbClr val="5D636D"/>
                </a:solidFill>
                <a:latin typeface="Helvetica Neue"/>
                <a:ea typeface="Helvetica Neue"/>
                <a:cs typeface="Helvetica Neue"/>
              </a:rPr>
              <a:t>n = 16 episodes / condition • pinned Qwen2.5-7B • registered codebook</a:t>
            </a:r>
          </a:p>
        </p:txBody>
      </p:sp>
    </p:spTree>
    <p:extLst>
      <p:ext uri="{BB962C8B-B14F-4D97-AF65-F5344CB8AC3E}">
        <p14:creationId xmlns:p14="http://schemas.microsoft.com/office/powerpoint/2010/main" val="94317316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A7FF592-F54F-424F-B66C-2EDC93490645}"/>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8-title">
            <a:extLst xmlns:a="http://schemas.openxmlformats.org/drawingml/2006/main">
              <a:ext uri="{FF2B5EF4-FFF2-40B4-BE49-F238E27FC236}">
                <a16:creationId xmlns:a16="http://schemas.microsoft.com/office/drawing/2014/main" id="{37E69B3F-EBCE-41F9-BF5B-DE90A281A4DF}"/>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Targeted repair preserves utility; hard blocking does not</a:t>
            </a:r>
          </a:p>
        </p:txBody>
      </p:sp>
      <p:sp>
        <p:nvSpPr>
          <p:cNvPr id="3" name="">
            <a:extLst xmlns:a="http://schemas.openxmlformats.org/drawingml/2006/main">
              <a:ext uri="{FF2B5EF4-FFF2-40B4-BE49-F238E27FC236}">
                <a16:creationId xmlns:a16="http://schemas.microsoft.com/office/drawing/2014/main" id="{67FF52A6-7687-4D8D-8774-DA8B2865DFD5}"/>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18</a:t>
            </a:r>
          </a:p>
        </p:txBody>
      </p:sp>
      <p:graphicFrame>
        <p:nvGraphicFramePr>
          <p:cNvPr id="15" name="Chart"/>
          <p:cNvGraphicFramePr/>
          <p:nvPr/>
        </p:nvGraphicFramePr>
        <p:xfrm>
          <a:off xmlns:a="http://schemas.openxmlformats.org/drawingml/2006/main" x="400050" y="1619250"/>
          <a:ext xmlns:a="http://schemas.openxmlformats.org/drawingml/2006/main" cx="7715250" cy="4381500"/>
        </p:xfrm>
        <a:graphic xmlns:a="http://schemas.openxmlformats.org/drawingml/2006/main">
          <a:graphicData uri="http://schemas.openxmlformats.org/drawingml/2006/chart">
            <c:chart xmlns:r="http://schemas.openxmlformats.org/officeDocument/2006/relationships" xmlns:c="http://schemas.openxmlformats.org/drawingml/2006/chart" r:id="Raccc5dac28bd44dd"/>
          </a:graphicData>
        </a:graphic>
      </p:graphicFrame>
      <p:sp>
        <p:nvSpPr>
          <p:cNvPr id="5" name="">
            <a:extLst xmlns:a="http://schemas.openxmlformats.org/drawingml/2006/main">
              <a:ext uri="{FF2B5EF4-FFF2-40B4-BE49-F238E27FC236}">
                <a16:creationId xmlns:a16="http://schemas.microsoft.com/office/drawing/2014/main" id="{861336DE-6A69-48B7-925A-9FBBFA1D7386}"/>
              </a:ext>
            </a:extLst>
          </p:cNvPr>
          <p:cNvSpPr>
            <a:spLocks xmlns:a="http://schemas.openxmlformats.org/drawingml/2006/main" noGrp="1"/>
          </p:cNvSpPr>
          <p:nvPr/>
        </p:nvSpPr>
        <p:spPr>
          <a:xfrm xmlns:a="http://schemas.openxmlformats.org/drawingml/2006/main">
            <a:off x="8572500" y="195262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Registered harmful workflow</a:t>
            </a:r>
          </a:p>
        </p:txBody>
      </p:sp>
      <p:sp>
        <p:nvSpPr>
          <p:cNvPr id="6" name="">
            <a:extLst xmlns:a="http://schemas.openxmlformats.org/drawingml/2006/main">
              <a:ext uri="{FF2B5EF4-FFF2-40B4-BE49-F238E27FC236}">
                <a16:creationId xmlns:a16="http://schemas.microsoft.com/office/drawing/2014/main" id="{523E1665-639F-4D8D-AAF6-60BA29565E05}"/>
              </a:ext>
            </a:extLst>
          </p:cNvPr>
          <p:cNvSpPr>
            <a:spLocks xmlns:a="http://schemas.openxmlformats.org/drawingml/2006/main" noGrp="1"/>
          </p:cNvSpPr>
          <p:nvPr/>
        </p:nvSpPr>
        <p:spPr>
          <a:xfrm xmlns:a="http://schemas.openxmlformats.org/drawingml/2006/main">
            <a:off x="8572500" y="2476500"/>
            <a:ext cx="280987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D636D"/>
                </a:solidFill>
                <a:latin typeface="Helvetica Neue"/>
                <a:ea typeface="Helvetica Neue"/>
                <a:cs typeface="Helvetica Neue"/>
              </a:defRPr>
            </a:pPr>
            <a:r>
              <a:rPr sz="1500" b="0">
                <a:solidFill>
                  <a:srgbClr val="5D636D"/>
                </a:solidFill>
                <a:latin typeface="Helvetica Neue"/>
                <a:ea typeface="Helvetica Neue"/>
                <a:cs typeface="Helvetica Neue"/>
              </a:rPr>
              <a:t>Local policies accept each step. The provenance-aware repair removes the prohibited flow and keeps the legitimate workflow intact.</a:t>
            </a:r>
          </a:p>
        </p:txBody>
      </p:sp>
      <p:sp>
        <p:nvSpPr>
          <p:cNvPr id="7" name="">
            <a:extLst xmlns:a="http://schemas.openxmlformats.org/drawingml/2006/main">
              <a:ext uri="{FF2B5EF4-FFF2-40B4-BE49-F238E27FC236}">
                <a16:creationId xmlns:a16="http://schemas.microsoft.com/office/drawing/2014/main" id="{B8E65D1C-4521-4C14-8E73-BFA9EA6A31A8}"/>
              </a:ext>
            </a:extLst>
          </p:cNvPr>
          <p:cNvSpPr>
            <a:spLocks xmlns:a="http://schemas.openxmlformats.org/drawingml/2006/main" noGrp="1"/>
          </p:cNvSpPr>
          <p:nvPr/>
        </p:nvSpPr>
        <p:spPr>
          <a:xfrm xmlns:a="http://schemas.openxmlformats.org/drawingml/2006/main">
            <a:off x="8572500" y="4524375"/>
            <a:ext cx="2809875" cy="10668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CFE992A-B0CB-45BF-83A8-810CA4BE3C1E}"/>
              </a:ext>
            </a:extLst>
          </p:cNvPr>
          <p:cNvSpPr>
            <a:spLocks xmlns:a="http://schemas.openxmlformats.org/drawingml/2006/main" noGrp="1"/>
          </p:cNvSpPr>
          <p:nvPr/>
        </p:nvSpPr>
        <p:spPr>
          <a:xfrm xmlns:a="http://schemas.openxmlformats.org/drawingml/2006/main">
            <a:off x="8810625" y="476250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C86B20"/>
                </a:solidFill>
                <a:latin typeface="Helvetica Neue"/>
                <a:ea typeface="Helvetica Neue"/>
                <a:cs typeface="Helvetica Neue"/>
              </a:defRPr>
            </a:pPr>
            <a:r>
              <a:rPr sz="1875" b="1">
                <a:solidFill>
                  <a:srgbClr val="C86B20"/>
                </a:solidFill>
                <a:latin typeface="Helvetica Neue"/>
                <a:ea typeface="Helvetica Neue"/>
                <a:cs typeface="Helvetica Neue"/>
              </a:rPr>
              <a:t>n = 4 / condition</a:t>
            </a:r>
          </a:p>
        </p:txBody>
      </p:sp>
      <p:sp>
        <p:nvSpPr>
          <p:cNvPr id="9" name="">
            <a:extLst xmlns:a="http://schemas.openxmlformats.org/drawingml/2006/main">
              <a:ext uri="{FF2B5EF4-FFF2-40B4-BE49-F238E27FC236}">
                <a16:creationId xmlns:a16="http://schemas.microsoft.com/office/drawing/2014/main" id="{9EF781DF-D651-4B12-9D04-D8E702478741}"/>
              </a:ext>
            </a:extLst>
          </p:cNvPr>
          <p:cNvSpPr>
            <a:spLocks xmlns:a="http://schemas.openxmlformats.org/drawingml/2006/main" noGrp="1"/>
          </p:cNvSpPr>
          <p:nvPr/>
        </p:nvSpPr>
        <p:spPr>
          <a:xfrm xmlns:a="http://schemas.openxmlformats.org/drawingml/2006/main">
            <a:off x="8810625" y="521970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D636D"/>
                </a:solidFill>
                <a:latin typeface="Helvetica Neue"/>
                <a:ea typeface="Helvetica Neue"/>
                <a:cs typeface="Helvetica Neue"/>
              </a:defRPr>
            </a:pPr>
            <a:r>
              <a:rPr sz="1275" b="0">
                <a:solidFill>
                  <a:srgbClr val="5D636D"/>
                </a:solidFill>
                <a:latin typeface="Helvetica Neue"/>
                <a:ea typeface="Helvetica Neue"/>
                <a:cs typeface="Helvetica Neue"/>
              </a:rPr>
              <a:t>feasibility—not confirmation</a:t>
            </a:r>
          </a:p>
        </p:txBody>
      </p:sp>
    </p:spTree>
    <p:extLst>
      <p:ext uri="{BB962C8B-B14F-4D97-AF65-F5344CB8AC3E}">
        <p14:creationId xmlns:p14="http://schemas.microsoft.com/office/powerpoint/2010/main" val="50511396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5F19709-49B3-47B4-A352-F9AE71F7823F}"/>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9-title">
            <a:extLst xmlns:a="http://schemas.openxmlformats.org/drawingml/2006/main">
              <a:ext uri="{FF2B5EF4-FFF2-40B4-BE49-F238E27FC236}">
                <a16:creationId xmlns:a16="http://schemas.microsoft.com/office/drawing/2014/main" id="{A9FD2FB8-3B79-426E-89BC-EA226EF83EA5}"/>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Low-rate harms expose the monitoring gap</a:t>
            </a:r>
          </a:p>
        </p:txBody>
      </p:sp>
      <p:sp>
        <p:nvSpPr>
          <p:cNvPr id="3" name="">
            <a:extLst xmlns:a="http://schemas.openxmlformats.org/drawingml/2006/main">
              <a:ext uri="{FF2B5EF4-FFF2-40B4-BE49-F238E27FC236}">
                <a16:creationId xmlns:a16="http://schemas.microsoft.com/office/drawing/2014/main" id="{73DEA8DB-6990-475F-93D5-F0B76B8ED298}"/>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19</a:t>
            </a:r>
          </a:p>
        </p:txBody>
      </p:sp>
      <p:graphicFrame>
        <p:nvGraphicFramePr>
          <p:cNvPr id="19" name="Chart"/>
          <p:cNvGraphicFramePr/>
          <p:nvPr/>
        </p:nvGraphicFramePr>
        <p:xfrm>
          <a:off xmlns:a="http://schemas.openxmlformats.org/drawingml/2006/main" x="400050" y="1666875"/>
          <a:ext xmlns:a="http://schemas.openxmlformats.org/drawingml/2006/main" cx="7239000" cy="4286250"/>
        </p:xfrm>
        <a:graphic xmlns:a="http://schemas.openxmlformats.org/drawingml/2006/main">
          <a:graphicData uri="http://schemas.openxmlformats.org/drawingml/2006/chart">
            <c:chart xmlns:r="http://schemas.openxmlformats.org/officeDocument/2006/relationships" xmlns:c="http://schemas.openxmlformats.org/drawingml/2006/chart" r:id="Rcc3ecebae2c84698"/>
          </a:graphicData>
        </a:graphic>
      </p:graphicFrame>
      <p:sp>
        <p:nvSpPr>
          <p:cNvPr id="5" name="">
            <a:extLst xmlns:a="http://schemas.openxmlformats.org/drawingml/2006/main">
              <a:ext uri="{FF2B5EF4-FFF2-40B4-BE49-F238E27FC236}">
                <a16:creationId xmlns:a16="http://schemas.microsoft.com/office/drawing/2014/main" id="{B71C860C-840B-426E-A2CD-BA5BCAD1145D}"/>
              </a:ext>
            </a:extLst>
          </p:cNvPr>
          <p:cNvSpPr>
            <a:spLocks xmlns:a="http://schemas.openxmlformats.org/drawingml/2006/main" noGrp="1"/>
          </p:cNvSpPr>
          <p:nvPr/>
        </p:nvSpPr>
        <p:spPr>
          <a:xfrm xmlns:a="http://schemas.openxmlformats.org/drawingml/2006/main">
            <a:off x="8096250" y="1809750"/>
            <a:ext cx="3381375" cy="176212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5AFD91F-0C48-4C0B-8A49-221BD8F274CE}"/>
              </a:ext>
            </a:extLst>
          </p:cNvPr>
          <p:cNvSpPr>
            <a:spLocks xmlns:a="http://schemas.openxmlformats.org/drawingml/2006/main" noGrp="1"/>
          </p:cNvSpPr>
          <p:nvPr/>
        </p:nvSpPr>
        <p:spPr>
          <a:xfrm xmlns:a="http://schemas.openxmlformats.org/drawingml/2006/main">
            <a:off x="8096250" y="1809750"/>
            <a:ext cx="95250" cy="1762125"/>
          </a:xfrm>
          <a:prstGeom xmlns:a="http://schemas.openxmlformats.org/drawingml/2006/main" prst="rect">
            <a:avLst/>
          </a:prstGeom>
          <a:solidFill xmlns:a="http://schemas.openxmlformats.org/drawingml/2006/main">
            <a:srgbClr val="20704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C8B0137-B802-46B0-AC98-5F55509B9660}"/>
              </a:ext>
            </a:extLst>
          </p:cNvPr>
          <p:cNvSpPr>
            <a:spLocks xmlns:a="http://schemas.openxmlformats.org/drawingml/2006/main" noGrp="1"/>
          </p:cNvSpPr>
          <p:nvPr/>
        </p:nvSpPr>
        <p:spPr>
          <a:xfrm xmlns:a="http://schemas.openxmlformats.org/drawingml/2006/main">
            <a:off x="8362950" y="2076450"/>
            <a:ext cx="29432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20704A"/>
                </a:solidFill>
                <a:latin typeface="Helvetica Neue"/>
                <a:ea typeface="Helvetica Neue"/>
                <a:cs typeface="Helvetica Neue"/>
              </a:defRPr>
            </a:pPr>
            <a:r>
              <a:rPr sz="3150" b="1">
                <a:solidFill>
                  <a:srgbClr val="20704A"/>
                </a:solidFill>
                <a:latin typeface="Helvetica Neue"/>
                <a:ea typeface="Helvetica Neue"/>
                <a:cs typeface="Helvetica Neue"/>
              </a:rPr>
              <a:t>0.0458</a:t>
            </a:r>
          </a:p>
        </p:txBody>
      </p:sp>
      <p:sp>
        <p:nvSpPr>
          <p:cNvPr id="8" name="">
            <a:extLst xmlns:a="http://schemas.openxmlformats.org/drawingml/2006/main">
              <a:ext uri="{FF2B5EF4-FFF2-40B4-BE49-F238E27FC236}">
                <a16:creationId xmlns:a16="http://schemas.microsoft.com/office/drawing/2014/main" id="{74716A40-E1BB-495B-97BA-208EF766BE3C}"/>
              </a:ext>
            </a:extLst>
          </p:cNvPr>
          <p:cNvSpPr>
            <a:spLocks xmlns:a="http://schemas.openxmlformats.org/drawingml/2006/main" noGrp="1"/>
          </p:cNvSpPr>
          <p:nvPr/>
        </p:nvSpPr>
        <p:spPr>
          <a:xfrm xmlns:a="http://schemas.openxmlformats.org/drawingml/2006/main">
            <a:off x="8362950" y="2933700"/>
            <a:ext cx="29432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Benign lifetime-alarm 95% upper bound</a:t>
            </a:r>
          </a:p>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0 / 80 alarms in each benign test stratum</a:t>
            </a:r>
          </a:p>
        </p:txBody>
      </p:sp>
      <p:sp>
        <p:nvSpPr>
          <p:cNvPr id="9" name="">
            <a:extLst xmlns:a="http://schemas.openxmlformats.org/drawingml/2006/main">
              <a:ext uri="{FF2B5EF4-FFF2-40B4-BE49-F238E27FC236}">
                <a16:creationId xmlns:a16="http://schemas.microsoft.com/office/drawing/2014/main" id="{7C96E82A-EAE2-42DB-A313-26A96688FA20}"/>
              </a:ext>
            </a:extLst>
          </p:cNvPr>
          <p:cNvSpPr>
            <a:spLocks xmlns:a="http://schemas.openxmlformats.org/drawingml/2006/main" noGrp="1"/>
          </p:cNvSpPr>
          <p:nvPr/>
        </p:nvSpPr>
        <p:spPr>
          <a:xfrm xmlns:a="http://schemas.openxmlformats.org/drawingml/2006/main">
            <a:off x="8096250" y="3905250"/>
            <a:ext cx="3381375" cy="176212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A248122-591F-442F-A6E9-A17FACD18FBC}"/>
              </a:ext>
            </a:extLst>
          </p:cNvPr>
          <p:cNvSpPr>
            <a:spLocks xmlns:a="http://schemas.openxmlformats.org/drawingml/2006/main" noGrp="1"/>
          </p:cNvSpPr>
          <p:nvPr/>
        </p:nvSpPr>
        <p:spPr>
          <a:xfrm xmlns:a="http://schemas.openxmlformats.org/drawingml/2006/main">
            <a:off x="8096250" y="3905250"/>
            <a:ext cx="95250" cy="1762125"/>
          </a:xfrm>
          <a:prstGeom xmlns:a="http://schemas.openxmlformats.org/drawingml/2006/main" prst="rect">
            <a:avLst/>
          </a:prstGeom>
          <a:solidFill xmlns:a="http://schemas.openxmlformats.org/drawingml/2006/main">
            <a:srgbClr val="C86B2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AFF2722-13A5-495B-BC3C-29CD6B018EE3}"/>
              </a:ext>
            </a:extLst>
          </p:cNvPr>
          <p:cNvSpPr>
            <a:spLocks xmlns:a="http://schemas.openxmlformats.org/drawingml/2006/main" noGrp="1"/>
          </p:cNvSpPr>
          <p:nvPr/>
        </p:nvSpPr>
        <p:spPr>
          <a:xfrm xmlns:a="http://schemas.openxmlformats.org/drawingml/2006/main">
            <a:off x="8362950" y="4171950"/>
            <a:ext cx="29432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C86B20"/>
                </a:solidFill>
                <a:latin typeface="Helvetica Neue"/>
                <a:ea typeface="Helvetica Neue"/>
                <a:cs typeface="Helvetica Neue"/>
              </a:defRPr>
            </a:pPr>
            <a:r>
              <a:rPr sz="3150" b="1">
                <a:solidFill>
                  <a:srgbClr val="C86B20"/>
                </a:solidFill>
                <a:latin typeface="Helvetica Neue"/>
                <a:ea typeface="Helvetica Neue"/>
                <a:cs typeface="Helvetica Neue"/>
              </a:rPr>
              <a:t>Same rates</a:t>
            </a:r>
          </a:p>
        </p:txBody>
      </p:sp>
      <p:sp>
        <p:nvSpPr>
          <p:cNvPr id="12" name="">
            <a:extLst xmlns:a="http://schemas.openxmlformats.org/drawingml/2006/main">
              <a:ext uri="{FF2B5EF4-FFF2-40B4-BE49-F238E27FC236}">
                <a16:creationId xmlns:a16="http://schemas.microsoft.com/office/drawing/2014/main" id="{F95B92C4-F32E-43FE-B2ED-5AE3137825AA}"/>
              </a:ext>
            </a:extLst>
          </p:cNvPr>
          <p:cNvSpPr>
            <a:spLocks xmlns:a="http://schemas.openxmlformats.org/drawingml/2006/main" noGrp="1"/>
          </p:cNvSpPr>
          <p:nvPr/>
        </p:nvSpPr>
        <p:spPr>
          <a:xfrm xmlns:a="http://schemas.openxmlformats.org/drawingml/2006/main">
            <a:off x="8362950" y="5029200"/>
            <a:ext cx="29432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All monitors calibrated to zero thresholds; the e-process was often slower.</a:t>
            </a:r>
          </a:p>
        </p:txBody>
      </p:sp>
      <p:sp>
        <p:nvSpPr>
          <p:cNvPr id="13" name="">
            <a:extLst xmlns:a="http://schemas.openxmlformats.org/drawingml/2006/main">
              <a:ext uri="{FF2B5EF4-FFF2-40B4-BE49-F238E27FC236}">
                <a16:creationId xmlns:a16="http://schemas.microsoft.com/office/drawing/2014/main" id="{DD7DCF22-AAD9-4EA9-B3D5-FFECAD977BF7}"/>
              </a:ext>
            </a:extLst>
          </p:cNvPr>
          <p:cNvSpPr>
            <a:spLocks xmlns:a="http://schemas.openxmlformats.org/drawingml/2006/main" noGrp="1"/>
          </p:cNvSpPr>
          <p:nvPr/>
        </p:nvSpPr>
        <p:spPr>
          <a:xfrm xmlns:a="http://schemas.openxmlformats.org/drawingml/2006/main">
            <a:off x="400050" y="6115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D636D"/>
                </a:solidFill>
                <a:latin typeface="Helvetica Neue"/>
                <a:ea typeface="Helvetica Neue"/>
                <a:cs typeface="Helvetica Neue"/>
              </a:defRPr>
            </a:pPr>
            <a:r>
              <a:rPr sz="1200" b="0">
                <a:solidFill>
                  <a:srgbClr val="5D636D"/>
                </a:solidFill>
                <a:latin typeface="Helvetica Neue"/>
                <a:ea typeface="Helvetica Neue"/>
                <a:cs typeface="Helvetica Neue"/>
              </a:rPr>
              <a:t>Frozen test: 560 episodes • 80 / condition • Qwen2.5-7B</a:t>
            </a:r>
          </a:p>
        </p:txBody>
      </p:sp>
    </p:spTree>
    <p:extLst>
      <p:ext uri="{BB962C8B-B14F-4D97-AF65-F5344CB8AC3E}">
        <p14:creationId xmlns:p14="http://schemas.microsoft.com/office/powerpoint/2010/main" val="1817878420"/>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310ECD3-08AE-4304-97E2-ABA54357479E}"/>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10-title">
            <a:extLst xmlns:a="http://schemas.openxmlformats.org/drawingml/2006/main">
              <a:ext uri="{FF2B5EF4-FFF2-40B4-BE49-F238E27FC236}">
                <a16:creationId xmlns:a16="http://schemas.microsoft.com/office/drawing/2014/main" id="{E07834F3-1512-4A27-BD49-56266779D743}"/>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Controlled mechanisms pass; selector superiority does not</a:t>
            </a:r>
          </a:p>
        </p:txBody>
      </p:sp>
      <p:sp>
        <p:nvSpPr>
          <p:cNvPr id="3" name="">
            <a:extLst xmlns:a="http://schemas.openxmlformats.org/drawingml/2006/main">
              <a:ext uri="{FF2B5EF4-FFF2-40B4-BE49-F238E27FC236}">
                <a16:creationId xmlns:a16="http://schemas.microsoft.com/office/drawing/2014/main" id="{779D766C-49B7-429F-A581-E931604A8FE8}"/>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4A392410-FACB-4AF5-9012-FFC9E47843C1}"/>
              </a:ext>
            </a:extLst>
          </p:cNvPr>
          <p:cNvSpPr>
            <a:spLocks xmlns:a="http://schemas.openxmlformats.org/drawingml/2006/main" noGrp="1"/>
          </p:cNvSpPr>
          <p:nvPr/>
        </p:nvSpPr>
        <p:spPr>
          <a:xfrm xmlns:a="http://schemas.openxmlformats.org/drawingml/2006/main">
            <a:off x="476250" y="15811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5D636D"/>
                </a:solidFill>
                <a:latin typeface="Helvetica Neue"/>
                <a:ea typeface="Helvetica Neue"/>
                <a:cs typeface="Helvetica Neue"/>
              </a:defRPr>
            </a:pPr>
            <a:r>
              <a:rPr sz="1275" b="1">
                <a:solidFill>
                  <a:srgbClr val="5D636D"/>
                </a:solidFill>
                <a:latin typeface="Helvetica Neue"/>
                <a:ea typeface="Helvetica Neue"/>
                <a:cs typeface="Helvetica Neue"/>
              </a:rPr>
              <a:t>ID</a:t>
            </a:r>
          </a:p>
        </p:txBody>
      </p:sp>
      <p:sp>
        <p:nvSpPr>
          <p:cNvPr id="5" name="">
            <a:extLst xmlns:a="http://schemas.openxmlformats.org/drawingml/2006/main">
              <a:ext uri="{FF2B5EF4-FFF2-40B4-BE49-F238E27FC236}">
                <a16:creationId xmlns:a16="http://schemas.microsoft.com/office/drawing/2014/main" id="{F7690FD0-06E6-4DB6-947B-F1EEFE290E75}"/>
              </a:ext>
            </a:extLst>
          </p:cNvPr>
          <p:cNvSpPr>
            <a:spLocks xmlns:a="http://schemas.openxmlformats.org/drawingml/2006/main" noGrp="1"/>
          </p:cNvSpPr>
          <p:nvPr/>
        </p:nvSpPr>
        <p:spPr>
          <a:xfrm xmlns:a="http://schemas.openxmlformats.org/drawingml/2006/main">
            <a:off x="1285875" y="15811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5D636D"/>
                </a:solidFill>
                <a:latin typeface="Helvetica Neue"/>
                <a:ea typeface="Helvetica Neue"/>
                <a:cs typeface="Helvetica Neue"/>
              </a:defRPr>
            </a:pPr>
            <a:r>
              <a:rPr sz="1275" b="1">
                <a:solidFill>
                  <a:srgbClr val="5D636D"/>
                </a:solidFill>
                <a:latin typeface="Helvetica Neue"/>
                <a:ea typeface="Helvetica Neue"/>
                <a:cs typeface="Helvetica Neue"/>
              </a:rPr>
              <a:t>QUESTION</a:t>
            </a:r>
          </a:p>
        </p:txBody>
      </p:sp>
      <p:sp>
        <p:nvSpPr>
          <p:cNvPr id="6" name="">
            <a:extLst xmlns:a="http://schemas.openxmlformats.org/drawingml/2006/main">
              <a:ext uri="{FF2B5EF4-FFF2-40B4-BE49-F238E27FC236}">
                <a16:creationId xmlns:a16="http://schemas.microsoft.com/office/drawing/2014/main" id="{BDECB01F-1972-446C-8808-A0CCD550671E}"/>
              </a:ext>
            </a:extLst>
          </p:cNvPr>
          <p:cNvSpPr>
            <a:spLocks xmlns:a="http://schemas.openxmlformats.org/drawingml/2006/main" noGrp="1"/>
          </p:cNvSpPr>
          <p:nvPr/>
        </p:nvSpPr>
        <p:spPr>
          <a:xfrm xmlns:a="http://schemas.openxmlformats.org/drawingml/2006/main">
            <a:off x="4095750" y="1581150"/>
            <a:ext cx="519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5D636D"/>
                </a:solidFill>
                <a:latin typeface="Helvetica Neue"/>
                <a:ea typeface="Helvetica Neue"/>
                <a:cs typeface="Helvetica Neue"/>
              </a:defRPr>
            </a:pPr>
            <a:r>
              <a:rPr sz="1275" b="1">
                <a:solidFill>
                  <a:srgbClr val="5D636D"/>
                </a:solidFill>
                <a:latin typeface="Helvetica Neue"/>
                <a:ea typeface="Helvetica Neue"/>
                <a:cs typeface="Helvetica Neue"/>
              </a:rPr>
              <a:t>PRIMARY CONTROLLED RESULT</a:t>
            </a:r>
          </a:p>
        </p:txBody>
      </p:sp>
      <p:sp>
        <p:nvSpPr>
          <p:cNvPr id="7" name="">
            <a:extLst xmlns:a="http://schemas.openxmlformats.org/drawingml/2006/main">
              <a:ext uri="{FF2B5EF4-FFF2-40B4-BE49-F238E27FC236}">
                <a16:creationId xmlns:a16="http://schemas.microsoft.com/office/drawing/2014/main" id="{41ACECBB-4FF3-44E9-8319-A035E4FAFAC6}"/>
              </a:ext>
            </a:extLst>
          </p:cNvPr>
          <p:cNvSpPr>
            <a:spLocks xmlns:a="http://schemas.openxmlformats.org/drawingml/2006/main" noGrp="1"/>
          </p:cNvSpPr>
          <p:nvPr/>
        </p:nvSpPr>
        <p:spPr>
          <a:xfrm xmlns:a="http://schemas.openxmlformats.org/drawingml/2006/main">
            <a:off x="9858375" y="15811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5D636D"/>
                </a:solidFill>
                <a:latin typeface="Helvetica Neue"/>
                <a:ea typeface="Helvetica Neue"/>
                <a:cs typeface="Helvetica Neue"/>
              </a:defRPr>
            </a:pPr>
            <a:r>
              <a:rPr sz="1275" b="1">
                <a:solidFill>
                  <a:srgbClr val="5D636D"/>
                </a:solidFill>
                <a:latin typeface="Helvetica Neue"/>
                <a:ea typeface="Helvetica Neue"/>
                <a:cs typeface="Helvetica Neue"/>
              </a:rPr>
              <a:t>GATE</a:t>
            </a:r>
          </a:p>
        </p:txBody>
      </p:sp>
      <p:cxnSp>
        <p:nvCxnSpPr>
          <p:cNvPr id="88" name=""/>
          <p:cNvCxnSpPr/>
          <p:nvPr/>
        </p:nvCxnSpPr>
        <p:spPr>
          <a:xfrm xmlns:a="http://schemas.openxmlformats.org/drawingml/2006/main">
            <a:off x="400050" y="1943100"/>
            <a:ext cx="11391900" cy="0"/>
          </a:xfrm>
          <a:prstGeom xmlns:a="http://schemas.openxmlformats.org/drawingml/2006/main" prst="straightConnector1">
            <a:avLst/>
          </a:prstGeom>
          <a:ln xmlns:a="http://schemas.openxmlformats.org/drawingml/2006/main" w="19050">
            <a:solidFill>
              <a:srgbClr val="000000"/>
            </a:solidFill>
            <a:prstDash val="solid"/>
          </a:ln>
        </p:spPr>
      </p:cxnSp>
      <p:sp>
        <p:nvSpPr>
          <p:cNvPr id="9" name="">
            <a:extLst xmlns:a="http://schemas.openxmlformats.org/drawingml/2006/main">
              <a:ext uri="{FF2B5EF4-FFF2-40B4-BE49-F238E27FC236}">
                <a16:creationId xmlns:a16="http://schemas.microsoft.com/office/drawing/2014/main" id="{BC3959C0-5CF5-46FF-95A8-B49BF9450EED}"/>
              </a:ext>
            </a:extLst>
          </p:cNvPr>
          <p:cNvSpPr>
            <a:spLocks xmlns:a="http://schemas.openxmlformats.org/drawingml/2006/main" noGrp="1"/>
          </p:cNvSpPr>
          <p:nvPr/>
        </p:nvSpPr>
        <p:spPr>
          <a:xfrm xmlns:a="http://schemas.openxmlformats.org/drawingml/2006/main">
            <a:off x="400050" y="2019300"/>
            <a:ext cx="11391900" cy="6858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AA9A9D8-6F11-42C5-AD56-63A26CC97D8F}"/>
              </a:ext>
            </a:extLst>
          </p:cNvPr>
          <p:cNvSpPr>
            <a:spLocks xmlns:a="http://schemas.openxmlformats.org/drawingml/2006/main" noGrp="1"/>
          </p:cNvSpPr>
          <p:nvPr/>
        </p:nvSpPr>
        <p:spPr>
          <a:xfrm xmlns:a="http://schemas.openxmlformats.org/drawingml/2006/main">
            <a:off x="476250" y="2114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E01</a:t>
            </a:r>
          </a:p>
        </p:txBody>
      </p:sp>
      <p:sp>
        <p:nvSpPr>
          <p:cNvPr id="11" name="">
            <a:extLst xmlns:a="http://schemas.openxmlformats.org/drawingml/2006/main">
              <a:ext uri="{FF2B5EF4-FFF2-40B4-BE49-F238E27FC236}">
                <a16:creationId xmlns:a16="http://schemas.microsoft.com/office/drawing/2014/main" id="{E4AB5759-755D-4F48-BBF0-3A52CF17B60F}"/>
              </a:ext>
            </a:extLst>
          </p:cNvPr>
          <p:cNvSpPr>
            <a:spLocks xmlns:a="http://schemas.openxmlformats.org/drawingml/2006/main" noGrp="1"/>
          </p:cNvSpPr>
          <p:nvPr/>
        </p:nvSpPr>
        <p:spPr>
          <a:xfrm xmlns:a="http://schemas.openxmlformats.org/drawingml/2006/main">
            <a:off x="1285875" y="21145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Selector comparison</a:t>
            </a:r>
          </a:p>
        </p:txBody>
      </p:sp>
      <p:sp>
        <p:nvSpPr>
          <p:cNvPr id="12" name="">
            <a:extLst xmlns:a="http://schemas.openxmlformats.org/drawingml/2006/main">
              <a:ext uri="{FF2B5EF4-FFF2-40B4-BE49-F238E27FC236}">
                <a16:creationId xmlns:a16="http://schemas.microsoft.com/office/drawing/2014/main" id="{FE09F39D-BB0F-448D-96CD-FD5FC5AA92F7}"/>
              </a:ext>
            </a:extLst>
          </p:cNvPr>
          <p:cNvSpPr>
            <a:spLocks xmlns:a="http://schemas.openxmlformats.org/drawingml/2006/main" noGrp="1"/>
          </p:cNvSpPr>
          <p:nvPr/>
        </p:nvSpPr>
        <p:spPr>
          <a:xfrm xmlns:a="http://schemas.openxmlformats.org/drawingml/2006/main">
            <a:off x="4095750" y="2114550"/>
            <a:ext cx="519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0.00 improvement; all choose diverse-stack</a:t>
            </a:r>
          </a:p>
        </p:txBody>
      </p:sp>
      <p:sp>
        <p:nvSpPr>
          <p:cNvPr id="13" name="">
            <a:extLst xmlns:a="http://schemas.openxmlformats.org/drawingml/2006/main">
              <a:ext uri="{FF2B5EF4-FFF2-40B4-BE49-F238E27FC236}">
                <a16:creationId xmlns:a16="http://schemas.microsoft.com/office/drawing/2014/main" id="{B5D2D3CA-72DC-4411-B627-E259685AF77E}"/>
              </a:ext>
            </a:extLst>
          </p:cNvPr>
          <p:cNvSpPr>
            <a:spLocks xmlns:a="http://schemas.openxmlformats.org/drawingml/2006/main" noGrp="1"/>
          </p:cNvSpPr>
          <p:nvPr/>
        </p:nvSpPr>
        <p:spPr>
          <a:xfrm xmlns:a="http://schemas.openxmlformats.org/drawingml/2006/main">
            <a:off x="9858375" y="21145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C86B20"/>
                </a:solidFill>
                <a:latin typeface="Helvetica Neue"/>
                <a:ea typeface="Helvetica Neue"/>
                <a:cs typeface="Helvetica Neue"/>
              </a:defRPr>
            </a:pPr>
            <a:r>
              <a:rPr sz="1425" b="1">
                <a:solidFill>
                  <a:srgbClr val="C86B20"/>
                </a:solidFill>
                <a:latin typeface="Helvetica Neue"/>
                <a:ea typeface="Helvetica Neue"/>
                <a:cs typeface="Helvetica Neue"/>
              </a:rPr>
              <a:t>NO CONTRAST</a:t>
            </a:r>
          </a:p>
        </p:txBody>
      </p:sp>
      <p:sp>
        <p:nvSpPr>
          <p:cNvPr id="14" name="">
            <a:extLst xmlns:a="http://schemas.openxmlformats.org/drawingml/2006/main">
              <a:ext uri="{FF2B5EF4-FFF2-40B4-BE49-F238E27FC236}">
                <a16:creationId xmlns:a16="http://schemas.microsoft.com/office/drawing/2014/main" id="{1D4DCAE7-2AC5-43FD-9062-C791D0DA54BF}"/>
              </a:ext>
            </a:extLst>
          </p:cNvPr>
          <p:cNvSpPr>
            <a:spLocks xmlns:a="http://schemas.openxmlformats.org/drawingml/2006/main" noGrp="1"/>
          </p:cNvSpPr>
          <p:nvPr/>
        </p:nvSpPr>
        <p:spPr>
          <a:xfrm xmlns:a="http://schemas.openxmlformats.org/drawingml/2006/main">
            <a:off x="476250" y="289560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E02</a:t>
            </a:r>
          </a:p>
        </p:txBody>
      </p:sp>
      <p:sp>
        <p:nvSpPr>
          <p:cNvPr id="15" name="">
            <a:extLst xmlns:a="http://schemas.openxmlformats.org/drawingml/2006/main">
              <a:ext uri="{FF2B5EF4-FFF2-40B4-BE49-F238E27FC236}">
                <a16:creationId xmlns:a16="http://schemas.microsoft.com/office/drawing/2014/main" id="{DEABFCDC-D759-4FFC-9FEB-4AB3624D831D}"/>
              </a:ext>
            </a:extLst>
          </p:cNvPr>
          <p:cNvSpPr>
            <a:spLocks xmlns:a="http://schemas.openxmlformats.org/drawingml/2006/main" noGrp="1"/>
          </p:cNvSpPr>
          <p:nvPr/>
        </p:nvSpPr>
        <p:spPr>
          <a:xfrm xmlns:a="http://schemas.openxmlformats.org/drawingml/2006/main">
            <a:off x="1285875" y="289560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Failure complementarity</a:t>
            </a:r>
          </a:p>
        </p:txBody>
      </p:sp>
      <p:sp>
        <p:nvSpPr>
          <p:cNvPr id="16" name="">
            <a:extLst xmlns:a="http://schemas.openxmlformats.org/drawingml/2006/main">
              <a:ext uri="{FF2B5EF4-FFF2-40B4-BE49-F238E27FC236}">
                <a16:creationId xmlns:a16="http://schemas.microsoft.com/office/drawing/2014/main" id="{E4695ED0-6BDF-47C0-9E8D-987BCF8A4208}"/>
              </a:ext>
            </a:extLst>
          </p:cNvPr>
          <p:cNvSpPr>
            <a:spLocks xmlns:a="http://schemas.openxmlformats.org/drawingml/2006/main" noGrp="1"/>
          </p:cNvSpPr>
          <p:nvPr/>
        </p:nvSpPr>
        <p:spPr>
          <a:xfrm xmlns:a="http://schemas.openxmlformats.org/drawingml/2006/main">
            <a:off x="4095750" y="2895600"/>
            <a:ext cx="519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Γ 0.406; realized gain 0.381</a:t>
            </a:r>
          </a:p>
        </p:txBody>
      </p:sp>
      <p:sp>
        <p:nvSpPr>
          <p:cNvPr id="17" name="">
            <a:extLst xmlns:a="http://schemas.openxmlformats.org/drawingml/2006/main">
              <a:ext uri="{FF2B5EF4-FFF2-40B4-BE49-F238E27FC236}">
                <a16:creationId xmlns:a16="http://schemas.microsoft.com/office/drawing/2014/main" id="{FF38898E-93BD-4886-B06B-F44EBF9E8758}"/>
              </a:ext>
            </a:extLst>
          </p:cNvPr>
          <p:cNvSpPr>
            <a:spLocks xmlns:a="http://schemas.openxmlformats.org/drawingml/2006/main" noGrp="1"/>
          </p:cNvSpPr>
          <p:nvPr/>
        </p:nvSpPr>
        <p:spPr>
          <a:xfrm xmlns:a="http://schemas.openxmlformats.org/drawingml/2006/main">
            <a:off x="9858375" y="28956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20704A"/>
                </a:solidFill>
                <a:latin typeface="Helvetica Neue"/>
                <a:ea typeface="Helvetica Neue"/>
                <a:cs typeface="Helvetica Neue"/>
              </a:defRPr>
            </a:pPr>
            <a:r>
              <a:rPr sz="1425" b="1">
                <a:solidFill>
                  <a:srgbClr val="20704A"/>
                </a:solidFill>
                <a:latin typeface="Helvetica Neue"/>
                <a:ea typeface="Helvetica Neue"/>
                <a:cs typeface="Helvetica Neue"/>
              </a:rPr>
              <a:t>PASS*</a:t>
            </a:r>
          </a:p>
        </p:txBody>
      </p:sp>
      <p:sp>
        <p:nvSpPr>
          <p:cNvPr id="18" name="">
            <a:extLst xmlns:a="http://schemas.openxmlformats.org/drawingml/2006/main">
              <a:ext uri="{FF2B5EF4-FFF2-40B4-BE49-F238E27FC236}">
                <a16:creationId xmlns:a16="http://schemas.microsoft.com/office/drawing/2014/main" id="{C31B62F4-6391-4903-B77B-3A5567FDA69A}"/>
              </a:ext>
            </a:extLst>
          </p:cNvPr>
          <p:cNvSpPr>
            <a:spLocks xmlns:a="http://schemas.openxmlformats.org/drawingml/2006/main" noGrp="1"/>
          </p:cNvSpPr>
          <p:nvPr/>
        </p:nvSpPr>
        <p:spPr>
          <a:xfrm xmlns:a="http://schemas.openxmlformats.org/drawingml/2006/main">
            <a:off x="400050" y="3581400"/>
            <a:ext cx="11391900" cy="6858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28D7E86-C26C-47DD-A2AA-EF16EC3C7116}"/>
              </a:ext>
            </a:extLst>
          </p:cNvPr>
          <p:cNvSpPr>
            <a:spLocks xmlns:a="http://schemas.openxmlformats.org/drawingml/2006/main" noGrp="1"/>
          </p:cNvSpPr>
          <p:nvPr/>
        </p:nvSpPr>
        <p:spPr>
          <a:xfrm xmlns:a="http://schemas.openxmlformats.org/drawingml/2006/main">
            <a:off x="476250" y="36766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E03</a:t>
            </a:r>
          </a:p>
        </p:txBody>
      </p:sp>
      <p:sp>
        <p:nvSpPr>
          <p:cNvPr id="20" name="">
            <a:extLst xmlns:a="http://schemas.openxmlformats.org/drawingml/2006/main">
              <a:ext uri="{FF2B5EF4-FFF2-40B4-BE49-F238E27FC236}">
                <a16:creationId xmlns:a16="http://schemas.microsoft.com/office/drawing/2014/main" id="{13818B89-FD32-46E0-A25F-AE94A79B8A51}"/>
              </a:ext>
            </a:extLst>
          </p:cNvPr>
          <p:cNvSpPr>
            <a:spLocks xmlns:a="http://schemas.openxmlformats.org/drawingml/2006/main" noGrp="1"/>
          </p:cNvSpPr>
          <p:nvPr/>
        </p:nvSpPr>
        <p:spPr>
          <a:xfrm xmlns:a="http://schemas.openxmlformats.org/drawingml/2006/main">
            <a:off x="1285875" y="36766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Adaptive persistence</a:t>
            </a:r>
          </a:p>
        </p:txBody>
      </p:sp>
      <p:sp>
        <p:nvSpPr>
          <p:cNvPr id="21" name="">
            <a:extLst xmlns:a="http://schemas.openxmlformats.org/drawingml/2006/main">
              <a:ext uri="{FF2B5EF4-FFF2-40B4-BE49-F238E27FC236}">
                <a16:creationId xmlns:a16="http://schemas.microsoft.com/office/drawing/2014/main" id="{3FB3ACDF-0EC6-4D5A-B56E-63A48719870E}"/>
              </a:ext>
            </a:extLst>
          </p:cNvPr>
          <p:cNvSpPr>
            <a:spLocks xmlns:a="http://schemas.openxmlformats.org/drawingml/2006/main" noGrp="1"/>
          </p:cNvSpPr>
          <p:nvPr/>
        </p:nvSpPr>
        <p:spPr>
          <a:xfrm xmlns:a="http://schemas.openxmlformats.org/drawingml/2006/main">
            <a:off x="4095750" y="3676650"/>
            <a:ext cx="519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0.93 vs 1.00 worst-cell CVaR</a:t>
            </a:r>
          </a:p>
        </p:txBody>
      </p:sp>
      <p:sp>
        <p:nvSpPr>
          <p:cNvPr id="22" name="">
            <a:extLst xmlns:a="http://schemas.openxmlformats.org/drawingml/2006/main">
              <a:ext uri="{FF2B5EF4-FFF2-40B4-BE49-F238E27FC236}">
                <a16:creationId xmlns:a16="http://schemas.microsoft.com/office/drawing/2014/main" id="{2C330313-2CE2-473A-9B89-6BC5E344E4A0}"/>
              </a:ext>
            </a:extLst>
          </p:cNvPr>
          <p:cNvSpPr>
            <a:spLocks xmlns:a="http://schemas.openxmlformats.org/drawingml/2006/main" noGrp="1"/>
          </p:cNvSpPr>
          <p:nvPr/>
        </p:nvSpPr>
        <p:spPr>
          <a:xfrm xmlns:a="http://schemas.openxmlformats.org/drawingml/2006/main">
            <a:off x="9858375" y="36766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20704A"/>
                </a:solidFill>
                <a:latin typeface="Helvetica Neue"/>
                <a:ea typeface="Helvetica Neue"/>
                <a:cs typeface="Helvetica Neue"/>
              </a:defRPr>
            </a:pPr>
            <a:r>
              <a:rPr sz="1425" b="1">
                <a:solidFill>
                  <a:srgbClr val="20704A"/>
                </a:solidFill>
                <a:latin typeface="Helvetica Neue"/>
                <a:ea typeface="Helvetica Neue"/>
                <a:cs typeface="Helvetica Neue"/>
              </a:rPr>
              <a:t>PASS*</a:t>
            </a:r>
          </a:p>
        </p:txBody>
      </p:sp>
      <p:sp>
        <p:nvSpPr>
          <p:cNvPr id="23" name="">
            <a:extLst xmlns:a="http://schemas.openxmlformats.org/drawingml/2006/main">
              <a:ext uri="{FF2B5EF4-FFF2-40B4-BE49-F238E27FC236}">
                <a16:creationId xmlns:a16="http://schemas.microsoft.com/office/drawing/2014/main" id="{85AC6C0A-9318-433B-A5B1-2C30717330CD}"/>
              </a:ext>
            </a:extLst>
          </p:cNvPr>
          <p:cNvSpPr>
            <a:spLocks xmlns:a="http://schemas.openxmlformats.org/drawingml/2006/main" noGrp="1"/>
          </p:cNvSpPr>
          <p:nvPr/>
        </p:nvSpPr>
        <p:spPr>
          <a:xfrm xmlns:a="http://schemas.openxmlformats.org/drawingml/2006/main">
            <a:off x="476250" y="445770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E04</a:t>
            </a:r>
          </a:p>
        </p:txBody>
      </p:sp>
      <p:sp>
        <p:nvSpPr>
          <p:cNvPr id="24" name="">
            <a:extLst xmlns:a="http://schemas.openxmlformats.org/drawingml/2006/main">
              <a:ext uri="{FF2B5EF4-FFF2-40B4-BE49-F238E27FC236}">
                <a16:creationId xmlns:a16="http://schemas.microsoft.com/office/drawing/2014/main" id="{9F3368E0-86F3-4901-8045-FCDE2A17ACA8}"/>
              </a:ext>
            </a:extLst>
          </p:cNvPr>
          <p:cNvSpPr>
            <a:spLocks xmlns:a="http://schemas.openxmlformats.org/drawingml/2006/main" noGrp="1"/>
          </p:cNvSpPr>
          <p:nvPr/>
        </p:nvSpPr>
        <p:spPr>
          <a:xfrm xmlns:a="http://schemas.openxmlformats.org/drawingml/2006/main">
            <a:off x="1285875" y="445770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Held-out transfer</a:t>
            </a:r>
          </a:p>
        </p:txBody>
      </p:sp>
      <p:sp>
        <p:nvSpPr>
          <p:cNvPr id="25" name="">
            <a:extLst xmlns:a="http://schemas.openxmlformats.org/drawingml/2006/main">
              <a:ext uri="{FF2B5EF4-FFF2-40B4-BE49-F238E27FC236}">
                <a16:creationId xmlns:a16="http://schemas.microsoft.com/office/drawing/2014/main" id="{0F029E85-6090-472A-A25B-7CF90505378B}"/>
              </a:ext>
            </a:extLst>
          </p:cNvPr>
          <p:cNvSpPr>
            <a:spLocks xmlns:a="http://schemas.openxmlformats.org/drawingml/2006/main" noGrp="1"/>
          </p:cNvSpPr>
          <p:nvPr/>
        </p:nvSpPr>
        <p:spPr>
          <a:xfrm xmlns:a="http://schemas.openxmlformats.org/drawingml/2006/main">
            <a:off x="4095750" y="4457700"/>
            <a:ext cx="519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Spearman 0.866; compound gate blocked</a:t>
            </a:r>
          </a:p>
        </p:txBody>
      </p:sp>
      <p:sp>
        <p:nvSpPr>
          <p:cNvPr id="26" name="">
            <a:extLst xmlns:a="http://schemas.openxmlformats.org/drawingml/2006/main">
              <a:ext uri="{FF2B5EF4-FFF2-40B4-BE49-F238E27FC236}">
                <a16:creationId xmlns:a16="http://schemas.microsoft.com/office/drawing/2014/main" id="{7E38026B-58A4-4CF5-BAB9-13258B195075}"/>
              </a:ext>
            </a:extLst>
          </p:cNvPr>
          <p:cNvSpPr>
            <a:spLocks xmlns:a="http://schemas.openxmlformats.org/drawingml/2006/main" noGrp="1"/>
          </p:cNvSpPr>
          <p:nvPr/>
        </p:nvSpPr>
        <p:spPr>
          <a:xfrm xmlns:a="http://schemas.openxmlformats.org/drawingml/2006/main">
            <a:off x="9858375" y="44577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A63434"/>
                </a:solidFill>
                <a:latin typeface="Helvetica Neue"/>
                <a:ea typeface="Helvetica Neue"/>
                <a:cs typeface="Helvetica Neue"/>
              </a:defRPr>
            </a:pPr>
            <a:r>
              <a:rPr sz="1425" b="1">
                <a:solidFill>
                  <a:srgbClr val="A63434"/>
                </a:solidFill>
                <a:latin typeface="Helvetica Neue"/>
                <a:ea typeface="Helvetica Neue"/>
                <a:cs typeface="Helvetica Neue"/>
              </a:rPr>
              <a:t>FAIL*</a:t>
            </a:r>
          </a:p>
        </p:txBody>
      </p:sp>
      <p:sp>
        <p:nvSpPr>
          <p:cNvPr id="27" name="">
            <a:extLst xmlns:a="http://schemas.openxmlformats.org/drawingml/2006/main">
              <a:ext uri="{FF2B5EF4-FFF2-40B4-BE49-F238E27FC236}">
                <a16:creationId xmlns:a16="http://schemas.microsoft.com/office/drawing/2014/main" id="{A0FFC104-DD28-430E-BA94-0DE112CBCDF5}"/>
              </a:ext>
            </a:extLst>
          </p:cNvPr>
          <p:cNvSpPr>
            <a:spLocks xmlns:a="http://schemas.openxmlformats.org/drawingml/2006/main" noGrp="1"/>
          </p:cNvSpPr>
          <p:nvPr/>
        </p:nvSpPr>
        <p:spPr>
          <a:xfrm xmlns:a="http://schemas.openxmlformats.org/drawingml/2006/main">
            <a:off x="400050" y="5143500"/>
            <a:ext cx="11391900" cy="6858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7519946-B7D7-481F-8941-85C5E8746C10}"/>
              </a:ext>
            </a:extLst>
          </p:cNvPr>
          <p:cNvSpPr>
            <a:spLocks xmlns:a="http://schemas.openxmlformats.org/drawingml/2006/main" noGrp="1"/>
          </p:cNvSpPr>
          <p:nvPr/>
        </p:nvSpPr>
        <p:spPr>
          <a:xfrm xmlns:a="http://schemas.openxmlformats.org/drawingml/2006/main">
            <a:off x="476250" y="52387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E05</a:t>
            </a:r>
          </a:p>
        </p:txBody>
      </p:sp>
      <p:sp>
        <p:nvSpPr>
          <p:cNvPr id="29" name="">
            <a:extLst xmlns:a="http://schemas.openxmlformats.org/drawingml/2006/main">
              <a:ext uri="{FF2B5EF4-FFF2-40B4-BE49-F238E27FC236}">
                <a16:creationId xmlns:a16="http://schemas.microsoft.com/office/drawing/2014/main" id="{96DA00D5-624E-431F-A2CE-12E0FE62BAC8}"/>
              </a:ext>
            </a:extLst>
          </p:cNvPr>
          <p:cNvSpPr>
            <a:spLocks xmlns:a="http://schemas.openxmlformats.org/drawingml/2006/main" noGrp="1"/>
          </p:cNvSpPr>
          <p:nvPr/>
        </p:nvSpPr>
        <p:spPr>
          <a:xfrm xmlns:a="http://schemas.openxmlformats.org/drawingml/2006/main">
            <a:off x="1285875" y="52387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Before-harm validity</a:t>
            </a:r>
          </a:p>
        </p:txBody>
      </p:sp>
      <p:sp>
        <p:nvSpPr>
          <p:cNvPr id="30" name="">
            <a:extLst xmlns:a="http://schemas.openxmlformats.org/drawingml/2006/main">
              <a:ext uri="{FF2B5EF4-FFF2-40B4-BE49-F238E27FC236}">
                <a16:creationId xmlns:a16="http://schemas.microsoft.com/office/drawing/2014/main" id="{E3DA2D1B-3415-4F0D-9600-FD2A83FA9F46}"/>
              </a:ext>
            </a:extLst>
          </p:cNvPr>
          <p:cNvSpPr>
            <a:spLocks xmlns:a="http://schemas.openxmlformats.org/drawingml/2006/main" noGrp="1"/>
          </p:cNvSpPr>
          <p:nvPr/>
        </p:nvSpPr>
        <p:spPr>
          <a:xfrm xmlns:a="http://schemas.openxmlformats.org/drawingml/2006/main">
            <a:off x="4095750" y="5238750"/>
            <a:ext cx="519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harm 0.725 → 0.025; before-harm 0.95</a:t>
            </a:r>
          </a:p>
        </p:txBody>
      </p:sp>
      <p:sp>
        <p:nvSpPr>
          <p:cNvPr id="31" name="">
            <a:extLst xmlns:a="http://schemas.openxmlformats.org/drawingml/2006/main">
              <a:ext uri="{FF2B5EF4-FFF2-40B4-BE49-F238E27FC236}">
                <a16:creationId xmlns:a16="http://schemas.microsoft.com/office/drawing/2014/main" id="{FAB52420-C4CE-4477-A5F5-EEA2EFAC6879}"/>
              </a:ext>
            </a:extLst>
          </p:cNvPr>
          <p:cNvSpPr>
            <a:spLocks xmlns:a="http://schemas.openxmlformats.org/drawingml/2006/main" noGrp="1"/>
          </p:cNvSpPr>
          <p:nvPr/>
        </p:nvSpPr>
        <p:spPr>
          <a:xfrm xmlns:a="http://schemas.openxmlformats.org/drawingml/2006/main">
            <a:off x="9858375" y="52387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20704A"/>
                </a:solidFill>
                <a:latin typeface="Helvetica Neue"/>
                <a:ea typeface="Helvetica Neue"/>
                <a:cs typeface="Helvetica Neue"/>
              </a:defRPr>
            </a:pPr>
            <a:r>
              <a:rPr sz="1425" b="1">
                <a:solidFill>
                  <a:srgbClr val="20704A"/>
                </a:solidFill>
                <a:latin typeface="Helvetica Neue"/>
                <a:ea typeface="Helvetica Neue"/>
                <a:cs typeface="Helvetica Neue"/>
              </a:rPr>
              <a:t>PASS*</a:t>
            </a:r>
          </a:p>
        </p:txBody>
      </p:sp>
      <p:sp>
        <p:nvSpPr>
          <p:cNvPr id="32" name="">
            <a:extLst xmlns:a="http://schemas.openxmlformats.org/drawingml/2006/main">
              <a:ext uri="{FF2B5EF4-FFF2-40B4-BE49-F238E27FC236}">
                <a16:creationId xmlns:a16="http://schemas.microsoft.com/office/drawing/2014/main" id="{4038F686-D7F8-44E0-990B-6C52ECCE0A52}"/>
              </a:ext>
            </a:extLst>
          </p:cNvPr>
          <p:cNvSpPr>
            <a:spLocks xmlns:a="http://schemas.openxmlformats.org/drawingml/2006/main" noGrp="1"/>
          </p:cNvSpPr>
          <p:nvPr/>
        </p:nvSpPr>
        <p:spPr>
          <a:xfrm xmlns:a="http://schemas.openxmlformats.org/drawingml/2006/main">
            <a:off x="400050" y="61912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D636D"/>
                </a:solidFill>
                <a:latin typeface="Helvetica Neue"/>
                <a:ea typeface="Helvetica Neue"/>
                <a:cs typeface="Helvetica Neue"/>
              </a:defRPr>
            </a:pPr>
            <a:r>
              <a:rPr sz="1200" b="0">
                <a:solidFill>
                  <a:srgbClr val="5D636D"/>
                </a:solidFill>
                <a:latin typeface="Helvetica Neue"/>
                <a:ea typeface="Helvetica Neue"/>
                <a:cs typeface="Helvetica Neue"/>
              </a:rPr>
              <a:t>* controlled synthetic gate only; not evidence about stochastic LLM-agent robustness</a:t>
            </a:r>
          </a:p>
        </p:txBody>
      </p:sp>
    </p:spTree>
    <p:extLst>
      <p:ext uri="{BB962C8B-B14F-4D97-AF65-F5344CB8AC3E}">
        <p14:creationId xmlns:p14="http://schemas.microsoft.com/office/powerpoint/2010/main" val="1868691257"/>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36BA0A9-E813-4212-8612-E23A499D79E6}"/>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11-title">
            <a:extLst xmlns:a="http://schemas.openxmlformats.org/drawingml/2006/main">
              <a:ext uri="{FF2B5EF4-FFF2-40B4-BE49-F238E27FC236}">
                <a16:creationId xmlns:a16="http://schemas.microsoft.com/office/drawing/2014/main" id="{E76E2DDF-B28C-40EF-842D-A6C91F87FE9C}"/>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Controlled evidence shows reduced common-mode failure</a:t>
            </a:r>
          </a:p>
        </p:txBody>
      </p:sp>
      <p:sp>
        <p:nvSpPr>
          <p:cNvPr id="3" name="">
            <a:extLst xmlns:a="http://schemas.openxmlformats.org/drawingml/2006/main">
              <a:ext uri="{FF2B5EF4-FFF2-40B4-BE49-F238E27FC236}">
                <a16:creationId xmlns:a16="http://schemas.microsoft.com/office/drawing/2014/main" id="{71B80C0F-A953-4D68-B714-B81372072066}"/>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21</a:t>
            </a:r>
          </a:p>
        </p:txBody>
      </p:sp>
      <p:graphicFrame>
        <p:nvGraphicFramePr>
          <p:cNvPr id="19" name="Chart"/>
          <p:cNvGraphicFramePr/>
          <p:nvPr/>
        </p:nvGraphicFramePr>
        <p:xfrm>
          <a:off xmlns:a="http://schemas.openxmlformats.org/drawingml/2006/main" x="400050" y="1666875"/>
          <a:ext xmlns:a="http://schemas.openxmlformats.org/drawingml/2006/main" cx="7239000" cy="4238625"/>
        </p:xfrm>
        <a:graphic xmlns:a="http://schemas.openxmlformats.org/drawingml/2006/main">
          <a:graphicData uri="http://schemas.openxmlformats.org/drawingml/2006/chart">
            <c:chart xmlns:r="http://schemas.openxmlformats.org/officeDocument/2006/relationships" xmlns:c="http://schemas.openxmlformats.org/drawingml/2006/chart" r:id="R422c18ca60004bfd"/>
          </a:graphicData>
        </a:graphic>
      </p:graphicFrame>
      <p:sp>
        <p:nvSpPr>
          <p:cNvPr id="5" name="">
            <a:extLst xmlns:a="http://schemas.openxmlformats.org/drawingml/2006/main">
              <a:ext uri="{FF2B5EF4-FFF2-40B4-BE49-F238E27FC236}">
                <a16:creationId xmlns:a16="http://schemas.microsoft.com/office/drawing/2014/main" id="{B6729F59-0E22-433A-82D2-2CD880D57704}"/>
              </a:ext>
            </a:extLst>
          </p:cNvPr>
          <p:cNvSpPr>
            <a:spLocks xmlns:a="http://schemas.openxmlformats.org/drawingml/2006/main" noGrp="1"/>
          </p:cNvSpPr>
          <p:nvPr/>
        </p:nvSpPr>
        <p:spPr>
          <a:xfrm xmlns:a="http://schemas.openxmlformats.org/drawingml/2006/main">
            <a:off x="8096250" y="1762125"/>
            <a:ext cx="3381375" cy="166687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AC35228-F393-46AE-9F1C-25522189B90F}"/>
              </a:ext>
            </a:extLst>
          </p:cNvPr>
          <p:cNvSpPr>
            <a:spLocks xmlns:a="http://schemas.openxmlformats.org/drawingml/2006/main" noGrp="1"/>
          </p:cNvSpPr>
          <p:nvPr/>
        </p:nvSpPr>
        <p:spPr>
          <a:xfrm xmlns:a="http://schemas.openxmlformats.org/drawingml/2006/main">
            <a:off x="8096250" y="1762125"/>
            <a:ext cx="95250" cy="1666875"/>
          </a:xfrm>
          <a:prstGeom xmlns:a="http://schemas.openxmlformats.org/drawingml/2006/main" prst="rect">
            <a:avLst/>
          </a:prstGeom>
          <a:solidFill xmlns:a="http://schemas.openxmlformats.org/drawingml/2006/main">
            <a:srgbClr val="20704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70A7EC5-37BB-4B44-BE2F-0C564B52F2CD}"/>
              </a:ext>
            </a:extLst>
          </p:cNvPr>
          <p:cNvSpPr>
            <a:spLocks xmlns:a="http://schemas.openxmlformats.org/drawingml/2006/main" noGrp="1"/>
          </p:cNvSpPr>
          <p:nvPr/>
        </p:nvSpPr>
        <p:spPr>
          <a:xfrm xmlns:a="http://schemas.openxmlformats.org/drawingml/2006/main">
            <a:off x="8362950" y="2028825"/>
            <a:ext cx="29432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20704A"/>
                </a:solidFill>
                <a:latin typeface="Helvetica Neue"/>
                <a:ea typeface="Helvetica Neue"/>
                <a:cs typeface="Helvetica Neue"/>
              </a:defRPr>
            </a:pPr>
            <a:r>
              <a:rPr sz="3150" b="1">
                <a:solidFill>
                  <a:srgbClr val="20704A"/>
                </a:solidFill>
                <a:latin typeface="Helvetica Neue"/>
                <a:ea typeface="Helvetica Neue"/>
                <a:cs typeface="Helvetica Neue"/>
              </a:rPr>
              <a:t>Γ = 0.406</a:t>
            </a:r>
          </a:p>
        </p:txBody>
      </p:sp>
      <p:sp>
        <p:nvSpPr>
          <p:cNvPr id="8" name="">
            <a:extLst xmlns:a="http://schemas.openxmlformats.org/drawingml/2006/main">
              <a:ext uri="{FF2B5EF4-FFF2-40B4-BE49-F238E27FC236}">
                <a16:creationId xmlns:a16="http://schemas.microsoft.com/office/drawing/2014/main" id="{0DDC261C-4FC5-41C7-BCC5-059C161ECC8D}"/>
              </a:ext>
            </a:extLst>
          </p:cNvPr>
          <p:cNvSpPr>
            <a:spLocks xmlns:a="http://schemas.openxmlformats.org/drawingml/2006/main" noGrp="1"/>
          </p:cNvSpPr>
          <p:nvPr/>
        </p:nvSpPr>
        <p:spPr>
          <a:xfrm xmlns:a="http://schemas.openxmlformats.org/drawingml/2006/main">
            <a:off x="8362950" y="2886075"/>
            <a:ext cx="29432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Diverse fixed-panel complementarity</a:t>
            </a:r>
          </a:p>
        </p:txBody>
      </p:sp>
      <p:sp>
        <p:nvSpPr>
          <p:cNvPr id="9" name="">
            <a:extLst xmlns:a="http://schemas.openxmlformats.org/drawingml/2006/main">
              <a:ext uri="{FF2B5EF4-FFF2-40B4-BE49-F238E27FC236}">
                <a16:creationId xmlns:a16="http://schemas.microsoft.com/office/drawing/2014/main" id="{5844F32C-4E8C-468A-9023-86A4747AC868}"/>
              </a:ext>
            </a:extLst>
          </p:cNvPr>
          <p:cNvSpPr>
            <a:spLocks xmlns:a="http://schemas.openxmlformats.org/drawingml/2006/main" noGrp="1"/>
          </p:cNvSpPr>
          <p:nvPr/>
        </p:nvSpPr>
        <p:spPr>
          <a:xfrm xmlns:a="http://schemas.openxmlformats.org/drawingml/2006/main">
            <a:off x="8096250" y="3762375"/>
            <a:ext cx="3381375" cy="166687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F3FF3C3-4D21-4894-B61F-8846D39BD1E2}"/>
              </a:ext>
            </a:extLst>
          </p:cNvPr>
          <p:cNvSpPr>
            <a:spLocks xmlns:a="http://schemas.openxmlformats.org/drawingml/2006/main" noGrp="1"/>
          </p:cNvSpPr>
          <p:nvPr/>
        </p:nvSpPr>
        <p:spPr>
          <a:xfrm xmlns:a="http://schemas.openxmlformats.org/drawingml/2006/main">
            <a:off x="8096250" y="3762375"/>
            <a:ext cx="95250" cy="1666875"/>
          </a:xfrm>
          <a:prstGeom xmlns:a="http://schemas.openxmlformats.org/drawingml/2006/main" prst="rect">
            <a:avLst/>
          </a:prstGeom>
          <a:solidFill xmlns:a="http://schemas.openxmlformats.org/drawingml/2006/main">
            <a:srgbClr val="C86B2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449068B-4B52-49DD-A8F3-E3FBE8FAD951}"/>
              </a:ext>
            </a:extLst>
          </p:cNvPr>
          <p:cNvSpPr>
            <a:spLocks xmlns:a="http://schemas.openxmlformats.org/drawingml/2006/main" noGrp="1"/>
          </p:cNvSpPr>
          <p:nvPr/>
        </p:nvSpPr>
        <p:spPr>
          <a:xfrm xmlns:a="http://schemas.openxmlformats.org/drawingml/2006/main">
            <a:off x="8362950" y="4029075"/>
            <a:ext cx="29432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C86B20"/>
                </a:solidFill>
                <a:latin typeface="Helvetica Neue"/>
                <a:ea typeface="Helvetica Neue"/>
                <a:cs typeface="Helvetica Neue"/>
              </a:defRPr>
            </a:pPr>
            <a:r>
              <a:rPr sz="3150" b="1">
                <a:solidFill>
                  <a:srgbClr val="C86B20"/>
                </a:solidFill>
                <a:latin typeface="Helvetica Neue"/>
                <a:ea typeface="Helvetica Neue"/>
                <a:cs typeface="Helvetica Neue"/>
              </a:rPr>
              <a:t>+0.025</a:t>
            </a:r>
          </a:p>
        </p:txBody>
      </p:sp>
      <p:sp>
        <p:nvSpPr>
          <p:cNvPr id="12" name="">
            <a:extLst xmlns:a="http://schemas.openxmlformats.org/drawingml/2006/main">
              <a:ext uri="{FF2B5EF4-FFF2-40B4-BE49-F238E27FC236}">
                <a16:creationId xmlns:a16="http://schemas.microsoft.com/office/drawing/2014/main" id="{CC3F4778-EDC6-4525-BF41-F6730A8C55D5}"/>
              </a:ext>
            </a:extLst>
          </p:cNvPr>
          <p:cNvSpPr>
            <a:spLocks xmlns:a="http://schemas.openxmlformats.org/drawingml/2006/main" noGrp="1"/>
          </p:cNvSpPr>
          <p:nvPr/>
        </p:nvSpPr>
        <p:spPr>
          <a:xfrm xmlns:a="http://schemas.openxmlformats.org/drawingml/2006/main">
            <a:off x="8362950" y="4886325"/>
            <a:ext cx="29432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Interaction gap: the enforced stack is slightly worse than the singleton intersection.</a:t>
            </a:r>
          </a:p>
        </p:txBody>
      </p:sp>
      <p:sp>
        <p:nvSpPr>
          <p:cNvPr id="13" name="">
            <a:extLst xmlns:a="http://schemas.openxmlformats.org/drawingml/2006/main">
              <a:ext uri="{FF2B5EF4-FFF2-40B4-BE49-F238E27FC236}">
                <a16:creationId xmlns:a16="http://schemas.microsoft.com/office/drawing/2014/main" id="{BAA5C233-A6BB-4D6C-B0E4-70A0169319F2}"/>
              </a:ext>
            </a:extLst>
          </p:cNvPr>
          <p:cNvSpPr>
            <a:spLocks xmlns:a="http://schemas.openxmlformats.org/drawingml/2006/main" noGrp="1"/>
          </p:cNvSpPr>
          <p:nvPr/>
        </p:nvSpPr>
        <p:spPr>
          <a:xfrm xmlns:a="http://schemas.openxmlformats.org/drawingml/2006/main">
            <a:off x="400050" y="6143625"/>
            <a:ext cx="1000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D636D"/>
                </a:solidFill>
                <a:latin typeface="Helvetica Neue"/>
                <a:ea typeface="Helvetica Neue"/>
                <a:cs typeface="Helvetica Neue"/>
              </a:defRPr>
            </a:pPr>
            <a:r>
              <a:rPr sz="1275" b="0">
                <a:solidFill>
                  <a:srgbClr val="5D636D"/>
                </a:solidFill>
                <a:latin typeface="Helvetica Neue"/>
                <a:ea typeface="Helvetica Neue"/>
                <a:cs typeface="Helvetica Neue"/>
              </a:rPr>
              <a:t>The interaction gap is reported—not hidden—because enforcement changes trajectories.</a:t>
            </a:r>
          </a:p>
        </p:txBody>
      </p:sp>
    </p:spTree>
    <p:extLst>
      <p:ext uri="{BB962C8B-B14F-4D97-AF65-F5344CB8AC3E}">
        <p14:creationId xmlns:p14="http://schemas.microsoft.com/office/powerpoint/2010/main" val="163780576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E7C5280-E623-4768-BA09-30C58691E6F9}"/>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12-title">
            <a:extLst xmlns:a="http://schemas.openxmlformats.org/drawingml/2006/main">
              <a:ext uri="{FF2B5EF4-FFF2-40B4-BE49-F238E27FC236}">
                <a16:creationId xmlns:a16="http://schemas.microsoft.com/office/drawing/2014/main" id="{9B1ABED8-B38E-4E2D-A4EC-3EC41DC9C43B}"/>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A good harness must be able to say “not supported”</a:t>
            </a:r>
          </a:p>
        </p:txBody>
      </p:sp>
      <p:sp>
        <p:nvSpPr>
          <p:cNvPr id="3" name="">
            <a:extLst xmlns:a="http://schemas.openxmlformats.org/drawingml/2006/main">
              <a:ext uri="{FF2B5EF4-FFF2-40B4-BE49-F238E27FC236}">
                <a16:creationId xmlns:a16="http://schemas.microsoft.com/office/drawing/2014/main" id="{FB8B43DF-7AC0-44E3-B9F2-CF827533E5AF}"/>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22</a:t>
            </a:r>
          </a:p>
        </p:txBody>
      </p:sp>
      <p:sp>
        <p:nvSpPr>
          <p:cNvPr id="4" name="">
            <a:extLst xmlns:a="http://schemas.openxmlformats.org/drawingml/2006/main">
              <a:ext uri="{FF2B5EF4-FFF2-40B4-BE49-F238E27FC236}">
                <a16:creationId xmlns:a16="http://schemas.microsoft.com/office/drawing/2014/main" id="{9A87E9D7-FA12-4CDD-83F7-E27960653F77}"/>
              </a:ext>
            </a:extLst>
          </p:cNvPr>
          <p:cNvSpPr>
            <a:spLocks xmlns:a="http://schemas.openxmlformats.org/drawingml/2006/main" noGrp="1"/>
          </p:cNvSpPr>
          <p:nvPr/>
        </p:nvSpPr>
        <p:spPr>
          <a:xfrm xmlns:a="http://schemas.openxmlformats.org/drawingml/2006/main">
            <a:off x="400050" y="1619250"/>
            <a:ext cx="5334000" cy="37147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CCA7752-38A5-4D29-B4A6-1335EE60F2E2}"/>
              </a:ext>
            </a:extLst>
          </p:cNvPr>
          <p:cNvSpPr>
            <a:spLocks xmlns:a="http://schemas.openxmlformats.org/drawingml/2006/main" noGrp="1"/>
          </p:cNvSpPr>
          <p:nvPr/>
        </p:nvSpPr>
        <p:spPr>
          <a:xfrm xmlns:a="http://schemas.openxmlformats.org/drawingml/2006/main">
            <a:off x="714375" y="20002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a:solidFill>
                  <a:srgbClr val="C86B20"/>
                </a:solidFill>
                <a:latin typeface="Helvetica Neue"/>
                <a:ea typeface="Helvetica Neue"/>
                <a:cs typeface="Helvetica Neue"/>
              </a:defRPr>
            </a:pPr>
            <a:r>
              <a:rPr sz="2250" b="1">
                <a:solidFill>
                  <a:srgbClr val="C86B20"/>
                </a:solidFill>
                <a:latin typeface="Helvetica Neue"/>
                <a:ea typeface="Helvetica Neue"/>
                <a:cs typeface="Helvetica Neue"/>
              </a:rPr>
              <a:t>E01: no selector contrast</a:t>
            </a:r>
          </a:p>
        </p:txBody>
      </p:sp>
      <p:sp>
        <p:nvSpPr>
          <p:cNvPr id="6" name="">
            <a:extLst xmlns:a="http://schemas.openxmlformats.org/drawingml/2006/main">
              <a:ext uri="{FF2B5EF4-FFF2-40B4-BE49-F238E27FC236}">
                <a16:creationId xmlns:a16="http://schemas.microsoft.com/office/drawing/2014/main" id="{2FD18815-8681-40B7-B768-AB4D2242F1C8}"/>
              </a:ext>
            </a:extLst>
          </p:cNvPr>
          <p:cNvSpPr>
            <a:spLocks xmlns:a="http://schemas.openxmlformats.org/drawingml/2006/main" noGrp="1"/>
          </p:cNvSpPr>
          <p:nvPr/>
        </p:nvSpPr>
        <p:spPr>
          <a:xfrm xmlns:a="http://schemas.openxmlformats.org/drawingml/2006/main">
            <a:off x="714375" y="2714625"/>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D636D"/>
                </a:solidFill>
                <a:latin typeface="Helvetica Neue"/>
                <a:ea typeface="Helvetica Neue"/>
                <a:cs typeface="Helvetica Neue"/>
              </a:defRPr>
            </a:pPr>
            <a:r>
              <a:rPr sz="1725" b="0">
                <a:solidFill>
                  <a:srgbClr val="5D636D"/>
                </a:solidFill>
                <a:latin typeface="Helvetica Neue"/>
                <a:ea typeface="Helvetica Neue"/>
                <a:cs typeface="Helvetica Neue"/>
              </a:rPr>
              <a:t>Pooled mean, pooled CVaR, worst-cell mean, hierarchical tail, and UCB-tail all select the same stack.</a:t>
            </a:r>
          </a:p>
          <a:p xmlns:a="http://schemas.openxmlformats.org/drawingml/2006/main">
            <a:r>
              <a:t/>
            </a:r>
          </a:p>
          <a:p xmlns:a="http://schemas.openxmlformats.org/drawingml/2006/main">
            <a:pPr algn="l">
              <a:buNone/>
              <a:defRPr sz="1725" b="0">
                <a:solidFill>
                  <a:srgbClr val="5D636D"/>
                </a:solidFill>
                <a:latin typeface="Helvetica Neue"/>
                <a:ea typeface="Helvetica Neue"/>
                <a:cs typeface="Helvetica Neue"/>
              </a:defRPr>
            </a:pPr>
            <a:r>
              <a:rPr sz="1725" b="0">
                <a:solidFill>
                  <a:srgbClr val="5D636D"/>
                </a:solidFill>
                <a:latin typeface="Helvetica Neue"/>
                <a:ea typeface="Helvetica Neue"/>
                <a:cs typeface="Helvetica Neue"/>
              </a:rPr>
              <a:t>Result: the fixture validates plumbing but cannot establish superiority.</a:t>
            </a:r>
          </a:p>
        </p:txBody>
      </p:sp>
      <p:sp>
        <p:nvSpPr>
          <p:cNvPr id="7" name="">
            <a:extLst xmlns:a="http://schemas.openxmlformats.org/drawingml/2006/main">
              <a:ext uri="{FF2B5EF4-FFF2-40B4-BE49-F238E27FC236}">
                <a16:creationId xmlns:a16="http://schemas.microsoft.com/office/drawing/2014/main" id="{769AE714-B01B-4B4B-B41D-BBACD288A72F}"/>
              </a:ext>
            </a:extLst>
          </p:cNvPr>
          <p:cNvSpPr>
            <a:spLocks xmlns:a="http://schemas.openxmlformats.org/drawingml/2006/main" noGrp="1"/>
          </p:cNvSpPr>
          <p:nvPr/>
        </p:nvSpPr>
        <p:spPr>
          <a:xfrm xmlns:a="http://schemas.openxmlformats.org/drawingml/2006/main">
            <a:off x="6096000" y="1619250"/>
            <a:ext cx="5695950" cy="3714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DF6C045-3769-418E-AE28-02248CE7537A}"/>
              </a:ext>
            </a:extLst>
          </p:cNvPr>
          <p:cNvSpPr>
            <a:spLocks xmlns:a="http://schemas.openxmlformats.org/drawingml/2006/main" noGrp="1"/>
          </p:cNvSpPr>
          <p:nvPr/>
        </p:nvSpPr>
        <p:spPr>
          <a:xfrm xmlns:a="http://schemas.openxmlformats.org/drawingml/2006/main">
            <a:off x="6429375" y="2000250"/>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a:solidFill>
                  <a:srgbClr val="A63434"/>
                </a:solidFill>
                <a:latin typeface="Helvetica Neue"/>
                <a:ea typeface="Helvetica Neue"/>
                <a:cs typeface="Helvetica Neue"/>
              </a:defRPr>
            </a:pPr>
            <a:r>
              <a:rPr sz="2250" b="1">
                <a:solidFill>
                  <a:srgbClr val="A63434"/>
                </a:solidFill>
                <a:latin typeface="Helvetica Neue"/>
                <a:ea typeface="Helvetica Neue"/>
                <a:cs typeface="Helvetica Neue"/>
              </a:rPr>
              <a:t>E04: correlation is insufficient</a:t>
            </a:r>
          </a:p>
        </p:txBody>
      </p:sp>
      <p:sp>
        <p:nvSpPr>
          <p:cNvPr id="9" name="">
            <a:extLst xmlns:a="http://schemas.openxmlformats.org/drawingml/2006/main">
              <a:ext uri="{FF2B5EF4-FFF2-40B4-BE49-F238E27FC236}">
                <a16:creationId xmlns:a16="http://schemas.microsoft.com/office/drawing/2014/main" id="{F31C3F4F-A652-4CC1-834E-FA7F68D3E32C}"/>
              </a:ext>
            </a:extLst>
          </p:cNvPr>
          <p:cNvSpPr>
            <a:spLocks xmlns:a="http://schemas.openxmlformats.org/drawingml/2006/main" noGrp="1"/>
          </p:cNvSpPr>
          <p:nvPr/>
        </p:nvSpPr>
        <p:spPr>
          <a:xfrm xmlns:a="http://schemas.openxmlformats.org/drawingml/2006/main">
            <a:off x="6429375" y="2714625"/>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D636D"/>
                </a:solidFill>
                <a:latin typeface="Helvetica Neue"/>
                <a:ea typeface="Helvetica Neue"/>
                <a:cs typeface="Helvetica Neue"/>
              </a:defRPr>
            </a:pPr>
            <a:r>
              <a:rPr sz="1725" b="0">
                <a:solidFill>
                  <a:srgbClr val="5D636D"/>
                </a:solidFill>
                <a:latin typeface="Helvetica Neue"/>
                <a:ea typeface="Helvetica Neue"/>
                <a:cs typeface="Helvetica Neue"/>
              </a:rPr>
              <a:t>Validation Γ correlates with synthetic held-out robustness (ρ = 0.866), but the registered compound gate requires E01 advantage too.</a:t>
            </a:r>
          </a:p>
          <a:p xmlns:a="http://schemas.openxmlformats.org/drawingml/2006/main">
            <a:r>
              <a:t/>
            </a:r>
          </a:p>
          <a:p xmlns:a="http://schemas.openxmlformats.org/drawingml/2006/main">
            <a:pPr algn="l">
              <a:buNone/>
              <a:defRPr sz="1725" b="0">
                <a:solidFill>
                  <a:srgbClr val="5D636D"/>
                </a:solidFill>
                <a:latin typeface="Helvetica Neue"/>
                <a:ea typeface="Helvetica Neue"/>
                <a:cs typeface="Helvetica Neue"/>
              </a:defRPr>
            </a:pPr>
            <a:r>
              <a:rPr sz="1725" b="0">
                <a:solidFill>
                  <a:srgbClr val="5D636D"/>
                </a:solidFill>
                <a:latin typeface="Helvetica Neue"/>
                <a:ea typeface="Helvetica Neue"/>
                <a:cs typeface="Helvetica Neue"/>
              </a:rPr>
              <a:t>Result: E04 remains false.</a:t>
            </a:r>
          </a:p>
        </p:txBody>
      </p:sp>
      <p:sp>
        <p:nvSpPr>
          <p:cNvPr id="10" name="">
            <a:extLst xmlns:a="http://schemas.openxmlformats.org/drawingml/2006/main">
              <a:ext uri="{FF2B5EF4-FFF2-40B4-BE49-F238E27FC236}">
                <a16:creationId xmlns:a16="http://schemas.microsoft.com/office/drawing/2014/main" id="{F328566D-3DBD-40AF-A3DC-4AED565C7C66}"/>
              </a:ext>
            </a:extLst>
          </p:cNvPr>
          <p:cNvSpPr>
            <a:spLocks xmlns:a="http://schemas.openxmlformats.org/drawingml/2006/main" noGrp="1"/>
          </p:cNvSpPr>
          <p:nvPr/>
        </p:nvSpPr>
        <p:spPr>
          <a:xfrm xmlns:a="http://schemas.openxmlformats.org/drawingml/2006/main">
            <a:off x="400050" y="581025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This prevents favorable secondary metrics from laundering a failed primary hypothesis.</a:t>
            </a:r>
          </a:p>
        </p:txBody>
      </p:sp>
    </p:spTree>
    <p:extLst>
      <p:ext uri="{BB962C8B-B14F-4D97-AF65-F5344CB8AC3E}">
        <p14:creationId xmlns:p14="http://schemas.microsoft.com/office/powerpoint/2010/main" val="97602724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93D1B11-64E7-48EA-86C6-3DA4ACC75CDE}"/>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13-title">
            <a:extLst xmlns:a="http://schemas.openxmlformats.org/drawingml/2006/main">
              <a:ext uri="{FF2B5EF4-FFF2-40B4-BE49-F238E27FC236}">
                <a16:creationId xmlns:a16="http://schemas.microsoft.com/office/drawing/2014/main" id="{5359DFED-FFA9-4922-82E9-17E965940BAB}"/>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Three gates remain before a defensible security claim</a:t>
            </a:r>
          </a:p>
        </p:txBody>
      </p:sp>
      <p:sp>
        <p:nvSpPr>
          <p:cNvPr id="3" name="">
            <a:extLst xmlns:a="http://schemas.openxmlformats.org/drawingml/2006/main">
              <a:ext uri="{FF2B5EF4-FFF2-40B4-BE49-F238E27FC236}">
                <a16:creationId xmlns:a16="http://schemas.microsoft.com/office/drawing/2014/main" id="{5766D728-C950-41A3-A178-827AD77095EF}"/>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23</a:t>
            </a:r>
          </a:p>
        </p:txBody>
      </p:sp>
      <p:sp>
        <p:nvSpPr>
          <p:cNvPr id="4" name="">
            <a:extLst xmlns:a="http://schemas.openxmlformats.org/drawingml/2006/main">
              <a:ext uri="{FF2B5EF4-FFF2-40B4-BE49-F238E27FC236}">
                <a16:creationId xmlns:a16="http://schemas.microsoft.com/office/drawing/2014/main" id="{9C918F06-D9CE-493E-9479-8F130A10E024}"/>
              </a:ext>
            </a:extLst>
          </p:cNvPr>
          <p:cNvSpPr>
            <a:spLocks xmlns:a="http://schemas.openxmlformats.org/drawingml/2006/main" noGrp="1"/>
          </p:cNvSpPr>
          <p:nvPr/>
        </p:nvSpPr>
        <p:spPr>
          <a:xfrm xmlns:a="http://schemas.openxmlformats.org/drawingml/2006/main">
            <a:off x="400050" y="1762125"/>
            <a:ext cx="3381375" cy="338137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6CB0F6C-0882-4DCC-A200-A94539C1C9AD}"/>
              </a:ext>
            </a:extLst>
          </p:cNvPr>
          <p:cNvSpPr>
            <a:spLocks xmlns:a="http://schemas.openxmlformats.org/drawingml/2006/main" noGrp="1"/>
          </p:cNvSpPr>
          <p:nvPr/>
        </p:nvSpPr>
        <p:spPr>
          <a:xfrm xmlns:a="http://schemas.openxmlformats.org/drawingml/2006/main">
            <a:off x="666750" y="2047875"/>
            <a:ext cx="66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3D8DFF"/>
                </a:solidFill>
                <a:latin typeface="Helvetica Neue"/>
                <a:ea typeface="Helvetica Neue"/>
                <a:cs typeface="Helvetica Neue"/>
              </a:defRPr>
            </a:pPr>
            <a:r>
              <a:rPr sz="3600" b="1">
                <a:solidFill>
                  <a:srgbClr val="3D8DFF"/>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2729D0F4-52DE-44AD-A4CB-4460DC31FDB5}"/>
              </a:ext>
            </a:extLst>
          </p:cNvPr>
          <p:cNvSpPr>
            <a:spLocks xmlns:a="http://schemas.openxmlformats.org/drawingml/2006/main" noGrp="1"/>
          </p:cNvSpPr>
          <p:nvPr/>
        </p:nvSpPr>
        <p:spPr>
          <a:xfrm xmlns:a="http://schemas.openxmlformats.org/drawingml/2006/main">
            <a:off x="666750" y="2905125"/>
            <a:ext cx="2809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Stack-aware attack search</a:t>
            </a:r>
          </a:p>
        </p:txBody>
      </p:sp>
      <p:sp>
        <p:nvSpPr>
          <p:cNvPr id="7" name="">
            <a:extLst xmlns:a="http://schemas.openxmlformats.org/drawingml/2006/main">
              <a:ext uri="{FF2B5EF4-FFF2-40B4-BE49-F238E27FC236}">
                <a16:creationId xmlns:a16="http://schemas.microsoft.com/office/drawing/2014/main" id="{1A62AD8D-EC5F-43A7-AB6F-655A82A07AB3}"/>
              </a:ext>
            </a:extLst>
          </p:cNvPr>
          <p:cNvSpPr>
            <a:spLocks xmlns:a="http://schemas.openxmlformats.org/drawingml/2006/main" noGrp="1"/>
          </p:cNvSpPr>
          <p:nvPr/>
        </p:nvSpPr>
        <p:spPr>
          <a:xfrm xmlns:a="http://schemas.openxmlformats.org/drawingml/2006/main">
            <a:off x="666750" y="3857625"/>
            <a:ext cx="2809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5D636D"/>
                </a:solidFill>
                <a:latin typeface="Helvetica Neue"/>
                <a:ea typeface="Helvetica Neue"/>
                <a:cs typeface="Helvetica Neue"/>
              </a:defRPr>
            </a:pPr>
            <a:r>
              <a:rPr sz="1425" b="0">
                <a:solidFill>
                  <a:srgbClr val="5D636D"/>
                </a:solidFill>
                <a:latin typeface="Helvetica Neue"/>
                <a:ea typeface="Helvetica Neue"/>
                <a:cs typeface="Helvetica Neue"/>
              </a:rPr>
              <a:t>Equal query, token, tool, and rollout budgets. Fresh-seed diagonal evaluation against every finalist stack.</a:t>
            </a:r>
          </a:p>
        </p:txBody>
      </p:sp>
      <p:sp>
        <p:nvSpPr>
          <p:cNvPr id="8" name="">
            <a:extLst xmlns:a="http://schemas.openxmlformats.org/drawingml/2006/main">
              <a:ext uri="{FF2B5EF4-FFF2-40B4-BE49-F238E27FC236}">
                <a16:creationId xmlns:a16="http://schemas.microsoft.com/office/drawing/2014/main" id="{7666D313-1F48-43F0-9D61-E73D7E9941F8}"/>
              </a:ext>
            </a:extLst>
          </p:cNvPr>
          <p:cNvSpPr>
            <a:spLocks xmlns:a="http://schemas.openxmlformats.org/drawingml/2006/main" noGrp="1"/>
          </p:cNvSpPr>
          <p:nvPr/>
        </p:nvSpPr>
        <p:spPr>
          <a:xfrm xmlns:a="http://schemas.openxmlformats.org/drawingml/2006/main">
            <a:off x="4257675" y="1762125"/>
            <a:ext cx="3381375" cy="338137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972F8DC-99C4-4BDC-BED5-577140495A2F}"/>
              </a:ext>
            </a:extLst>
          </p:cNvPr>
          <p:cNvSpPr>
            <a:spLocks xmlns:a="http://schemas.openxmlformats.org/drawingml/2006/main" noGrp="1"/>
          </p:cNvSpPr>
          <p:nvPr/>
        </p:nvSpPr>
        <p:spPr>
          <a:xfrm xmlns:a="http://schemas.openxmlformats.org/drawingml/2006/main">
            <a:off x="4524375" y="2047875"/>
            <a:ext cx="66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3D8DFF"/>
                </a:solidFill>
                <a:latin typeface="Helvetica Neue"/>
                <a:ea typeface="Helvetica Neue"/>
                <a:cs typeface="Helvetica Neue"/>
              </a:defRPr>
            </a:pPr>
            <a:r>
              <a:rPr sz="3600" b="1">
                <a:solidFill>
                  <a:srgbClr val="3D8D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CEF70D54-33E3-4A40-8C03-DD9B30F008E1}"/>
              </a:ext>
            </a:extLst>
          </p:cNvPr>
          <p:cNvSpPr>
            <a:spLocks xmlns:a="http://schemas.openxmlformats.org/drawingml/2006/main" noGrp="1"/>
          </p:cNvSpPr>
          <p:nvPr/>
        </p:nvSpPr>
        <p:spPr>
          <a:xfrm xmlns:a="http://schemas.openxmlformats.org/drawingml/2006/main">
            <a:off x="4524375" y="2905125"/>
            <a:ext cx="2809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Discriminative selector study</a:t>
            </a:r>
          </a:p>
        </p:txBody>
      </p:sp>
      <p:sp>
        <p:nvSpPr>
          <p:cNvPr id="11" name="">
            <a:extLst xmlns:a="http://schemas.openxmlformats.org/drawingml/2006/main">
              <a:ext uri="{FF2B5EF4-FFF2-40B4-BE49-F238E27FC236}">
                <a16:creationId xmlns:a16="http://schemas.microsoft.com/office/drawing/2014/main" id="{FE5E9369-2DCD-41E3-8370-8E02EFD6C3D7}"/>
              </a:ext>
            </a:extLst>
          </p:cNvPr>
          <p:cNvSpPr>
            <a:spLocks xmlns:a="http://schemas.openxmlformats.org/drawingml/2006/main" noGrp="1"/>
          </p:cNvSpPr>
          <p:nvPr/>
        </p:nvSpPr>
        <p:spPr>
          <a:xfrm xmlns:a="http://schemas.openxmlformats.org/drawingml/2006/main">
            <a:off x="4524375" y="3857625"/>
            <a:ext cx="2809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5D636D"/>
                </a:solidFill>
                <a:latin typeface="Helvetica Neue"/>
                <a:ea typeface="Helvetica Neue"/>
                <a:cs typeface="Helvetica Neue"/>
              </a:defRPr>
            </a:pPr>
            <a:r>
              <a:rPr sz="1425" b="0">
                <a:solidFill>
                  <a:srgbClr val="5D636D"/>
                </a:solidFill>
                <a:latin typeface="Helvetica Neue"/>
                <a:ea typeface="Helvetica Neue"/>
                <a:cs typeface="Helvetica Neue"/>
              </a:rPr>
              <a:t>Expand stack/cell diversity until baseline selectors can choose differently; freeze the margin before test.</a:t>
            </a:r>
          </a:p>
        </p:txBody>
      </p:sp>
      <p:sp>
        <p:nvSpPr>
          <p:cNvPr id="12" name="">
            <a:extLst xmlns:a="http://schemas.openxmlformats.org/drawingml/2006/main">
              <a:ext uri="{FF2B5EF4-FFF2-40B4-BE49-F238E27FC236}">
                <a16:creationId xmlns:a16="http://schemas.microsoft.com/office/drawing/2014/main" id="{6528467C-53F3-4C5F-8A2C-CA0379AE0394}"/>
              </a:ext>
            </a:extLst>
          </p:cNvPr>
          <p:cNvSpPr>
            <a:spLocks xmlns:a="http://schemas.openxmlformats.org/drawingml/2006/main" noGrp="1"/>
          </p:cNvSpPr>
          <p:nvPr/>
        </p:nvSpPr>
        <p:spPr>
          <a:xfrm xmlns:a="http://schemas.openxmlformats.org/drawingml/2006/main">
            <a:off x="8115300" y="1762125"/>
            <a:ext cx="3381375" cy="33813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6DBDC29-977A-4C0E-A37E-208BB8034B84}"/>
              </a:ext>
            </a:extLst>
          </p:cNvPr>
          <p:cNvSpPr>
            <a:spLocks xmlns:a="http://schemas.openxmlformats.org/drawingml/2006/main" noGrp="1"/>
          </p:cNvSpPr>
          <p:nvPr/>
        </p:nvSpPr>
        <p:spPr>
          <a:xfrm xmlns:a="http://schemas.openxmlformats.org/drawingml/2006/main">
            <a:off x="8382000" y="2047875"/>
            <a:ext cx="66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3D8DFF"/>
                </a:solidFill>
                <a:latin typeface="Helvetica Neue"/>
                <a:ea typeface="Helvetica Neue"/>
                <a:cs typeface="Helvetica Neue"/>
              </a:defRPr>
            </a:pPr>
            <a:r>
              <a:rPr sz="3600" b="1">
                <a:solidFill>
                  <a:srgbClr val="3D8DFF"/>
                </a:solidFill>
                <a:latin typeface="Helvetica Neue"/>
                <a:ea typeface="Helvetica Neue"/>
                <a:cs typeface="Helvetica Neue"/>
              </a:rPr>
              <a:t>3</a:t>
            </a:r>
          </a:p>
        </p:txBody>
      </p:sp>
      <p:sp>
        <p:nvSpPr>
          <p:cNvPr id="14" name="">
            <a:extLst xmlns:a="http://schemas.openxmlformats.org/drawingml/2006/main">
              <a:ext uri="{FF2B5EF4-FFF2-40B4-BE49-F238E27FC236}">
                <a16:creationId xmlns:a16="http://schemas.microsoft.com/office/drawing/2014/main" id="{6B71EFEB-6E3B-4058-9249-6176A880A2B7}"/>
              </a:ext>
            </a:extLst>
          </p:cNvPr>
          <p:cNvSpPr>
            <a:spLocks xmlns:a="http://schemas.openxmlformats.org/drawingml/2006/main" noGrp="1"/>
          </p:cNvSpPr>
          <p:nvPr/>
        </p:nvSpPr>
        <p:spPr>
          <a:xfrm xmlns:a="http://schemas.openxmlformats.org/drawingml/2006/main">
            <a:off x="8382000" y="2905125"/>
            <a:ext cx="2809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Held-out 7–9B family</a:t>
            </a:r>
          </a:p>
        </p:txBody>
      </p:sp>
      <p:sp>
        <p:nvSpPr>
          <p:cNvPr id="15" name="">
            <a:extLst xmlns:a="http://schemas.openxmlformats.org/drawingml/2006/main">
              <a:ext uri="{FF2B5EF4-FFF2-40B4-BE49-F238E27FC236}">
                <a16:creationId xmlns:a16="http://schemas.microsoft.com/office/drawing/2014/main" id="{424228B1-7D84-4286-911F-2F6BD03B8C86}"/>
              </a:ext>
            </a:extLst>
          </p:cNvPr>
          <p:cNvSpPr>
            <a:spLocks xmlns:a="http://schemas.openxmlformats.org/drawingml/2006/main" noGrp="1"/>
          </p:cNvSpPr>
          <p:nvPr/>
        </p:nvSpPr>
        <p:spPr>
          <a:xfrm xmlns:a="http://schemas.openxmlformats.org/drawingml/2006/main">
            <a:off x="8382000" y="3857625"/>
            <a:ext cx="2809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5D636D"/>
                </a:solidFill>
                <a:latin typeface="Helvetica Neue"/>
                <a:ea typeface="Helvetica Neue"/>
                <a:cs typeface="Helvetica Neue"/>
              </a:defRPr>
            </a:pPr>
            <a:r>
              <a:rPr sz="1425" b="0">
                <a:solidFill>
                  <a:srgbClr val="5D636D"/>
                </a:solidFill>
                <a:latin typeface="Helvetica Neue"/>
                <a:ea typeface="Helvetica Neue"/>
                <a:cs typeface="Helvetica Neue"/>
              </a:rPr>
              <a:t>Qualify a genuinely different capable model, then open single-axis and compound test manifests exactly once.</a:t>
            </a:r>
          </a:p>
        </p:txBody>
      </p:sp>
      <p:sp>
        <p:nvSpPr>
          <p:cNvPr id="16" name="">
            <a:extLst xmlns:a="http://schemas.openxmlformats.org/drawingml/2006/main">
              <a:ext uri="{FF2B5EF4-FFF2-40B4-BE49-F238E27FC236}">
                <a16:creationId xmlns:a16="http://schemas.microsoft.com/office/drawing/2014/main" id="{C41780EC-79B2-44E4-B91B-49D351981147}"/>
              </a:ext>
            </a:extLst>
          </p:cNvPr>
          <p:cNvSpPr>
            <a:spLocks xmlns:a="http://schemas.openxmlformats.org/drawingml/2006/main" noGrp="1"/>
          </p:cNvSpPr>
          <p:nvPr/>
        </p:nvSpPr>
        <p:spPr>
          <a:xfrm xmlns:a="http://schemas.openxmlformats.org/drawingml/2006/main">
            <a:off x="400050" y="5572125"/>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Current conclusion</a:t>
            </a:r>
          </a:p>
        </p:txBody>
      </p:sp>
      <p:sp>
        <p:nvSpPr>
          <p:cNvPr id="17" name="">
            <a:extLst xmlns:a="http://schemas.openxmlformats.org/drawingml/2006/main">
              <a:ext uri="{FF2B5EF4-FFF2-40B4-BE49-F238E27FC236}">
                <a16:creationId xmlns:a16="http://schemas.microsoft.com/office/drawing/2014/main" id="{DC76134C-4239-4D6A-B72F-EB9E8536DDB4}"/>
              </a:ext>
            </a:extLst>
          </p:cNvPr>
          <p:cNvSpPr>
            <a:spLocks xmlns:a="http://schemas.openxmlformats.org/drawingml/2006/main" noGrp="1"/>
          </p:cNvSpPr>
          <p:nvPr/>
        </p:nvSpPr>
        <p:spPr>
          <a:xfrm xmlns:a="http://schemas.openxmlformats.org/drawingml/2006/main">
            <a:off x="3000375" y="552450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Mechanism-backed feasibility is strong; adaptive and cross-model robustness remain open.</a:t>
            </a:r>
          </a:p>
        </p:txBody>
      </p:sp>
    </p:spTree>
    <p:extLst>
      <p:ext uri="{BB962C8B-B14F-4D97-AF65-F5344CB8AC3E}">
        <p14:creationId xmlns:p14="http://schemas.microsoft.com/office/powerpoint/2010/main" val="16417329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2026-08-21T08:09:07.6330000Z</dcterms:created>
  <dcterms:modified xsi:type="dcterms:W3CDTF">2026-08-21T08:09:07.6330000Z</dcterms:modified>
</coreProperties>
</file>