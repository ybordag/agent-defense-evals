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4f07a93ebd4208" /><Relationship Type="http://schemas.openxmlformats.org/officeDocument/2006/relationships/extended-properties" Target="/docProps/app.xml" Id="R6a61060c3b2744c6" /><Relationship Type="http://schemas.openxmlformats.org/officeDocument/2006/relationships/officeDocument" Target="/ppt/presentation.xml" Id="Rbd985d21413442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bc556172444b58"/>
  </p:sldMasterIdLst>
  <p:notesMasterIdLst>
    <p:notesMasterId xmlns:r="http://schemas.openxmlformats.org/officeDocument/2006/relationships" r:id="R650206d7b063448e"/>
  </p:notesMasterIdLst>
  <p:sldIdLst>
    <p:sldId xmlns:r="http://schemas.openxmlformats.org/officeDocument/2006/relationships" id="256" r:id="R881c98a96d4d48c1"/>
    <p:sldId xmlns:r="http://schemas.openxmlformats.org/officeDocument/2006/relationships" id="257" r:id="R06fb8ca9f6494deb"/>
    <p:sldId xmlns:r="http://schemas.openxmlformats.org/officeDocument/2006/relationships" id="258" r:id="Rafc26cb3dd6649bd"/>
    <p:sldId xmlns:r="http://schemas.openxmlformats.org/officeDocument/2006/relationships" id="259" r:id="R84b7ae101c764c2b"/>
    <p:sldId xmlns:r="http://schemas.openxmlformats.org/officeDocument/2006/relationships" id="260" r:id="Rae0c34a40b114cf8"/>
    <p:sldId xmlns:r="http://schemas.openxmlformats.org/officeDocument/2006/relationships" id="261" r:id="R024fae1036d2434a"/>
    <p:sldId xmlns:r="http://schemas.openxmlformats.org/officeDocument/2006/relationships" id="262" r:id="R8630a6ece3e44aa2"/>
    <p:sldId xmlns:r="http://schemas.openxmlformats.org/officeDocument/2006/relationships" id="263" r:id="Ra6da2316ed434e3b"/>
    <p:sldId xmlns:r="http://schemas.openxmlformats.org/officeDocument/2006/relationships" id="264" r:id="R5a9679d0b059426e"/>
    <p:sldId xmlns:r="http://schemas.openxmlformats.org/officeDocument/2006/relationships" id="265" r:id="Ra13c9b2b51ee4c8f"/>
    <p:sldId xmlns:r="http://schemas.openxmlformats.org/officeDocument/2006/relationships" id="266" r:id="Rb84d4e715a9b460b"/>
    <p:sldId xmlns:r="http://schemas.openxmlformats.org/officeDocument/2006/relationships" id="267" r:id="R6810e9bee88d46f7"/>
    <p:sldId xmlns:r="http://schemas.openxmlformats.org/officeDocument/2006/relationships" id="268" r:id="R93965bcbd10b42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f1e14bd3414e6b" /><Relationship Type="http://schemas.openxmlformats.org/officeDocument/2006/relationships/slideMaster" Target="/ppt/slideMasters/slideMaster1.xml" Id="R41bc556172444b58" /><Relationship Type="http://schemas.openxmlformats.org/officeDocument/2006/relationships/notesMaster" Target="/ppt/notesMasters/notesMaster1.xml" Id="R650206d7b063448e" /><Relationship Type="http://schemas.openxmlformats.org/officeDocument/2006/relationships/presProps" Target="/ppt/presProps.xml" Id="Re7fe190530d64b93" /><Relationship Type="http://schemas.openxmlformats.org/officeDocument/2006/relationships/tableStyles" Target="/ppt/tableStyles.xml" Id="R5872ef9080264a9c" /><Relationship Type="http://schemas.openxmlformats.org/officeDocument/2006/relationships/slide" Target="/ppt/slides/slide1.xml" Id="R881c98a96d4d48c1" /><Relationship Type="http://schemas.openxmlformats.org/officeDocument/2006/relationships/slide" Target="/ppt/slides/slide2.xml" Id="R06fb8ca9f6494deb" /><Relationship Type="http://schemas.openxmlformats.org/officeDocument/2006/relationships/slide" Target="/ppt/slides/slide3.xml" Id="Rafc26cb3dd6649bd" /><Relationship Type="http://schemas.openxmlformats.org/officeDocument/2006/relationships/slide" Target="/ppt/slides/slide4.xml" Id="R84b7ae101c764c2b" /><Relationship Type="http://schemas.openxmlformats.org/officeDocument/2006/relationships/slide" Target="/ppt/slides/slide5.xml" Id="Rae0c34a40b114cf8" /><Relationship Type="http://schemas.openxmlformats.org/officeDocument/2006/relationships/slide" Target="/ppt/slides/slide6.xml" Id="R024fae1036d2434a" /><Relationship Type="http://schemas.openxmlformats.org/officeDocument/2006/relationships/slide" Target="/ppt/slides/slide7.xml" Id="R8630a6ece3e44aa2" /><Relationship Type="http://schemas.openxmlformats.org/officeDocument/2006/relationships/slide" Target="/ppt/slides/slide8.xml" Id="Ra6da2316ed434e3b" /><Relationship Type="http://schemas.openxmlformats.org/officeDocument/2006/relationships/slide" Target="/ppt/slides/slide9.xml" Id="R5a9679d0b059426e" /><Relationship Type="http://schemas.openxmlformats.org/officeDocument/2006/relationships/slide" Target="/ppt/slides/slide10.xml" Id="Ra13c9b2b51ee4c8f" /><Relationship Type="http://schemas.openxmlformats.org/officeDocument/2006/relationships/slide" Target="/ppt/slides/slide11.xml" Id="Rb84d4e715a9b460b" /><Relationship Type="http://schemas.openxmlformats.org/officeDocument/2006/relationships/slide" Target="/ppt/slides/slide12.xml" Id="R6810e9bee88d46f7" /><Relationship Type="http://schemas.openxmlformats.org/officeDocument/2006/relationships/slide" Target="/ppt/slides/slide13.xml" Id="R93965bcbd10b42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ec29f1a97144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20bb1c96cb40c6" /><Relationship Type="http://schemas.openxmlformats.org/officeDocument/2006/relationships/notesMaster" Target="/ppt/notesMasters/notesMaster1.xml" Id="R6032358f555d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5eecfb85744601" /><Relationship Type="http://schemas.openxmlformats.org/officeDocument/2006/relationships/notesMaster" Target="/ppt/notesMasters/notesMaster1.xml" Id="R2628e48c37d342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e233e16b4948b9" /><Relationship Type="http://schemas.openxmlformats.org/officeDocument/2006/relationships/notesMaster" Target="/ppt/notesMasters/notesMaster1.xml" Id="Raafd940ad40142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edc7539dfe42ba" /><Relationship Type="http://schemas.openxmlformats.org/officeDocument/2006/relationships/notesMaster" Target="/ppt/notesMasters/notesMaster1.xml" Id="Re5c9158fa5634f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b16a8c6649494c" /><Relationship Type="http://schemas.openxmlformats.org/officeDocument/2006/relationships/notesMaster" Target="/ppt/notesMasters/notesMaster1.xml" Id="R07605344bd704d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8db9c83ecd434b" /><Relationship Type="http://schemas.openxmlformats.org/officeDocument/2006/relationships/notesMaster" Target="/ppt/notesMasters/notesMaster1.xml" Id="R4612c69287c840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940dbe759344b6" /><Relationship Type="http://schemas.openxmlformats.org/officeDocument/2006/relationships/notesMaster" Target="/ppt/notesMasters/notesMaster1.xml" Id="R3a4b0d7801b840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15e567c9aa41af" /><Relationship Type="http://schemas.openxmlformats.org/officeDocument/2006/relationships/notesMaster" Target="/ppt/notesMasters/notesMaster1.xml" Id="R1f91fa5007a443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83ff2382de41bc" /><Relationship Type="http://schemas.openxmlformats.org/officeDocument/2006/relationships/notesMaster" Target="/ppt/notesMasters/notesMaster1.xml" Id="Rd967a89488dc4c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d04d43dd874285" /><Relationship Type="http://schemas.openxmlformats.org/officeDocument/2006/relationships/notesMaster" Target="/ppt/notesMasters/notesMaster1.xml" Id="R55349212d9314d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436034724f41be" /><Relationship Type="http://schemas.openxmlformats.org/officeDocument/2006/relationships/notesMaster" Target="/ppt/notesMasters/notesMaster1.xml" Id="R8b8bea684bb046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c9727f1caf4fc5" /><Relationship Type="http://schemas.openxmlformats.org/officeDocument/2006/relationships/notesMaster" Target="/ppt/notesMasters/notesMaster1.xml" Id="Rf127f2a0179747d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f397dfa96143e7" /><Relationship Type="http://schemas.openxmlformats.org/officeDocument/2006/relationships/notesMaster" Target="/ppt/notesMasters/notesMaster1.xml" Id="R2c4824da1afe45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</a:t>
            </a:r>
          </a:p>
          <a:p xmlns:a="http://schemas.openxmlformats.org/drawingml/2006/main">
            <a:r>
              <a:t>- docs/experiments/mechanism_diverse_tail/evidence_report.md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https://arxiv.org/abs/2505.02077 (Section 3.3, pp. 28–30)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https://uryasev.github.io/publications/ (Rockafellar &amp; Uryasev, CVaR)</a:t>
            </a:r>
          </a:p>
          <a:p xmlns:a="http://schemas.openxmlformats.org/drawingml/2006/main">
            <a:r>
              <a:t>- https://arxiv.org/abs/1911.08731 (group DRO baseline)</a:t>
            </a:r>
          </a:p>
          <a:p xmlns:a="http://schemas.openxmlformats.org/drawingml/2006/main">
            <a:r>
              <a:t>- docs/experiments/mechanism_diverse_tail/README.md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https://uryasev.github.io/publications/</a:t>
            </a:r>
          </a:p>
          <a:p xmlns:a="http://schemas.openxmlformats.org/drawingml/2006/main">
            <a:r>
              <a:t>- https://arxiv.org/abs/1911.08731</a:t>
            </a:r>
          </a:p>
          <a:p xmlns:a="http://schemas.openxmlformats.org/drawingml/2006/main">
            <a:r>
              <a:t>- https://arxiv.org/abs/1810.08240</a:t>
            </a:r>
          </a:p>
          <a:p xmlns:a="http://schemas.openxmlformats.org/drawingml/2006/main">
            <a:r>
              <a:t>- https://arxiv.org/abs/2210.01948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docs/experiments/mechanism_diverse_tail/common_contract.md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artifacts/asap-evidence/tail-report.json</a:t>
            </a:r>
          </a:p>
          <a:p xmlns:a="http://schemas.openxmlformats.org/drawingml/2006/main">
            <a:r>
              <a:t>- artifacts/asap-evidence/phase7-model-capacity-7b-vllm.json</a:t>
            </a:r>
          </a:p>
          <a:p xmlns:a="http://schemas.openxmlformats.org/drawingml/2006/main">
            <a:r>
              <a:t>- artifacts/phase7-model-workflow-7b-report.json</a:t>
            </a:r>
          </a:p>
          <a:p xmlns:a="http://schemas.openxmlformats.org/drawingml/2006/main">
            <a:r>
              <a:t>- artifacts/phase5-confirmatory-report.json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artifacts/asap-evidence/phase7-model-capacity-7b-vllm.json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artifacts/phase7-model-workflow-7b-report.json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artifacts/phase5-confirmatory-report.json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artifacts/asap-evidence/tail-report.json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docs/experiments/mechanism_diverse_tail/evidence_report.md</a:t>
            </a:r>
          </a:p>
          <a:p xmlns:a="http://schemas.openxmlformats.org/drawingml/2006/main">
            <a:r>
              <a:t>- docs/experiments/mechanism_diverse_tail/03_adaptive_best_response/README.md</a:t>
            </a:r>
          </a:p>
          <a:p xmlns:a="http://schemas.openxmlformats.org/drawingml/2006/main">
            <a:r>
              <a:t>- docs/experiments/mechanism_diverse_tail/04_compound_heldout_transfer/README.md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1b0fd68d24a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da3e7bc6bd4b6f" /><Relationship Type="http://schemas.openxmlformats.org/officeDocument/2006/relationships/slideLayout" Target="/ppt/slideLayouts/slideLayout1.xml" Id="Rba05b670edc24d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05b670edc24d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0ec009f234025" /><Relationship Type="http://schemas.openxmlformats.org/officeDocument/2006/relationships/notesSlide" Target="/ppt/notesSlides/notesSlide1.xml" Id="Rd555c0ec6def44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f975c53024bb9" /><Relationship Type="http://schemas.openxmlformats.org/officeDocument/2006/relationships/notesSlide" Target="/ppt/notesSlides/notesSlide2.xml" Id="R87398e00fa0f4e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c235950a14208" /><Relationship Type="http://schemas.openxmlformats.org/officeDocument/2006/relationships/notesSlide" Target="/ppt/notesSlides/notesSlide3.xml" Id="R13b5518616e744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96660a8be4b34" /><Relationship Type="http://schemas.openxmlformats.org/officeDocument/2006/relationships/notesSlide" Target="/ppt/notesSlides/notesSlide4.xml" Id="R9dd856f8040244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6f0347749404d" /><Relationship Type="http://schemas.openxmlformats.org/officeDocument/2006/relationships/notesSlide" Target="/ppt/notesSlides/notesSlide5.xml" Id="R7cb2ab33f9d944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efb4290124a4c" /><Relationship Type="http://schemas.openxmlformats.org/officeDocument/2006/relationships/notesSlide" Target="/ppt/notesSlides/notesSlide6.xml" Id="R09f36369103447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e9eaacf634aaf" /><Relationship Type="http://schemas.openxmlformats.org/officeDocument/2006/relationships/chart" Target="/ppt/slides/charts/chart1.xml" Id="R6d1be04bac6d45d2" /><Relationship Type="http://schemas.openxmlformats.org/officeDocument/2006/relationships/notesSlide" Target="/ppt/notesSlides/notesSlide7.xml" Id="R480dd0c0dd1b4c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f8ce745124d77" /><Relationship Type="http://schemas.openxmlformats.org/officeDocument/2006/relationships/chart" Target="/ppt/slides/charts/chart2.xml" Id="R54424f4150824b16" /><Relationship Type="http://schemas.openxmlformats.org/officeDocument/2006/relationships/notesSlide" Target="/ppt/notesSlides/notesSlide8.xml" Id="R552386eb6cf943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c109a37b14d33" /><Relationship Type="http://schemas.openxmlformats.org/officeDocument/2006/relationships/chart" Target="/ppt/slides/charts/chart3.xml" Id="R3ddff10ef292457c" /><Relationship Type="http://schemas.openxmlformats.org/officeDocument/2006/relationships/notesSlide" Target="/ppt/notesSlides/notesSlide9.xml" Id="Rd3044336acb542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33c0343ee4ee3" /><Relationship Type="http://schemas.openxmlformats.org/officeDocument/2006/relationships/notesSlide" Target="/ppt/notesSlides/notesSlide10.xml" Id="Rd7cbe6bb937446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6aa70afe24a63" /><Relationship Type="http://schemas.openxmlformats.org/officeDocument/2006/relationships/chart" Target="/ppt/slides/charts/chart4.xml" Id="Rd0bac94755fa4186" /><Relationship Type="http://schemas.openxmlformats.org/officeDocument/2006/relationships/notesSlide" Target="/ppt/notesSlides/notesSlide11.xml" Id="R4afe55452a7348f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9e239da44495c" /><Relationship Type="http://schemas.openxmlformats.org/officeDocument/2006/relationships/notesSlide" Target="/ppt/notesSlides/notesSlide12.xml" Id="Rda67e0db28654e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b3171666a74621" /><Relationship Type="http://schemas.openxmlformats.org/officeDocument/2006/relationships/notesSlide" Target="/ppt/notesSlides/notesSlide13.xml" Id="Rdc3788cfcb9b460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Attack success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Unrestricted</c:v>
              </c:pt>
              <c:pt idx="1">
                <c:v>Paraphrase
fixed</c:v>
              </c:pt>
              <c:pt idx="2">
                <c:v>Paraphrase
adaptive</c:v>
              </c:pt>
              <c:pt idx="3">
                <c:v>Typed
adaptive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0.25</c:v>
              </c:pt>
              <c:pt idx="2">
                <c:v>1</c:v>
              </c:pt>
              <c:pt idx="3">
                <c:v>0.25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/>
                  <a:t>attack success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/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Attack success</c:v>
          </c:tx>
          <c:spPr>
            <a:solidFill xmlns:a="http://schemas.openxmlformats.org/drawingml/2006/main">
              <a:srgbClr val="A63434"/>
            </a:solidFill>
          </c:spPr>
          <c:cat>
            <c:strLit>
              <c:ptCount val="4"/>
              <c:pt idx="0">
                <c:v>No defense</c:v>
              </c:pt>
              <c:pt idx="1">
                <c:v>Local only</c:v>
              </c:pt>
              <c:pt idx="2">
                <c:v>Hard block</c:v>
              </c:pt>
              <c:pt idx="3">
                <c:v>Targeted repair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0</c:v>
              </c:pt>
              <c:pt idx="3">
                <c:v>0</c:v>
              </c:pt>
            </c:numLit>
          </c:val>
        </c:ser>
        <c:ser>
          <c:idx val="1"/>
          <c:order val="1"/>
          <c:tx>
            <c:v>Exact utility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No defense</c:v>
              </c:pt>
              <c:pt idx="1">
                <c:v>Local only</c:v>
              </c:pt>
              <c:pt idx="2">
                <c:v>Hard block</c:v>
              </c:pt>
              <c:pt idx="3">
                <c:v>Targeted repair</c:v>
              </c:pt>
            </c:strLit>
          </c:cat>
          <c:val>
            <c:numLit>
              <c:formatCode>General</c:formatCode>
              <c:ptCount val="4"/>
              <c:pt idx="0">
                <c:v>1</c:v>
              </c:pt>
              <c:pt idx="1">
                <c:v>1</c:v>
              </c:pt>
              <c:pt idx="2">
                <c:v>0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Detected before irreversible harm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Low rate</c:v>
              </c:pt>
              <c:pt idx="1">
                <c:v>Memory poisoning</c:v>
              </c:pt>
              <c:pt idx="2">
                <c:v>Reward induced</c:v>
              </c:pt>
              <c:pt idx="3">
                <c:v>Delayed trigger</c:v>
              </c:pt>
            </c:strLit>
          </c:cat>
          <c:val>
            <c:numLit>
              <c:formatCode>General</c:formatCode>
              <c:ptCount val="4"/>
              <c:pt idx="0">
                <c:v>0.275</c:v>
              </c:pt>
              <c:pt idx="1">
                <c:v>0.75</c:v>
              </c:pt>
              <c:pt idx="2">
                <c:v>0.75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25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Diverse stack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Joint singleton bypass</c:v>
              </c:pt>
              <c:pt idx="1">
                <c:v>Realized stack bypass</c:v>
              </c:pt>
            </c:strLit>
          </c:cat>
          <c:val>
            <c:numLit>
              <c:formatCode>General</c:formatCode>
              <c:ptCount val="2"/>
              <c:pt idx="0">
                <c:v>0.03125</c:v>
              </c:pt>
              <c:pt idx="1">
                <c:v>0.05625</c:v>
              </c:pt>
            </c:numLit>
          </c:val>
        </c:ser>
        <c:ser>
          <c:idx val="1"/>
          <c:order val="1"/>
          <c:tx>
            <c:v>Homogeneous ensemble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2"/>
              <c:pt idx="0">
                <c:v>Joint singleton bypass</c:v>
              </c:pt>
              <c:pt idx="1">
                <c:v>Realized stack bypass</c:v>
              </c:pt>
            </c:strLit>
          </c:cat>
          <c:val>
            <c:numLit>
              <c:formatCode>General</c:formatCode>
              <c:ptCount val="2"/>
              <c:pt idx="0">
                <c:v>0.63125</c:v>
              </c:pt>
              <c:pt idx="1">
                <c:v>0.65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0.1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/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F7A3-7436-4E02-AB4F-707AF45D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MULTI-AGENT DEFENSE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CB11F-AFF6-4F03-AF0C-53CAADA4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Mechanism-diverse</a:t>
            </a:r>
          </a:p>
          <a:p xmlns:a="http://schemas.openxmlformats.org/drawingml/2006/main">
            <a:pPr algn="l">
              <a:def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tail robustness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CF6D-5836-450F-A996-9E5E9661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7810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A falsifiable harness for collusion, steganography, compound attacks, and irreversible harm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CBD0C-57C1-44D1-BE35-FFC2818F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76300"/>
            <a:ext cx="180975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949E6-9A66-4F1B-A102-0AEA1752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352550"/>
            <a:ext cx="8572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47FDE2-12EE-41B9-8087-00AA0962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E01—E05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2,400 synthetic trajectories</a:t>
            </a:r>
          </a:p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900 frozen 7B episodes</a:t>
            </a:r>
          </a:p>
        </p:txBody>
      </p:sp>
    </p:spTree>
    <p:extLst>
      <p:ext uri="{BB962C8B-B14F-4D97-AF65-F5344CB8AC3E}">
        <p14:creationId xmlns:p14="http://schemas.microsoft.com/office/powerpoint/2010/main" val="3165089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9099C-0853-4127-A943-84671A9A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C64C9AF2-450C-416F-BF2D-736C72B4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Compound attack axes defeat average-case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828D0-64AE-4CF2-9B1A-8A36EB632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7BDB3-9CE1-48E3-833F-3C84ADFB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Section 3.3 treats attack categories and attack variation separately. The difficult cases combine adverse values across several axes.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A942C-5803-40BF-99D2-B3060E3D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Detectability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E6606-A63A-4A64-BD78-345C6797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2479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observable signal → structurally undetectable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400050" y="29051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82E17F-FE5B-4B8F-B65C-4187B426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8BB6E-6BDE-4FEA-B0BE-610B46DC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81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agent → coalition or whole graph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38385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2639D-9DFB-4113-B817-996142A3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0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Cascading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6A434-AEE1-429F-82A0-838908E6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1148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contained → propagating compromise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400050" y="47720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83C11-4523-404D-9AA5-534569B3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38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FE275-7992-4688-B0DE-38C0904B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0482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action → harmless-looking multi-step chain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400050" y="57054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36886-8946-4668-862F-F2C3339D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Time horizon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A7B2CA-9108-4CFD-A862-542DD51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479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one shot → deployment lifetime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6210300" y="29051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9C697-E14C-464E-AF35-66408279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718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Attributability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038FBD-DA15-40EB-8BBB-B6793AF2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813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traceable actor → degraded lineage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210300" y="38385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C0994-C306-4A4F-B1A3-E67CB963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052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Directness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70AA6-5AD7-408A-9559-FE035A8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11480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explicit attacker → emergent harm</a:t>
            </a:r>
          </a:p>
        </p:txBody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6210300" y="477202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22504A-45F0-4DA1-9FBF-26461467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3872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Reversibility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7566D9-FFEF-4AC0-8A0C-353EB742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48250"/>
            <a:ext cx="361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rollback → irreversible consequence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6210300" y="5705475"/>
            <a:ext cx="5381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11AFF5-A4DF-4748-9178-36D3F5F4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674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 implication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01A019-9594-44F2-B29F-330A98A7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6742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Optimize the worst conditional tail—not the pooled average case.</a:t>
            </a:r>
          </a:p>
        </p:txBody>
      </p:sp>
    </p:spTree>
    <p:extLst>
      <p:ext uri="{BB962C8B-B14F-4D97-AF65-F5344CB8AC3E}">
        <p14:creationId xmlns:p14="http://schemas.microsoft.com/office/powerpoint/2010/main" val="11810018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48647-FB61-4778-9EC2-3A58A81D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0917119-A4B0-4A44-B08A-E1672761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Tail selection meets failure-mechanism diversity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E2EBA-D36D-49AB-8187-2FDB1001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1168C-9623-4937-A5F9-695B64D7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93257-CBDE-47AB-AF4B-960321F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1076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π* = arg minπ  maxg  UCB[CVaR0.10(Z | g, BR(π,g))]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7BEC2-BC3B-478F-A276-D0E9C5EF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574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subject to utility, false-alarm, and latency constraints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53CCCC-5864-40E5-8EAC-3BA32BDB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3F6CD-9259-4F54-812A-FFB39B48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367CB-2A30-4606-B8AC-85ADF02E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A1A58-4A26-45BB-9CDC-3E248A55C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3038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Selection targets rare severe trajectories inside each attack cell—not merely cell means.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3C398-AF4E-4E84-AF78-E2A7AC6B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33750"/>
            <a:ext cx="347662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A2609-3DE1-431B-BF03-DD80BE04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60E2F-A6B1-4608-941A-68939804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00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65616-D563-457C-9700-054E969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57700"/>
            <a:ext cx="3038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Matched singleton forks measure whether defense layers share the same failure set.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349C8-526C-4964-A919-DAC5F0F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34861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B66CD-D7BD-4129-A76E-BBF01D81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9525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A5DCE2-6E7A-46D1-AC6D-8960A1A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BR(π,g)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3C488-3D18-4BBE-BBF0-7AF9005A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57700"/>
            <a:ext cx="304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The attacker is re-optimized against each deployed stack under an equal budget.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FC88A-3A68-4EDD-97E8-83662CDB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Distinctive prediction: validation failure geometry predicts adaptive held-out stack gain.</a:t>
            </a:r>
          </a:p>
        </p:txBody>
      </p:sp>
    </p:spTree>
    <p:extLst>
      <p:ext uri="{BB962C8B-B14F-4D97-AF65-F5344CB8AC3E}">
        <p14:creationId xmlns:p14="http://schemas.microsoft.com/office/powerpoint/2010/main" val="1263853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5E479-F304-43E0-9DD7-6ECE0BB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75D1F63C-9327-4B72-9129-86881690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testable novelty is common-mode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7683D-8C23-4AC2-AA5B-ED38921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BDC0CE-0622-4406-9B4F-98CF1B34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43050"/>
            <a:ext cx="5429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CD06E-8FC1-495C-9B93-0E6F7A30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43050"/>
            <a:ext cx="56007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63782-92FE-4FEB-9BA8-546B59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Established machinery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64050-A6DA-4B46-82A2-CAB2EC10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667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CVaR / expected shortfall</a:t>
            </a:r>
          </a:p>
          <a:p xmlns:a="http://schemas.openxmlformats.org/drawingml/2006/main">
            <a:pPr algn="l"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Worst-group or distributionally robust selection</a:t>
            </a:r>
          </a:p>
          <a:p xmlns:a="http://schemas.openxmlformats.org/drawingml/2006/main">
            <a:pPr algn="l"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Confidence bounds and multiplicity control</a:t>
            </a:r>
          </a:p>
          <a:p xmlns:a="http://schemas.openxmlformats.org/drawingml/2006/main">
            <a:pPr algn="l"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Anytime-valid sequential evidence</a:t>
            </a:r>
          </a:p>
          <a:p xmlns:a="http://schemas.openxmlformats.org/drawingml/2006/main">
            <a:pPr algn="l">
              <a:def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• Utility-constrained optimization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5A0DB-A5FB-4312-BFF3-AD6BAB91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57375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New hypotheses to falsify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D6E4E-7DEC-485C-B4D4-00B4FD5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 Fixed-panel layer failures are complementary.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2. Complementarity survives stack-aware adaptation.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3. Validation Γ predicts held-out realized gain beyond component quality and cost.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5AC7-7E09-417E-8BE5-0A3A1455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No universal claim: success is bounded by the registered models, channels, tools, and attacker budget.</a:t>
            </a:r>
          </a:p>
        </p:txBody>
      </p:sp>
    </p:spTree>
    <p:extLst>
      <p:ext uri="{BB962C8B-B14F-4D97-AF65-F5344CB8AC3E}">
        <p14:creationId xmlns:p14="http://schemas.microsoft.com/office/powerpoint/2010/main" val="1816091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0C0637-2900-4AC7-8115-15880B658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441AD398-7AE6-4EEA-9B80-FD3B60A0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harness separates four scientific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8FA7F-9A2D-4011-9DBB-172F858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809625" y="3286125"/>
            <a:ext cx="10287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46216-E4D4-4D8E-953C-B0941DA7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26A82-3BE2-4191-8AFE-A09B7285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EA8DC-57F5-4EF4-B9E5-702D802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Matched panels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C8E62-D104-4EE6-B680-46BA5CFE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Replay one attack against each singleton and the full stack.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8D885-1CB0-4121-AD8B-7357057F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4D015-870C-4988-8E6D-8753A803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BD092-31B0-4340-ACE0-6C045FC9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 selection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D1D8E-2A5F-4CC1-9FC5-66431A65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Compare five selectors on identical trajectories and constraints.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0158D-8023-4FED-AEE8-0193D8EF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AA2E37-6335-4467-A68F-A5455896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B4469-E9C9-4273-AA7D-6452F5DC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Best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1C8A96-7D87-4C67-851A-962D3213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Search against each stack with the same query and rollout budget.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E2F06-061B-4E6C-A459-4B439181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F6B17-0CBF-4604-96C8-53689B09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8903A-CDCF-4019-91F7-DA192D37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Sealed holdout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10897-8291-41A0-BF23-7138DD56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Open test cells only after a hash-bound selection artifact exists.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A663-9917-49BF-91CD-1D48A3E9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289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93813-4F51-4713-98FE-5377906B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14675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BB2C60-5262-4233-A12A-F382C862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5762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 harm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19D626-7430-4C84-BCEA-92269403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381500"/>
            <a:ext cx="1809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Score intervention relative to the first irreversible action.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CDE00-70DF-47F6-B12D-E1785963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Common 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02833-D67E-47B9-94D1-91805780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Immutable assignments • paired seeds • model/runtime revision • consequence loss • utility • latency • trace hash</a:t>
            </a:r>
          </a:p>
        </p:txBody>
      </p:sp>
    </p:spTree>
    <p:extLst>
      <p:ext uri="{BB962C8B-B14F-4D97-AF65-F5344CB8AC3E}">
        <p14:creationId xmlns:p14="http://schemas.microsoft.com/office/powerpoint/2010/main" val="10690950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31C71-3FBE-45E9-B711-EDD3B75D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CA9E1DB2-44DE-4718-AAFD-A4928026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levels are explicit—not interchangeable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4CF4-81B3-48FE-9AEA-F5440C23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7BDED-2BE1-4928-97F6-FC2F2BA9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DC0F-8382-4F57-96E5-060EA26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6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7BA5D-E40A-4135-938D-774336F5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2,400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BF936-6003-469C-9E55-F76CBEA7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0384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Controlled trajectories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Validates estimands, leakage controls, selectors, and known positive/negative fixtures.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8085-898C-4C86-B1FA-6D1D5FF6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3476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ABD1D-F00F-4EC1-9266-2BE52D1E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59B87-AB64-4F51-A371-EF4D948A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3038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64 + 24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1B36BE-585A-435E-AA53-5D01585E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33700"/>
            <a:ext cx="30384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7B mechanism canaries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Shows covert-channel and remediation paths execute on pinned Qwen2.5-7B.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AC07C0-0BDD-492D-9A25-0C42D64E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4861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4F48E-FA4D-4F63-B5C6-E8B25428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9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B2D4F-964F-42B1-8200-323DE068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900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6C9C74-72A0-4552-948E-ACA23CC5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Frozen 7B sequential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Supports registered lifetime-error claims—not the full layered conjecture.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ABC26-1996-4C7A-9D39-7267C562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Overall status: mechanism-backed feasibility; full conjecture unconfirmed.</a:t>
            </a:r>
          </a:p>
        </p:txBody>
      </p:sp>
    </p:spTree>
    <p:extLst>
      <p:ext uri="{BB962C8B-B14F-4D97-AF65-F5344CB8AC3E}">
        <p14:creationId xmlns:p14="http://schemas.microsoft.com/office/powerpoint/2010/main" val="3145828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2E770-9413-4750-8886-127FE3D8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1462EBED-5E7F-431A-BF19-FD71AA23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Typed mediation holds after semantic adaptation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6FD1D-B3B8-4CF1-B87C-53F33837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723900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1be04bac6d45d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7ACE5B-E8E8-4FC4-8106-33D26A91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813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2CFBA-E705-4925-899C-F147B4A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Utility = 1.00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E331E-680F-400F-B6A4-3549287B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in every 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FEFA4-1619-4CA4-9FCB-794628C0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it teaches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DD393-25F8-4C82-B43A-66209D7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23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Suppressing one representation does not remove task-compatible channel capacity. The typed schema removes registered carrier degrees of freedom.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D110C-6349-4F49-B810-60959413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n = 16 episodes / condition • pinned Qwen2.5-7B • registered codebook</a:t>
            </a:r>
          </a:p>
        </p:txBody>
      </p:sp>
    </p:spTree>
    <p:extLst>
      <p:ext uri="{BB962C8B-B14F-4D97-AF65-F5344CB8AC3E}">
        <p14:creationId xmlns:p14="http://schemas.microsoft.com/office/powerpoint/2010/main" val="9431731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FF592-F54F-424F-B66C-2EDC9349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37E69B3F-EBCE-41F9-BF5B-DE90A281A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Targeted repair preserves utility; hard blocking does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F52A6-7687-4D8D-8774-DA8B2865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7715250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4424f4150824b1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336DE-6A69-48B7-925A-9FBBFA1D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Registered harmful workflow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E1665-639F-4D8D-AAF6-60BA2956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2809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Local policies accept each step. The provenance-aware repair removes the prohibited flow and keeps the legitimate workflow intact.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65D1C-4521-4C14-8E73-BFA9EA6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24375"/>
            <a:ext cx="2809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992A-B0CB-45BF-83A8-810CA4BE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625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n = 4 / condition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781DF-D651-4B12-9D04-D8E70247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2197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feasibility—not confirmation</a:t>
            </a:r>
          </a:p>
        </p:txBody>
      </p:sp>
    </p:spTree>
    <p:extLst>
      <p:ext uri="{BB962C8B-B14F-4D97-AF65-F5344CB8AC3E}">
        <p14:creationId xmlns:p14="http://schemas.microsoft.com/office/powerpoint/2010/main" val="5051139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F19709-49B3-47B4-A352-F9AE71F7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A9FD2FB8-3B79-426E-89BC-EA226EF8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Low-rate harms expose the monitoring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EA8DB-6990-475F-93D5-F0B76B8E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7239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dff10ef292457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1C860C-840B-426E-A2CD-BA5BCAD1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81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FD91F-0C48-4C0B-8A49-221BD8F2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B0137-B802-46B0-AC98-5F55509B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0.0458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16A40-E1BB-495B-97BA-208EF766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Benign lifetime-alarm 95% upper bound</a:t>
            </a:r>
          </a:p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 / 80 alarms in each benign test stratum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6E82A-EAE2-42DB-A313-26A96688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3381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248122-591F-442F-A6E9-A17FACD1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95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F2722-13A5-495B-BC3C-29CD6B01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Same rates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B92C4-F32E-43FE-B2ED-5AE31378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029200"/>
            <a:ext cx="29432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All monitors calibrated to zero thresholds; the e-process was often slower.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DCF22-AAD9-4EA9-B3D5-FFECAD97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Frozen test: 560 episodes • 80 / condition • Qwen2.5-7B</a:t>
            </a:r>
          </a:p>
        </p:txBody>
      </p:sp>
    </p:spTree>
    <p:extLst>
      <p:ext uri="{BB962C8B-B14F-4D97-AF65-F5344CB8AC3E}">
        <p14:creationId xmlns:p14="http://schemas.microsoft.com/office/powerpoint/2010/main" val="18178784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10ECD3-08AE-4304-97E2-ABA54357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E07834F3-1512-4A27-BD49-56266779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Controlled mechanisms pass; selector superiority does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D766C-49B7-429F-A581-E931604A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92410-FACB-4AF5-9012-FFC9E478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8115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90FD0-06E6-4DB6-947B-F1EEFE29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81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CB01F-1972-446C-8808-A0CCD550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PRIMARY CONTROLLED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ACECBB-4FF3-44E9-8319-A035E4FA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81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GATE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400050" y="194310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3959C0-5CF5-46FF-95A8-B49BF945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9A9D8-6F11-42C5-AD56-63A26CC9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45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B5759-755D-4F48-BBF0-3A52CF17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1145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Selector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9F39D-BB0F-448D-96CD-FD5FC5AA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0.00 improvement; all choose diverse-stack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2D3CA-72DC-4411-B627-E259685A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1145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NO CONTRAST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4DCAE7-2AC5-43FD-9062-C791D0DA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956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ABFCDC-D759-4FFC-9FEB-4AB3624D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8956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Failure complementarity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95ED0-6BDF-47C0-9E8D-987BCF8A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Γ 0.406; realized gain 0.381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8898E-93BD-4886-B06B-F44EBF9E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956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B62F4-6391-4903-B77B-3A5567F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D7E86-C26C-47DD-A2AA-EF16EC3C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766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818B89-FD32-46E0-A25F-AE94A79B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766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Adaptive persistence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3ACDF-0EC6-4D5A-B56E-63A48719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766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0.93 vs 1.00 worst-cell CVaR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330313-2CE2-473A-9B89-6BC5E344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676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C6C0A-9318-433B-A5B1-2C307173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3368E0-86F3-4901-8045-FCDE2A17A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577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Held-out transfer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029E85-6090-472A-A25B-7CF90505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5770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Spearman 0.866; compound gate 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8026B-58A4-4CF5-BAB9-13258B19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577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FAIL*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FC104-DD28-430E-BA94-0DE112C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19946-B7D7-481F-8941-85C5E874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38750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DA00D5-624E-431F-A2CE-12E0FE62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Before-harm validity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DA2D1B-3415-4F0D-9600-FD2A83FA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38750"/>
            <a:ext cx="5191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harm 0.725 → 0.025; before-harm 0.95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52420-C4CE-4477-A5F5-EEA2EFA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5238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PASS*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38F686-D7F8-44E0-990B-6C52ECCE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* controlled synthetic gate only; not evidence about stochastic LLM-agent robustness</a:t>
            </a:r>
          </a:p>
        </p:txBody>
      </p:sp>
    </p:spTree>
    <p:extLst>
      <p:ext uri="{BB962C8B-B14F-4D97-AF65-F5344CB8AC3E}">
        <p14:creationId xmlns:p14="http://schemas.microsoft.com/office/powerpoint/2010/main" val="186869125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6BA0A9-E813-4212-8612-E23A499D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E76E2DDF-B28C-40EF-842D-A6C91F87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Mechanism diversity breaks common-mode failure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80C0F-A953-4D68-B714-B8137207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7239000" cy="4238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bac94755fa418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29F59-0E22-433A-82D2-2CD880D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3381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35228-F393-46AE-9F1C-25522189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62125"/>
            <a:ext cx="9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7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A7EC5-37BB-4B44-BE2F-0C564B52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28825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0704A"/>
                </a:solidFill>
                <a:latin typeface="Helvetica Neue"/>
                <a:ea typeface="Helvetica Neue"/>
                <a:cs typeface="Helvetica Neue"/>
              </a:rPr>
              <a:t>Γ = 0.406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C261C-4FC5-41C7-BCC5-059C161E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86075"/>
            <a:ext cx="2943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Diverse fixed-panel complementarity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4F32C-4E8C-468A-9023-86A4747A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33813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3FF3C3-4D21-4894-B61F-8846D39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62375"/>
            <a:ext cx="95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6B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9068B-4B52-49DD-A8F3-E3FBE8F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29075"/>
            <a:ext cx="29432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+0.025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F4778-EDC6-4525-BF41-F6730A8C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86325"/>
            <a:ext cx="29432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Interaction gap: the enforced stack is slightly worse than the singleton intersection.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5C233-A6BB-4D6C-B0E4-70A01693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43625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The interaction gap is reported—not hidden—because enforcement changes trajectories.</a:t>
            </a:r>
          </a:p>
        </p:txBody>
      </p:sp>
    </p:spTree>
    <p:extLst>
      <p:ext uri="{BB962C8B-B14F-4D97-AF65-F5344CB8AC3E}">
        <p14:creationId xmlns:p14="http://schemas.microsoft.com/office/powerpoint/2010/main" val="16378057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C5280-E623-4768-BA09-30C58691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9B1ABED8-B38E-4E2D-A4EC-3EC41DC9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good harness must be able to say “not supported”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B43DF-7AC0-44E3-B9F2-CF827533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7E9D7-FA12-4CDD-83F7-E2796065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A7752-38A5-4D29-B4A6-1335EE60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C86B20"/>
                </a:solidFill>
                <a:latin typeface="Helvetica Neue"/>
                <a:ea typeface="Helvetica Neue"/>
                <a:cs typeface="Helvetica Neue"/>
              </a:rPr>
              <a:t>E01: no selector contrast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18815-8681-40B7-B768-AB4D2242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Pooled mean, pooled CVaR, worst-cell mean, hierarchical tail, and UCB-tail all select the same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Result: the fixture validates plumbing but cannot establish superiority.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AE714-B01B-4B4B-B41D-BBACD288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6959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F6C045-3769-418E-AE28-02248CE7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00250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A63434"/>
                </a:solidFill>
                <a:latin typeface="Helvetica Neue"/>
                <a:ea typeface="Helvetica Neue"/>
                <a:cs typeface="Helvetica Neue"/>
              </a:rPr>
              <a:t>E04: correlation is insufficient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C3F4F-A652-4CC1-834E-FA7F68D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Validation Γ correlates with synthetic held-out robustness (ρ = 0.866), but the registered compound gate requires E01 advantage too.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Result: E04 remains false.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8566D-3DBD-40AF-A3DC-4AED565C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prevents favorable secondary metrics from laundering a failed primary hypothesis.</a:t>
            </a:r>
          </a:p>
        </p:txBody>
      </p:sp>
    </p:spTree>
    <p:extLst>
      <p:ext uri="{BB962C8B-B14F-4D97-AF65-F5344CB8AC3E}">
        <p14:creationId xmlns:p14="http://schemas.microsoft.com/office/powerpoint/2010/main" val="97602724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D1B11-64E7-48EA-86C6-3DA4ACC7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MECHANISM-DIVERSE TAIL ROBUSTNESS</a:t>
            </a:r>
          </a:p>
        </p:txBody>
      </p:sp>
      <p:sp>
        <p:nvSpPr>
          <p:cNvPr id="2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5359DFED-FFA9-4922-82E9-17E96594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gates remain before a defensible security claim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6D728-C950-41A3-A178-827AD7709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18F06-D9CE-493E-9479-8F130A10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B0F6C-0882-4DCC-A200-A94539C1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D0F4-52DE-44AD-A4CB-4460DC31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Stack-aware attack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2AD8D-EC5F-43A7-AB6F-655A82A0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Equal query, token, tool, and rollout budgets. Fresh-seed diagonal evaluation against every finalist stack.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6D313-1F48-43F0-9D61-E73D7E99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2F8DC-99C4-4BDC-BED5-57714049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70D54-33E3-4A40-8C03-DD9B30F0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Discriminative selector 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E9369-2DCD-41E3-8370-8E02EFD6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Expand stack/cell diversity until baseline selectors can choose differently; freeze the margin before test.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8467C-53F3-4C5F-8A2C-CA0379AE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62125"/>
            <a:ext cx="33813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DBDC29-977A-4C0E-A37E-208BB803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66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1EFEB-6E3B-4058-9249-6176A880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05125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Held-out 7–9B family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4228B1-7D84-4286-911F-2F6BD03B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2809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36D"/>
                </a:solidFill>
                <a:latin typeface="Helvetica Neue"/>
                <a:ea typeface="Helvetica Neue"/>
                <a:cs typeface="Helvetica Neue"/>
              </a:rPr>
              <a:t>Qualify a genuinely different capable model, then open single-axis and compound test manifests exactly once.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1780EC-79B2-44E4-B91B-49D35198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72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Current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76134C-4239-4D6A-B72F-EB9E8536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5245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Mechanism-backed feasibility is strong; adaptive and cross-model robustness remain open.</a:t>
            </a:r>
          </a:p>
        </p:txBody>
      </p:sp>
    </p:spTree>
    <p:extLst>
      <p:ext uri="{BB962C8B-B14F-4D97-AF65-F5344CB8AC3E}">
        <p14:creationId xmlns:p14="http://schemas.microsoft.com/office/powerpoint/2010/main" val="1641732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2026-08-21T06:46:12.2930000Z</dcterms:created>
  <dcterms:modified xsi:type="dcterms:W3CDTF">2026-08-21T06:46:12.2930000Z</dcterms:modified>
</coreProperties>
</file>