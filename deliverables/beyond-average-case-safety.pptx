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2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3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4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a5d25eeea940a0" /><Relationship Type="http://schemas.openxmlformats.org/officeDocument/2006/relationships/extended-properties" Target="/docProps/app.xml" Id="R7ba5a7729d8c4aa4" /><Relationship Type="http://schemas.openxmlformats.org/officeDocument/2006/relationships/officeDocument" Target="/ppt/presentation.xml" Id="R0b5d12f30c2f40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c2ef0ba3114022"/>
  </p:sldMasterIdLst>
  <p:notesMasterIdLst>
    <p:notesMasterId xmlns:r="http://schemas.openxmlformats.org/officeDocument/2006/relationships" r:id="Rabb99ec4ac484c9e"/>
  </p:notesMasterIdLst>
  <p:sldIdLst>
    <p:sldId xmlns:r="http://schemas.openxmlformats.org/officeDocument/2006/relationships" id="256" r:id="R2c1872230a4b4f70"/>
    <p:sldId xmlns:r="http://schemas.openxmlformats.org/officeDocument/2006/relationships" id="257" r:id="Rcbe4bf4e37a54de6"/>
    <p:sldId xmlns:r="http://schemas.openxmlformats.org/officeDocument/2006/relationships" id="258" r:id="R63e7ad17fe0d4010"/>
    <p:sldId xmlns:r="http://schemas.openxmlformats.org/officeDocument/2006/relationships" id="259" r:id="R649bc969c0ed42bf"/>
    <p:sldId xmlns:r="http://schemas.openxmlformats.org/officeDocument/2006/relationships" id="260" r:id="Rc1b56882c8284dec"/>
    <p:sldId xmlns:r="http://schemas.openxmlformats.org/officeDocument/2006/relationships" id="261" r:id="Rac07003499794888"/>
    <p:sldId xmlns:r="http://schemas.openxmlformats.org/officeDocument/2006/relationships" id="262" r:id="R867106750991495d"/>
    <p:sldId xmlns:r="http://schemas.openxmlformats.org/officeDocument/2006/relationships" id="263" r:id="R336bacee14f64ee1"/>
    <p:sldId xmlns:r="http://schemas.openxmlformats.org/officeDocument/2006/relationships" id="264" r:id="Rd101e1d7c60740de"/>
    <p:sldId xmlns:r="http://schemas.openxmlformats.org/officeDocument/2006/relationships" id="265" r:id="R04d91e183d6c426c"/>
    <p:sldId xmlns:r="http://schemas.openxmlformats.org/officeDocument/2006/relationships" id="266" r:id="R4c0d1a90ce5e460d"/>
    <p:sldId xmlns:r="http://schemas.openxmlformats.org/officeDocument/2006/relationships" id="267" r:id="Rc92e99cc82724e1c"/>
    <p:sldId xmlns:r="http://schemas.openxmlformats.org/officeDocument/2006/relationships" id="268" r:id="Rcee661ad6edf48da"/>
    <p:sldId xmlns:r="http://schemas.openxmlformats.org/officeDocument/2006/relationships" id="269" r:id="R7fa4d7deaf1a4d3d"/>
    <p:sldId xmlns:r="http://schemas.openxmlformats.org/officeDocument/2006/relationships" id="270" r:id="Rc02c94aae33c45b7"/>
    <p:sldId xmlns:r="http://schemas.openxmlformats.org/officeDocument/2006/relationships" id="271" r:id="Rb901b219d2924528"/>
    <p:sldId xmlns:r="http://schemas.openxmlformats.org/officeDocument/2006/relationships" id="272" r:id="R2f1e35b009d34243"/>
    <p:sldId xmlns:r="http://schemas.openxmlformats.org/officeDocument/2006/relationships" id="273" r:id="R505009080f064b2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60e1b70ae54c5a" /><Relationship Type="http://schemas.openxmlformats.org/officeDocument/2006/relationships/slideMaster" Target="/ppt/slideMasters/slideMaster1.xml" Id="R57c2ef0ba3114022" /><Relationship Type="http://schemas.openxmlformats.org/officeDocument/2006/relationships/notesMaster" Target="/ppt/notesMasters/notesMaster1.xml" Id="Rabb99ec4ac484c9e" /><Relationship Type="http://schemas.openxmlformats.org/officeDocument/2006/relationships/presProps" Target="/ppt/presProps.xml" Id="R2f64175a285e4303" /><Relationship Type="http://schemas.openxmlformats.org/officeDocument/2006/relationships/tableStyles" Target="/ppt/tableStyles.xml" Id="Rfc961b67d0c24893" /><Relationship Type="http://schemas.openxmlformats.org/officeDocument/2006/relationships/slide" Target="/ppt/slides/slide1.xml" Id="R2c1872230a4b4f70" /><Relationship Type="http://schemas.openxmlformats.org/officeDocument/2006/relationships/slide" Target="/ppt/slides/slide2.xml" Id="Rcbe4bf4e37a54de6" /><Relationship Type="http://schemas.openxmlformats.org/officeDocument/2006/relationships/slide" Target="/ppt/slides/slide3.xml" Id="R63e7ad17fe0d4010" /><Relationship Type="http://schemas.openxmlformats.org/officeDocument/2006/relationships/slide" Target="/ppt/slides/slide4.xml" Id="R649bc969c0ed42bf" /><Relationship Type="http://schemas.openxmlformats.org/officeDocument/2006/relationships/slide" Target="/ppt/slides/slide5.xml" Id="Rc1b56882c8284dec" /><Relationship Type="http://schemas.openxmlformats.org/officeDocument/2006/relationships/slide" Target="/ppt/slides/slide6.xml" Id="Rac07003499794888" /><Relationship Type="http://schemas.openxmlformats.org/officeDocument/2006/relationships/slide" Target="/ppt/slides/slide7.xml" Id="R867106750991495d" /><Relationship Type="http://schemas.openxmlformats.org/officeDocument/2006/relationships/slide" Target="/ppt/slides/slide8.xml" Id="R336bacee14f64ee1" /><Relationship Type="http://schemas.openxmlformats.org/officeDocument/2006/relationships/slide" Target="/ppt/slides/slide9.xml" Id="Rd101e1d7c60740de" /><Relationship Type="http://schemas.openxmlformats.org/officeDocument/2006/relationships/slide" Target="/ppt/slides/slide10.xml" Id="R04d91e183d6c426c" /><Relationship Type="http://schemas.openxmlformats.org/officeDocument/2006/relationships/slide" Target="/ppt/slides/slide11.xml" Id="R4c0d1a90ce5e460d" /><Relationship Type="http://schemas.openxmlformats.org/officeDocument/2006/relationships/slide" Target="/ppt/slides/slide12.xml" Id="Rc92e99cc82724e1c" /><Relationship Type="http://schemas.openxmlformats.org/officeDocument/2006/relationships/slide" Target="/ppt/slides/slide13.xml" Id="Rcee661ad6edf48da" /><Relationship Type="http://schemas.openxmlformats.org/officeDocument/2006/relationships/slide" Target="/ppt/slides/slide14.xml" Id="R7fa4d7deaf1a4d3d" /><Relationship Type="http://schemas.openxmlformats.org/officeDocument/2006/relationships/slide" Target="/ppt/slides/slide15.xml" Id="Rc02c94aae33c45b7" /><Relationship Type="http://schemas.openxmlformats.org/officeDocument/2006/relationships/slide" Target="/ppt/slides/slide16.xml" Id="Rb901b219d2924528" /><Relationship Type="http://schemas.openxmlformats.org/officeDocument/2006/relationships/slide" Target="/ppt/slides/slide17.xml" Id="R2f1e35b009d34243" /><Relationship Type="http://schemas.openxmlformats.org/officeDocument/2006/relationships/slide" Target="/ppt/slides/slide18.xml" Id="R505009080f064b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0df0e10d9443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1113e4520b4c93" /><Relationship Type="http://schemas.openxmlformats.org/officeDocument/2006/relationships/notesMaster" Target="/ppt/notesMasters/notesMaster1.xml" Id="R8991dbf60ac84c5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e18465fdb164a6a" /><Relationship Type="http://schemas.openxmlformats.org/officeDocument/2006/relationships/notesMaster" Target="/ppt/notesMasters/notesMaster1.xml" Id="R824900a1113c456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ef1e140c394c56" /><Relationship Type="http://schemas.openxmlformats.org/officeDocument/2006/relationships/notesMaster" Target="/ppt/notesMasters/notesMaster1.xml" Id="Rc148214ce4c44d8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f90aa34e0f43b2" /><Relationship Type="http://schemas.openxmlformats.org/officeDocument/2006/relationships/notesMaster" Target="/ppt/notesMasters/notesMaster1.xml" Id="Rabde6c850b42451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6c941d6c7c042b8" /><Relationship Type="http://schemas.openxmlformats.org/officeDocument/2006/relationships/notesMaster" Target="/ppt/notesMasters/notesMaster1.xml" Id="Rf5a83f717070478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139796c032d496c" /><Relationship Type="http://schemas.openxmlformats.org/officeDocument/2006/relationships/notesMaster" Target="/ppt/notesMasters/notesMaster1.xml" Id="R31619a0c03e94aa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519d611dfb44447" /><Relationship Type="http://schemas.openxmlformats.org/officeDocument/2006/relationships/notesMaster" Target="/ppt/notesMasters/notesMaster1.xml" Id="R93bbecfdba68419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7ad65d926df46d7" /><Relationship Type="http://schemas.openxmlformats.org/officeDocument/2006/relationships/notesMaster" Target="/ppt/notesMasters/notesMaster1.xml" Id="R5c4f80334c464ef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003f031e42a4a4b" /><Relationship Type="http://schemas.openxmlformats.org/officeDocument/2006/relationships/notesMaster" Target="/ppt/notesMasters/notesMaster1.xml" Id="R04745a8478a0479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df6d19537f8414b" /><Relationship Type="http://schemas.openxmlformats.org/officeDocument/2006/relationships/notesMaster" Target="/ppt/notesMasters/notesMaster1.xml" Id="R2cf24ce166b9444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a18703aa5d54fa3" /><Relationship Type="http://schemas.openxmlformats.org/officeDocument/2006/relationships/notesMaster" Target="/ppt/notesMasters/notesMaster1.xml" Id="Rba7fe591d2fc46c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21dc189ecae435b" /><Relationship Type="http://schemas.openxmlformats.org/officeDocument/2006/relationships/notesMaster" Target="/ppt/notesMasters/notesMaster1.xml" Id="R91b520c6ba2b4fc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461350aea5b41f7" /><Relationship Type="http://schemas.openxmlformats.org/officeDocument/2006/relationships/notesMaster" Target="/ppt/notesMasters/notesMaster1.xml" Id="R57056a44697646d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a7007d541604842" /><Relationship Type="http://schemas.openxmlformats.org/officeDocument/2006/relationships/notesMaster" Target="/ppt/notesMasters/notesMaster1.xml" Id="R085c56fac78f47d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30af79412ce4b7b" /><Relationship Type="http://schemas.openxmlformats.org/officeDocument/2006/relationships/notesMaster" Target="/ppt/notesMasters/notesMaster1.xml" Id="Ra66d07656f4b4c3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5be29d76c6a4d99" /><Relationship Type="http://schemas.openxmlformats.org/officeDocument/2006/relationships/notesMaster" Target="/ppt/notesMasters/notesMaster1.xml" Id="Rbcdb17092998434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9572a78666846e4" /><Relationship Type="http://schemas.openxmlformats.org/officeDocument/2006/relationships/notesMaster" Target="/ppt/notesMasters/notesMaster1.xml" Id="R629ef119bbf94ee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52591f3d9ff44d0" /><Relationship Type="http://schemas.openxmlformats.org/officeDocument/2006/relationships/notesMaster" Target="/ppt/notesMasters/notesMaster1.xml" Id="R8fd6054f6cf146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problem is not whether one filter catches one attack. It is whether a layered defense keeps working across collusion, covert channels, composition, and long horizons without destroying utility.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title "Beyond average-case safety" states the key shift: a defense can look strong on average and still fail catastrophically in one conditional cell.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separate the conjecture from the evidence. Some results are model-backed canaries, some are controlled fixtures, and several decisive tests remain open.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https://arxiv.org/abs/2505.02077</a:t>
            </a:r>
          </a:p>
          <a:p xmlns:a="http://schemas.openxmlformats.org/drawingml/2006/main">
            <a:r>
              <a:t>- artifacts/reviewer-evidence-20260821/README.md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checks remain necessary, but the security unit is the trajectory. Individually acceptable steps can compose into a prohibited outcome, and several defenses can share one blind spot.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practical implication is that evaluation must bind coalition, context, and consequence. Per-message accuracy is not enough.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https://arxiv.org/abs/2505.02077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Section 3.3 provides dimensions of attack variation. Hard cases combine adverse values: low detectability, coalition-level locality, long horizons, weak attribution, and irreversible outcomes.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motivates conditional tail evaluation. We do not average a catastrophic cell together with many easy cells.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https://arxiv.org/abs/2505.02077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These are mechanism families, not mutually exclusive labels. Covert coordination attacks the communication surface; compositional attacks exploit workflow and consequence surfaces.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Different mechanisms demand different defenses: mediation, provenance, action gates, and sequential monitoring.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https://arxiv.org/abs/2505.02077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selector minimizes an uncertainty-adjusted worst-cell tail loss subject to utility. Γ measures whether component bypass sets overlap. BR makes the attacker stack-aware.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novel part is the conjunction, not CVaR by itself: tail risk plus failure diversity plus adaptive retesting.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paper/main.tex</a:t>
            </a:r>
          </a:p>
          <a:p xmlns:a="http://schemas.openxmlformats.org/drawingml/2006/main">
            <a:r>
              <a:t>- artifacts/reviewer-evidence-20260821/tail-report.json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CVaR, group robustness, uncertainty bounds, and anytime-valid statistics are established tools. The conjecture is that non-overlapping validation failures predict realized held-out gain after adaptation and enforcement.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can fail, and the deck preserves those failure conditions.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paper/references.bib</a:t>
            </a:r>
          </a:p>
          <a:p xmlns:a="http://schemas.openxmlformats.org/drawingml/2006/main">
            <a:r>
              <a:t>- paper/main.tex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common contract prevents post-hoc story changes: matched forks, frozen selection, equal-budget attack search, sealed transfer, and before-harm timing.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currently implemented harness covers the contract and several precursors; model-backed forks and autonomous search remain next steps.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docs/experiments/mechanism_diverse_tail/common_contract.md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Three evidence tiers ran. The controlled suite has 2,400 deterministic outcomes. The online canaries use pinned Qwen2.5-7B with 64 covert-channel and 24 six-role workflow episodes. Phase 5 has 900 two-agent, 100-turn episodes, but its monitors are offline.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distinct held-out model family or autonomous stack-specific search has run.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artifacts/reviewer-evidence-20260821/README.md</a:t>
            </a:r>
          </a:p>
          <a:p xmlns:a="http://schemas.openxmlformats.org/drawingml/2006/main">
            <a:r>
              <a:t>- artifacts/phase5-confirmatory-report.json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capacity and workflow attacks execute supplied or registered policies. Phase 5 adds goal-driven pressure with randomized onset, but not autonomous collusion discovery.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Only the capacity mediator and workflow repair/gate run inline. Phase 5 monitors score after generation.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src/agent_defense_evals/experiments/model_capacity_transfer.py</a:t>
            </a:r>
          </a:p>
          <a:p xmlns:a="http://schemas.openxmlformats.org/drawingml/2006/main">
            <a:r>
              <a:t>- src/agent_defense_evals/experiments/model_workflow_remediation.py</a:t>
            </a:r>
          </a:p>
          <a:p xmlns:a="http://schemas.openxmlformats.org/drawingml/2006/main">
            <a:r>
              <a:t>- artifacts/phase5-confirmatory-report.json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Each claim has an effect metric and uncertainty method. The important discipline is not to promote a diagnostic statistic into a confirmatory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Canary intervals are wide; E04 has only three synthetic stacks.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artifacts/reviewer-evidence-20260821/tail-report.json</a:t>
            </a:r>
          </a:p>
          <a:p xmlns:a="http://schemas.openxmlformats.org/drawingml/2006/main">
            <a:r>
              <a:t>- artifacts/phase5-confirmatory-report.json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Unrestricted communication succeeds. Paraphrasing breaks a fixed surface code, but a semantic adaptation restores full success. Typed mediation returns the registered attack to chance while exact utility stays at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is one codebook and one model. It shows mechanism execution, not universal channel elimination.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artifacts/reviewer-evidence-20260821/phase7-model-capacity-7b-vllm-trace-complete.json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defense and local-only checks permit the registered harmful composition. Hard blocking prevents harm by removing utility. Targeted provenance repair prevents the prohibited flow and preserves exact utility.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There are only four harmful episodes per condition, so this is feasibility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artifacts/reviewer-evidence-20260821/phase7-model-workflow-7b-vllm-trace-complete.json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lifetime false-alarm upper bound passes the registered ceiling, but low-rate attacks are detected before harm only 27.5 percent of the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monitors produce the same rates and the e-process is often slower. The supported finding is the low-rate gap, not monitor superiority.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artifacts/phase5-confirmatory-report.json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scorecard distinguishes harness gates. E02, E03, and E05 pass only as controlled synthetic mechanisms. E01 provides no selector contrast, and E04 fails its compound gate.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asterisk prevents synthetic outcomes from being presented as stochastic-agent robustness.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artifacts/reviewer-evidence-20260821/tail-report.json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Γ is the best singleton bypass minus joint singleton bypass on matched opportunities. The controlled diverse stack has strongly non-overlapping failures.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positive interaction gap means enforcing the stack changes trajectories slightly for the worse. That gap must be reported rather than hidden.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artifacts/reviewer-evidence-20260821/tail-report.json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E01 cannot compare selectors because every selector chooses the same stack. E04 remains false because a favorable three-stack correlation cannot replace the missing primary contrast.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Negative results make the conjecture more credible by constraining what can be claimed.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artifacts/reviewer-evidence-20260821/tail-report.json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evidence establishes that two defenses can execute inline on a pinned model and that the harness can measure complementarity and before-harm timing.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It does not establish adaptive stack robustness or cross-model transfer. The current conclusion is mechanism evidence, not a general safety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artifacts/reviewer-evidence-20260821/README.md</a:t>
            </a:r>
          </a:p>
          <a:p xmlns:a="http://schemas.openxmlformats.org/drawingml/2006/main">
            <a:r>
              <a:t>- deliverables/experiment-evidence-canvas.md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These are the three decisive tests. First, model-backed shadow forks establish whether LLM-generated failures are non-overlapping. Second, equal-budget best response tests whether adaptation collapses the advantage. Third, a distinct held-out model tests transfer.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Only if the advantage survives all three should we claim that this optimization improves multi-agent defense.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docs/experiments/mechanism_diverse_tail/03_adaptive_best_response/README.md</a:t>
            </a:r>
          </a:p>
          <a:p xmlns:a="http://schemas.openxmlformats.org/drawingml/2006/main">
            <a:r>
              <a:t>- docs/experiments/mechanism_diverse_tail/04_compound_heldout_transfer/README.md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8f2897b06e4e1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1007517f7454352" /><Relationship Type="http://schemas.openxmlformats.org/officeDocument/2006/relationships/slideLayout" Target="/ppt/slideLayouts/slideLayout1.xml" Id="Rd742b83a4a6c4b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742b83a4a6c4b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3c1049f93d43bb" /><Relationship Type="http://schemas.openxmlformats.org/officeDocument/2006/relationships/notesSlide" Target="/ppt/notesSlides/notesSlide1.xml" Id="Ra96a070bf89549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024ef7f92747bc" /><Relationship Type="http://schemas.openxmlformats.org/officeDocument/2006/relationships/notesSlide" Target="/ppt/notesSlides/notesSlide2.xml" Id="Rf8cb2517928d465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4fb2c790894427" /><Relationship Type="http://schemas.openxmlformats.org/officeDocument/2006/relationships/notesSlide" Target="/ppt/notesSlides/notesSlide3.xml" Id="R0f76a93f649742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fe921ddc8b4f40" /><Relationship Type="http://schemas.openxmlformats.org/officeDocument/2006/relationships/notesSlide" Target="/ppt/notesSlides/notesSlide4.xml" Id="R92b2c551c69747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6200b7acf842c6" /><Relationship Type="http://schemas.openxmlformats.org/officeDocument/2006/relationships/notesSlide" Target="/ppt/notesSlides/notesSlide5.xml" Id="Rc86c1f2bb02b440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64b23f1b0a4bdc" /><Relationship Type="http://schemas.openxmlformats.org/officeDocument/2006/relationships/notesSlide" Target="/ppt/notesSlides/notesSlide6.xml" Id="R26d101ec657948d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565032aedf4d26" /><Relationship Type="http://schemas.openxmlformats.org/officeDocument/2006/relationships/notesSlide" Target="/ppt/notesSlides/notesSlide7.xml" Id="Rb3fcebb1491b430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3dd3fa27494bb1" /><Relationship Type="http://schemas.openxmlformats.org/officeDocument/2006/relationships/notesSlide" Target="/ppt/notesSlides/notesSlide8.xml" Id="Rd58730d61b1846f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f80b02fa704c44" /><Relationship Type="http://schemas.openxmlformats.org/officeDocument/2006/relationships/notesSlide" Target="/ppt/notesSlides/notesSlide9.xml" Id="Rd3bd0fab092b4af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73259cee2f41bf" /><Relationship Type="http://schemas.openxmlformats.org/officeDocument/2006/relationships/notesSlide" Target="/ppt/notesSlides/notesSlide10.xml" Id="R1aaca88c7ed74f8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4b6973a26a4c6a" /><Relationship Type="http://schemas.openxmlformats.org/officeDocument/2006/relationships/chart" Target="/ppt/slides/charts/chart1.xml" Id="R72ef9bcc32ef4320" /><Relationship Type="http://schemas.openxmlformats.org/officeDocument/2006/relationships/notesSlide" Target="/ppt/notesSlides/notesSlide11.xml" Id="R4e719afcf6ac490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34370a22994b7d" /><Relationship Type="http://schemas.openxmlformats.org/officeDocument/2006/relationships/chart" Target="/ppt/slides/charts/chart2.xml" Id="Rdca2cb4793a442d1" /><Relationship Type="http://schemas.openxmlformats.org/officeDocument/2006/relationships/notesSlide" Target="/ppt/notesSlides/notesSlide12.xml" Id="R45fb0d0e1ea64ce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1dfaf5267449f1" /><Relationship Type="http://schemas.openxmlformats.org/officeDocument/2006/relationships/chart" Target="/ppt/slides/charts/chart3.xml" Id="R23cbe4c757ab4bd0" /><Relationship Type="http://schemas.openxmlformats.org/officeDocument/2006/relationships/notesSlide" Target="/ppt/notesSlides/notesSlide13.xml" Id="R725512ea6d3e468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da069cc001437d" /><Relationship Type="http://schemas.openxmlformats.org/officeDocument/2006/relationships/notesSlide" Target="/ppt/notesSlides/notesSlide14.xml" Id="R3265bd4a2656478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cb71c3f5944814" /><Relationship Type="http://schemas.openxmlformats.org/officeDocument/2006/relationships/chart" Target="/ppt/slides/charts/chart4.xml" Id="R6d291aff308b44d3" /><Relationship Type="http://schemas.openxmlformats.org/officeDocument/2006/relationships/notesSlide" Target="/ppt/notesSlides/notesSlide15.xml" Id="Rcc07744d5c9c4cf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928a17c25c46d9" /><Relationship Type="http://schemas.openxmlformats.org/officeDocument/2006/relationships/notesSlide" Target="/ppt/notesSlides/notesSlide16.xml" Id="Rf1dd895d149c4ba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d86d6988904a1e" /><Relationship Type="http://schemas.openxmlformats.org/officeDocument/2006/relationships/notesSlide" Target="/ppt/notesSlides/notesSlide17.xml" Id="Ref2067b8e3da457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4f8212981f47c1" /><Relationship Type="http://schemas.openxmlformats.org/officeDocument/2006/relationships/notesSlide" Target="/ppt/notesSlides/notesSlide18.xml" Id="Rcba27cebac8c40cd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Attack success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4"/>
              <c:pt idx="0">
                <c:v>Unrestricted</c:v>
              </c:pt>
              <c:pt idx="1">
                <c:v>Paraphrase
fixed</c:v>
              </c:pt>
              <c:pt idx="2">
                <c:v>Paraphrase
adaptive</c:v>
              </c:pt>
              <c:pt idx="3">
                <c:v>Typed
adaptive</c:v>
              </c:pt>
            </c:strLit>
          </c:cat>
          <c:val>
            <c:numLit>
              <c:formatCode>General</c:formatCode>
              <c:ptCount val="4"/>
              <c:pt idx="0">
                <c:v>1</c:v>
              </c:pt>
              <c:pt idx="1">
                <c:v>0.25</c:v>
              </c:pt>
              <c:pt idx="2">
                <c:v>1</c:v>
              </c:pt>
              <c:pt idx="3">
                <c:v>0.25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/>
                  <a:t>attack success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/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0.25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Attack success</c:v>
          </c:tx>
          <c:spPr>
            <a:solidFill xmlns:a="http://schemas.openxmlformats.org/drawingml/2006/main">
              <a:srgbClr val="A63434"/>
            </a:solidFill>
          </c:spPr>
          <c:cat>
            <c:strLit>
              <c:ptCount val="4"/>
              <c:pt idx="0">
                <c:v>No defense</c:v>
              </c:pt>
              <c:pt idx="1">
                <c:v>Local only</c:v>
              </c:pt>
              <c:pt idx="2">
                <c:v>Hard block</c:v>
              </c:pt>
              <c:pt idx="3">
                <c:v>Targeted repair</c:v>
              </c:pt>
            </c:strLit>
          </c:cat>
          <c:val>
            <c:numLit>
              <c:formatCode>General</c:formatCode>
              <c:ptCount val="4"/>
              <c:pt idx="0">
                <c:v>1</c:v>
              </c:pt>
              <c:pt idx="1">
                <c:v>1</c:v>
              </c:pt>
              <c:pt idx="2">
                <c:v>0</c:v>
              </c:pt>
              <c:pt idx="3">
                <c:v>0</c:v>
              </c:pt>
            </c:numLit>
          </c:val>
        </c:ser>
        <c:ser>
          <c:idx val="1"/>
          <c:order val="1"/>
          <c:tx>
            <c:v>Exact utility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4"/>
              <c:pt idx="0">
                <c:v>No defense</c:v>
              </c:pt>
              <c:pt idx="1">
                <c:v>Local only</c:v>
              </c:pt>
              <c:pt idx="2">
                <c:v>Hard block</c:v>
              </c:pt>
              <c:pt idx="3">
                <c:v>Targeted repair</c:v>
              </c:pt>
            </c:strLit>
          </c:cat>
          <c:val>
            <c:numLit>
              <c:formatCode>General</c:formatCode>
              <c:ptCount val="4"/>
              <c:pt idx="0">
                <c:v>1</c:v>
              </c:pt>
              <c:pt idx="1">
                <c:v>1</c:v>
              </c:pt>
              <c:pt idx="2">
                <c:v>0</c:v>
              </c:pt>
              <c:pt idx="3">
                <c:v>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0.25"/>
      </c:valAx>
      <c:spPr>
        <a:noFill xmlns:a="http://schemas.openxmlformats.org/drawingml/2006/main"/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/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Detected before irreversible harm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4"/>
              <c:pt idx="0">
                <c:v>Low rate</c:v>
              </c:pt>
              <c:pt idx="1">
                <c:v>Memory poisoning</c:v>
              </c:pt>
              <c:pt idx="2">
                <c:v>Reward induced</c:v>
              </c:pt>
              <c:pt idx="3">
                <c:v>Delayed trigger</c:v>
              </c:pt>
            </c:strLit>
          </c:cat>
          <c:val>
            <c:numLit>
              <c:formatCode>General</c:formatCode>
              <c:ptCount val="4"/>
              <c:pt idx="0">
                <c:v>0.275</c:v>
              </c:pt>
              <c:pt idx="1">
                <c:v>0.75</c:v>
              </c:pt>
              <c:pt idx="2">
                <c:v>0.75</c:v>
              </c:pt>
              <c:pt idx="3">
                <c:v>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0.25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Diverse stack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2"/>
              <c:pt idx="0">
                <c:v>Joint singleton bypass</c:v>
              </c:pt>
              <c:pt idx="1">
                <c:v>Realized stack bypass</c:v>
              </c:pt>
            </c:strLit>
          </c:cat>
          <c:val>
            <c:numLit>
              <c:formatCode>General</c:formatCode>
              <c:ptCount val="2"/>
              <c:pt idx="0">
                <c:v>0.03125</c:v>
              </c:pt>
              <c:pt idx="1">
                <c:v>0.05625</c:v>
              </c:pt>
            </c:numLit>
          </c:val>
        </c:ser>
        <c:ser>
          <c:idx val="1"/>
          <c:order val="1"/>
          <c:tx>
            <c:v>Homogeneous ensemble</c:v>
          </c:tx>
          <c:spPr>
            <a:solidFill xmlns:a="http://schemas.openxmlformats.org/drawingml/2006/main">
              <a:srgbClr val="B8BCC4"/>
            </a:solidFill>
          </c:spPr>
          <c:cat>
            <c:strLit>
              <c:ptCount val="2"/>
              <c:pt idx="0">
                <c:v>Joint singleton bypass</c:v>
              </c:pt>
              <c:pt idx="1">
                <c:v>Realized stack bypass</c:v>
              </c:pt>
            </c:strLit>
          </c:cat>
          <c:val>
            <c:numLit>
              <c:formatCode>General</c:formatCode>
              <c:ptCount val="2"/>
              <c:pt idx="0">
                <c:v>0.63125</c:v>
              </c:pt>
              <c:pt idx="1">
                <c:v>0.65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0.7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0.15"/>
      </c:valAx>
      <c:spPr>
        <a:noFill xmlns:a="http://schemas.openxmlformats.org/drawingml/2006/main"/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/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70F7A3-7436-4E02-AB4F-707AF45D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MULTI-AGENT DEFENSE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9CB11F-AFF6-4F03-AF0C-53CAADA4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8858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Beyond average-case</a:t>
            </a:r>
          </a:p>
          <a:p xmlns:a="http://schemas.openxmlformats.org/drawingml/2006/main">
            <a:pPr algn="l">
              <a:buNone/>
              <a:def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safety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D7CF6D-5836-450F-A996-9E5E9661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05300"/>
            <a:ext cx="7810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Stress-testing defenses for colluding and covertly coordinating AI agents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BCBD0C-57C1-44D1-BE35-FFC2818F5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876300"/>
            <a:ext cx="18097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A949E6-9A66-4F1B-A102-0AEA1752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352550"/>
            <a:ext cx="8572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47FDE2-12EE-41B9-8087-00AA0962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762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Yashila Bordag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Agent Defense Evals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August 2026</a:t>
            </a:r>
          </a:p>
        </p:txBody>
      </p:sp>
    </p:spTree>
    <p:extLst>
      <p:ext uri="{BB962C8B-B14F-4D97-AF65-F5344CB8AC3E}">
        <p14:creationId xmlns:p14="http://schemas.microsoft.com/office/powerpoint/2010/main" val="31650899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F5E479-F304-43E0-9DD7-6ECE0BB1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MULTI-AGENT DEFENSE EVALUATION</a:t>
            </a:r>
          </a:p>
        </p:txBody>
      </p:sp>
      <p:sp>
        <p:nvSpPr>
          <p:cNvPr id="2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75D1F63C-9327-4B72-9129-86881690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Individual safeguards can still compose into system harm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57683D-8C23-4AC2-AA5B-ED38921DB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BDC0CE-0622-4406-9B4F-98CF1B34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43050"/>
            <a:ext cx="542925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6CD06E-8FC1-495C-9B93-0E6F7A30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43050"/>
            <a:ext cx="560070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363782-92FE-4FEB-9BA8-546B5955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What local checks assume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764050-A6DA-4B46-82A2-CAB2EC10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4667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• Agents can be evaluated independently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• Suspicious messages look suspicious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• Failures combine predictably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• Average performance is informative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75A0DB-A5FB-4312-BFF3-AD6BAB917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5737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What multi-agent systems add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4D6E4E-7DEC-485C-B4D4-00B4FD5E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76500"/>
            <a:ext cx="4762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1. Harmless-looking steps can compose into harm.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2. Coordination can move through messages, tools, memory, or timing.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3. Several defenses can fail on the same trajectory.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5C5AC7-7E09-417E-8BE5-0A3A1455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198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A634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A63434"/>
                </a:solidFill>
                <a:latin typeface="Helvetica Neue"/>
                <a:ea typeface="Helvetica Neue"/>
                <a:cs typeface="Helvetica Neue"/>
              </a:rPr>
              <a:t>Evaluate the whole trajectory: coalition, context, and consequence—not components alone.</a:t>
            </a:r>
          </a:p>
        </p:txBody>
      </p:sp>
    </p:spTree>
    <p:extLst>
      <p:ext uri="{BB962C8B-B14F-4D97-AF65-F5344CB8AC3E}">
        <p14:creationId xmlns:p14="http://schemas.microsoft.com/office/powerpoint/2010/main" val="18160911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F9099C-0853-4127-A943-84671A9A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MULTI-AGENT DEFENSE EVALUATION</a:t>
            </a:r>
          </a:p>
        </p:txBody>
      </p:sp>
      <p:sp>
        <p:nvSpPr>
          <p:cNvPr id="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C64C9AF2-450C-416F-BF2D-736C72B43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Attack variation creates hard-to-see worst-case cells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8828D0-64AE-4CF2-9B1A-8A36EB632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27BDB3-9CE1-48E3-833F-3C84ADFB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Section 3.3 separates attack categories from dimensions of variation. Security failures appear where adverse values combine.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DA942C-5803-40BF-99D2-B3060E3D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Detectability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0E6606-A63A-4A64-BD78-345C67975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247900"/>
            <a:ext cx="361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obvious signal → distribution-matched</a:t>
            </a:r>
          </a:p>
        </p:txBody>
      </p:sp>
      <p:cxnSp>
        <p:nvCxnSpPr>
          <p:cNvPr id="261" name=""/>
          <p:cNvCxnSpPr/>
          <p:nvPr/>
        </p:nvCxnSpPr>
        <p:spPr>
          <a:xfrm xmlns:a="http://schemas.openxmlformats.org/drawingml/2006/main">
            <a:off x="400050" y="2905125"/>
            <a:ext cx="53816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82E17F-FE5B-4B8F-B65C-4187B426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718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Locality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E8BB6E-6BDE-4FEA-B0BE-610B46DCD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181350"/>
            <a:ext cx="361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one agent → coalition or whole graph</a:t>
            </a:r>
          </a:p>
        </p:txBody>
      </p:sp>
      <p:cxnSp>
        <p:nvCxnSpPr>
          <p:cNvPr id="264" name=""/>
          <p:cNvCxnSpPr/>
          <p:nvPr/>
        </p:nvCxnSpPr>
        <p:spPr>
          <a:xfrm xmlns:a="http://schemas.openxmlformats.org/drawingml/2006/main">
            <a:off x="400050" y="3838575"/>
            <a:ext cx="53816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92639D-9DFB-4113-B817-996142A39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0527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Cascading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86A434-AEE1-429F-82A0-838908E6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114800"/>
            <a:ext cx="361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contained → propagating compromise</a:t>
            </a:r>
          </a:p>
        </p:txBody>
      </p:sp>
      <p:cxnSp>
        <p:nvCxnSpPr>
          <p:cNvPr id="267" name=""/>
          <p:cNvCxnSpPr/>
          <p:nvPr/>
        </p:nvCxnSpPr>
        <p:spPr>
          <a:xfrm xmlns:a="http://schemas.openxmlformats.org/drawingml/2006/main">
            <a:off x="400050" y="4772025"/>
            <a:ext cx="53816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E83C11-4523-404D-9AA5-534569B3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387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Composition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4FE275-7992-4688-B0DE-38C0904BA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5048250"/>
            <a:ext cx="361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one action → harmless-looking multi-step chain</a:t>
            </a:r>
          </a:p>
        </p:txBody>
      </p:sp>
      <p:cxnSp>
        <p:nvCxnSpPr>
          <p:cNvPr id="270" name=""/>
          <p:cNvCxnSpPr/>
          <p:nvPr/>
        </p:nvCxnSpPr>
        <p:spPr>
          <a:xfrm xmlns:a="http://schemas.openxmlformats.org/drawingml/2006/main">
            <a:off x="400050" y="5705475"/>
            <a:ext cx="53816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536886-8946-4668-862F-F2C3339D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3837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Time horizon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A7B2CA-9108-4CFD-A862-542DD510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247900"/>
            <a:ext cx="361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one shot → deployment lifetime</a:t>
            </a:r>
          </a:p>
        </p:txBody>
      </p:sp>
      <p:cxnSp>
        <p:nvCxnSpPr>
          <p:cNvPr id="273" name=""/>
          <p:cNvCxnSpPr/>
          <p:nvPr/>
        </p:nvCxnSpPr>
        <p:spPr>
          <a:xfrm xmlns:a="http://schemas.openxmlformats.org/drawingml/2006/main">
            <a:off x="6210300" y="2905125"/>
            <a:ext cx="53816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F9C697-E14C-464E-AF35-664082794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718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Attributability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038FBD-DA15-40EB-8BBB-B6793AF2A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181350"/>
            <a:ext cx="361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traceable actor → degraded lineage</a:t>
            </a:r>
          </a:p>
        </p:txBody>
      </p:sp>
      <p:cxnSp>
        <p:nvCxnSpPr>
          <p:cNvPr id="276" name=""/>
          <p:cNvCxnSpPr/>
          <p:nvPr/>
        </p:nvCxnSpPr>
        <p:spPr>
          <a:xfrm xmlns:a="http://schemas.openxmlformats.org/drawingml/2006/main">
            <a:off x="6210300" y="3838575"/>
            <a:ext cx="53816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3C0994-C306-4A4F-B1A3-E67CB9636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0527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Directness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570AA6-5AD7-408A-9559-FE035A8A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114800"/>
            <a:ext cx="361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explicit attacker → emergent harm</a:t>
            </a:r>
          </a:p>
        </p:txBody>
      </p:sp>
      <p:cxnSp>
        <p:nvCxnSpPr>
          <p:cNvPr id="279" name=""/>
          <p:cNvCxnSpPr/>
          <p:nvPr/>
        </p:nvCxnSpPr>
        <p:spPr>
          <a:xfrm xmlns:a="http://schemas.openxmlformats.org/drawingml/2006/main">
            <a:off x="6210300" y="4772025"/>
            <a:ext cx="53816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22504A-45F0-4DA1-9FBF-264614677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0387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Reversibility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7566D9-FFEF-4AC0-8A0C-353EB742D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5048250"/>
            <a:ext cx="361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rollback → irreversible consequence</a:t>
            </a:r>
          </a:p>
        </p:txBody>
      </p:sp>
      <p:cxnSp>
        <p:nvCxnSpPr>
          <p:cNvPr id="282" name=""/>
          <p:cNvCxnSpPr/>
          <p:nvPr/>
        </p:nvCxnSpPr>
        <p:spPr>
          <a:xfrm xmlns:a="http://schemas.openxmlformats.org/drawingml/2006/main">
            <a:off x="6210300" y="5705475"/>
            <a:ext cx="53816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11AFF5-A4DF-4748-9178-36D3F5F4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674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Design implication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01A019-9594-44F2-B29F-330A98A7D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60674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Optimize the worst conditional cell—not the pooled average.</a:t>
            </a:r>
          </a:p>
        </p:txBody>
      </p:sp>
    </p:spTree>
    <p:extLst>
      <p:ext uri="{BB962C8B-B14F-4D97-AF65-F5344CB8AC3E}">
        <p14:creationId xmlns:p14="http://schemas.microsoft.com/office/powerpoint/2010/main" val="118100183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F5E479-F304-43E0-9DD7-6ECE0BB1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MULTI-AGENT DEFENSE EVALUATION</a:t>
            </a:r>
          </a:p>
        </p:txBody>
      </p:sp>
      <p:sp>
        <p:nvSpPr>
          <p:cNvPr id="2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75D1F63C-9327-4B72-9129-86881690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Four mechanisms defeat different defense surfaces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57683D-8C23-4AC2-AA5B-ED38921DB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BDC0CE-0622-4406-9B4F-98CF1B34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43050"/>
            <a:ext cx="542925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6CD06E-8FC1-495C-9B93-0E6F7A30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43050"/>
            <a:ext cx="560070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363782-92FE-4FEB-9BA8-546B5955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Covert coordination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764050-A6DA-4B46-82A2-CAB2EC10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4667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• Overt or semantic collusion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• Steganography and distribution matching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• Shared memory, tools, or scratchpads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• Delayed or low-rate signaling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75A0DB-A5FB-4312-BFF3-AD6BAB917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5737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Compositional system attacks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4D6E4E-7DEC-485C-B4D4-00B4FD5E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76500"/>
            <a:ext cx="4762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1. Heterogeneous task decomposition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2. Locally acceptable multi-step workflows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3. Cascading compromise and irreversible 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5C5AC7-7E09-417E-8BE5-0A3A1455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198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A634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A63434"/>
                </a:solidFill>
                <a:latin typeface="Helvetica Neue"/>
                <a:ea typeface="Helvetica Neue"/>
                <a:cs typeface="Helvetica Neue"/>
              </a:rPr>
              <a:t>The same eight attack dimensions vary every mechanism.</a:t>
            </a:r>
          </a:p>
        </p:txBody>
      </p:sp>
    </p:spTree>
    <p:extLst>
      <p:ext uri="{BB962C8B-B14F-4D97-AF65-F5344CB8AC3E}">
        <p14:creationId xmlns:p14="http://schemas.microsoft.com/office/powerpoint/2010/main" val="18160911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848647-FB61-4778-9EC2-3A58A81DF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MULTI-AGENT DEFENSE EVALUATION</a:t>
            </a:r>
          </a:p>
        </p:txBody>
      </p:sp>
      <p:sp>
        <p:nvSpPr>
          <p:cNvPr id="2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80917119-A4B0-4A44-B08A-E1672761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Minimize worst-cell tail loss without destroying utility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DE2EBA-D36D-49AB-8187-2FDB10017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F1168C-9623-4937-A5F9-695B64D7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13919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293257-CBDE-47AB-AF4B-960321F1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38325"/>
            <a:ext cx="1076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π* = arg minπ  maxg UCB[CVaR10%(L | g, BR(π,g))]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07BEC2-BC3B-478F-A276-D0E9C5EFE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45745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subject to U(π) ≥ u_min and operational constraints; select on validation 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53CCCC-5864-40E5-8EAC-3BA32BDB1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347662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03F6CD-9259-4F54-812A-FFB39B485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952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6367CB-2A30-4606-B8AC-85ADF02E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30384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Tail risk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2A1A58-4A26-45BB-9CDC-3E248A55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30384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Protect the severe 10% within each registered attack cell.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03C398-AF4E-4E84-AF78-E2A7AC6BC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333750"/>
            <a:ext cx="347662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6A2609-3DE1-431B-BF03-DD80BE04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333750"/>
            <a:ext cx="952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7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560E2F-A6B1-4608-941A-689398045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600450"/>
            <a:ext cx="30384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070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20704A"/>
                </a:solidFill>
                <a:latin typeface="Helvetica Neue"/>
                <a:ea typeface="Helvetica Neue"/>
                <a:cs typeface="Helvetica Neue"/>
              </a:rPr>
              <a:t>Diversity Γ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865616-D563-457C-9700-054E969A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457700"/>
            <a:ext cx="30384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Reward layers only when matched bypass sets do not overlap.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A349C8-526C-4964-A919-DAC5F0F7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33750"/>
            <a:ext cx="34861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6B66CD-D7BD-4129-A76E-BBF01D817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33750"/>
            <a:ext cx="952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A5DCE2-6E7A-46D1-AC6D-8960A1A5C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00450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C86B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C86B20"/>
                </a:solidFill>
                <a:latin typeface="Helvetica Neue"/>
                <a:ea typeface="Helvetica Neue"/>
                <a:cs typeface="Helvetica Neue"/>
              </a:rPr>
              <a:t>Best 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A3C488-3D18-4BBE-BBF0-7AF9005A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57700"/>
            <a:ext cx="304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Re-optimize against every stack under equal budgets.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6FC88A-3A68-4EDD-97E8-83662CDB3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53125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Prediction: validation failure geometry forecasts held-out realized gain.</a:t>
            </a:r>
          </a:p>
        </p:txBody>
      </p:sp>
    </p:spTree>
    <p:extLst>
      <p:ext uri="{BB962C8B-B14F-4D97-AF65-F5344CB8AC3E}">
        <p14:creationId xmlns:p14="http://schemas.microsoft.com/office/powerpoint/2010/main" val="12638531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F5E479-F304-43E0-9DD7-6ECE0BB1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MULTI-AGENT DEFENSE EVALUATION</a:t>
            </a:r>
          </a:p>
        </p:txBody>
      </p:sp>
      <p:sp>
        <p:nvSpPr>
          <p:cNvPr id="2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75D1F63C-9327-4B72-9129-86881690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novel claim is about non-overlapping failures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57683D-8C23-4AC2-AA5B-ED38921DB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BDC0CE-0622-4406-9B4F-98CF1B34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43050"/>
            <a:ext cx="542925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6CD06E-8FC1-495C-9B93-0E6F7A30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43050"/>
            <a:ext cx="560070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363782-92FE-4FEB-9BA8-546B5955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Established tools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764050-A6DA-4B46-82A2-CAB2EC10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4667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• CVaR / expected shortfall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• Worst-group or distributionally robust selection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• Confidence bounds and multiplicity control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• Anytime-valid sequential evidence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• Utility-constrained optimization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75A0DB-A5FB-4312-BFF3-AD6BAB917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5737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Conjecture to falsify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4D6E4E-7DEC-485C-B4D4-00B4FD5E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76500"/>
            <a:ext cx="4762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1. Defense layers fail on different matched opportunities.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2. That diversity survives a stack-aware attacker.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3. Validation Γ predicts held-out gain beyond quality and cost.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5C5AC7-7E09-417E-8BE5-0A3A1455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198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A634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A63434"/>
                </a:solidFill>
                <a:latin typeface="Helvetica Neue"/>
                <a:ea typeface="Helvetica Neue"/>
                <a:cs typeface="Helvetica Neue"/>
              </a:rPr>
              <a:t>A positive result must survive adaptation, enforcement, and a genuinely held-out model.</a:t>
            </a:r>
          </a:p>
        </p:txBody>
      </p:sp>
    </p:spTree>
    <p:extLst>
      <p:ext uri="{BB962C8B-B14F-4D97-AF65-F5344CB8AC3E}">
        <p14:creationId xmlns:p14="http://schemas.microsoft.com/office/powerpoint/2010/main" val="18160911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0C0637-2900-4AC7-8115-15880B658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MULTI-AGENT DEFENSE EVALUATION</a:t>
            </a:r>
          </a:p>
        </p:txBody>
      </p:sp>
      <p:sp>
        <p:nvSpPr>
          <p:cNvPr id="2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441AD398-7AE6-4EEA-9B80-FD3B60A0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One harness turns the conjecture into five falsifiable tests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D8FA7F-9A2D-4011-9DBB-172F8588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cxnSp>
        <p:nvCxnSpPr>
          <p:cNvPr id="62" name=""/>
          <p:cNvCxnSpPr/>
          <p:nvPr/>
        </p:nvCxnSpPr>
        <p:spPr>
          <a:xfrm xmlns:a="http://schemas.openxmlformats.org/drawingml/2006/main">
            <a:off x="809625" y="3286125"/>
            <a:ext cx="10287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046216-E4D4-4D8E-953C-B0941DA7B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2895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B26A82-3BE2-4191-8AFE-A09B7285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1467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AEA8DC-57F5-4EF4-B9E5-702D8025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57625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Matched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forks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6C8E62-D104-4EE6-B680-46BA5CFE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81500"/>
            <a:ext cx="1809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Replay one LLM event through each singleton and the full stack.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C8D885-1CB0-4121-AD8B-7357057F7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2895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64D015-870C-4988-8E6D-8753A8033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1467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8BD092-31B0-4340-ACE0-6C045FC9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857625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Frozen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selection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DD1D8E-2A5F-4CC1-9FC5-66431A65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381500"/>
            <a:ext cx="1809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Choose among utility-feasible stacks without test access.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A0158D-8023-4FED-AEE8-0193D8EF7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2895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AA2E37-6335-4467-A68F-A54558966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1467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6B4469-E9C9-4273-AA7D-6452F5DC8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857625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Stack-aware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search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1C8A96-7D87-4C67-851A-962D3213F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381500"/>
            <a:ext cx="1809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Optimize one attacker per stack under equal budgets.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3E2F06-061B-4E6C-A459-4B439181F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2895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0F6B17-0CBF-4604-96C8-53689B09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1467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68903A-CDCF-4019-91F7-DA192D37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857625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Sealed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transfer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F10897-8291-41A0-BF23-7138DD56C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381500"/>
            <a:ext cx="1809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Open single-axis and compound cells only after selection freezes.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CAA663-9917-49BF-91CD-1D48A3E9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2895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493813-4F51-4713-98FE-5377906B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11467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BB2C60-5262-4233-A12A-F382C8620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857625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Before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harm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19D626-7430-4C84-BCEA-92269403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381500"/>
            <a:ext cx="1809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Measure intervention before the irreversible action.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1CDE00-70DF-47F6-B12D-E17859631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Common contract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202833-D67E-47B9-94D1-918057807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Immutable assignments • paired seeds • model/runtime revision • consequence loss • utility • latency • trace hash</a:t>
            </a:r>
          </a:p>
        </p:txBody>
      </p:sp>
    </p:spTree>
    <p:extLst>
      <p:ext uri="{BB962C8B-B14F-4D97-AF65-F5344CB8AC3E}">
        <p14:creationId xmlns:p14="http://schemas.microsoft.com/office/powerpoint/2010/main" val="106909501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131C71-3FBE-45E9-B711-EDD3B75D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MULTI-AGENT DEFENSE EVALUATION</a:t>
            </a:r>
          </a:p>
        </p:txBody>
      </p:sp>
      <p:sp>
        <p:nvSpPr>
          <p:cNvPr id="2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CA9E1DB2-44DE-4718-AAFD-A4928026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What actually ran—and what did not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F74CF4-81B3-48FE-9AEA-F5440C234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17BDED-2BE1-4928-97F6-FC2F2BA9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34766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2BDC0F-8382-4F57-96E5-060EA267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95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57BA5D-E40A-4135-938D-774336F5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30384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2,400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8BF936-6003-469C-9E55-F76CBEA7B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33700"/>
            <a:ext cx="30384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Controlled trajectories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Deterministic failure simulator; no LLM agents. Registered cells, stacks, and known fixtures.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DB8085-898C-4C86-B1FA-6D1D5FF60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809750"/>
            <a:ext cx="34766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AABD1D-F00F-4EC1-9266-2BE52D1E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809750"/>
            <a:ext cx="95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659B87-AB64-4F51-A371-EF4D948A5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76450"/>
            <a:ext cx="30384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64 + 24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1B36BE-585A-435E-AA53-5D01585E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933700"/>
            <a:ext cx="30384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Online 7B canaries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Two-agent covert channel (64) and six-role workflow (24), with defenses inside the gateway.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AC07C0-0BDD-492D-9A25-0C42D64E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09750"/>
            <a:ext cx="34861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24F48E-FA4D-4F63-B5C6-E8B25428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09750"/>
            <a:ext cx="95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7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1B2D4F-964F-42B1-8200-323DE068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76450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070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20704A"/>
                </a:solidFill>
                <a:latin typeface="Helvetica Neue"/>
                <a:ea typeface="Helvetica Neue"/>
                <a:cs typeface="Helvetica Neue"/>
              </a:rPr>
              <a:t>900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6C9C74-72A0-4552-948E-ACA23CC5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304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Sequential 7B episodes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Two agents, 100 turns, 900 episodes; monitors score trace-derived statistics after generation.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4ABC26-1996-4C7A-9D39-7267C562B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C86B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C86B20"/>
                </a:solidFill>
                <a:latin typeface="Helvetica Neue"/>
                <a:ea typeface="Helvetica Neue"/>
                <a:cs typeface="Helvetica Neue"/>
              </a:rPr>
              <a:t>Not yet run: autonomous stack-specific search or a distinct held-out model family.</a:t>
            </a:r>
          </a:p>
        </p:txBody>
      </p:sp>
    </p:spTree>
    <p:extLst>
      <p:ext uri="{BB962C8B-B14F-4D97-AF65-F5344CB8AC3E}">
        <p14:creationId xmlns:p14="http://schemas.microsoft.com/office/powerpoint/2010/main" val="31458286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F5E479-F304-43E0-9DD7-6ECE0BB1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MULTI-AGENT DEFENSE EVALUATION</a:t>
            </a:r>
          </a:p>
        </p:txBody>
      </p:sp>
      <p:sp>
        <p:nvSpPr>
          <p:cNvPr id="2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75D1F63C-9327-4B72-9129-86881690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Attacks were scaffolded; two defenses ran inline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57683D-8C23-4AC2-AA5B-ED38921DB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BDC0CE-0622-4406-9B4F-98CF1B34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43050"/>
            <a:ext cx="542925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6CD06E-8FC1-495C-9B93-0E6F7A30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43050"/>
            <a:ext cx="560070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363782-92FE-4FEB-9BA8-546B5955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Attack induction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764050-A6DA-4B46-82A2-CAB2EC10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4667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• Supplied two-bit codebook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• Registered planner/reviewer manipulation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• Goal-driven low-rate, delayed, memory, and reward objectives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75A0DB-A5FB-4312-BFF3-AD6BAB917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5737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Defense placement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4D6E4E-7DEC-485C-B4D4-00B4FD5E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76500"/>
            <a:ext cx="4762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Capacity mediator: before the receiver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Workflow repair/gate: before external action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Phase 5 monitors: offline after generation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5C5AC7-7E09-417E-8BE5-0A3A1455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198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A634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A63434"/>
                </a:solidFill>
                <a:latin typeface="Helvetica Neue"/>
                <a:ea typeface="Helvetica Neue"/>
                <a:cs typeface="Helvetica Neue"/>
              </a:rPr>
              <a:t>This establishes execution and mechanism paths—not autonomous collusion discovery.</a:t>
            </a:r>
          </a:p>
        </p:txBody>
      </p:sp>
    </p:spTree>
    <p:extLst>
      <p:ext uri="{BB962C8B-B14F-4D97-AF65-F5344CB8AC3E}">
        <p14:creationId xmlns:p14="http://schemas.microsoft.com/office/powerpoint/2010/main" val="18160911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F5E479-F304-43E0-9DD7-6ECE0BB1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MULTI-AGENT DEFENSE EVALUATION</a:t>
            </a:r>
          </a:p>
        </p:txBody>
      </p:sp>
      <p:sp>
        <p:nvSpPr>
          <p:cNvPr id="2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75D1F63C-9327-4B72-9129-86881690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Every conclusion pairs an effect with uncertainty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57683D-8C23-4AC2-AA5B-ED38921DB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BDC0CE-0622-4406-9B4F-98CF1B34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43050"/>
            <a:ext cx="542925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6CD06E-8FC1-495C-9B93-0E6F7A30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43050"/>
            <a:ext cx="560070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363782-92FE-4FEB-9BA8-546B5955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Effect metrics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764050-A6DA-4B46-82A2-CAB2EC10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4667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• Attack success, mutual information, exact utility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• Harm, remediation, Γ, realized gain, interaction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• Before-harm intervention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75A0DB-A5FB-4312-BFF3-AD6BAB917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5737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Uncertainty and selection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4D6E4E-7DEC-485C-B4D4-00B4FD5E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76500"/>
            <a:ext cx="4762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Wilson 95% bounds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Worst-decile CVaR + DKW upper bound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Paired Hoeffding lower bound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2,000-bootstrap delay; Spearman diagnostic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5C5AC7-7E09-417E-8BE5-0A3A1455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198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A634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A63434"/>
                </a:solidFill>
                <a:latin typeface="Helvetica Neue"/>
                <a:ea typeface="Helvetica Neue"/>
                <a:cs typeface="Helvetica Neue"/>
              </a:rPr>
              <a:t>Canary intervals are wide; E04 uses three synthetic stacks and remains diagnostic only.</a:t>
            </a:r>
          </a:p>
        </p:txBody>
      </p:sp>
    </p:spTree>
    <p:extLst>
      <p:ext uri="{BB962C8B-B14F-4D97-AF65-F5344CB8AC3E}">
        <p14:creationId xmlns:p14="http://schemas.microsoft.com/office/powerpoint/2010/main" val="18160911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82E770-9413-4750-8886-127FE3D82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MULTI-AGENT DEFENSE EVALUATION</a:t>
            </a:r>
          </a:p>
        </p:txBody>
      </p:sp>
      <p:sp>
        <p:nvSpPr>
          <p:cNvPr id="2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1462EBED-5E7F-431A-BF19-FD71AA23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Paraphrasing breaks one code; adaptation restores 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56FD1D-B3B8-4CF1-B87C-53F33837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400050" y="1571625"/>
          <a:ext xmlns:a="http://schemas.openxmlformats.org/drawingml/2006/main" cx="7239000" cy="4429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2ef9bcc32ef4320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7ACE5B-E8E8-4FC4-8106-33D26A91A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62125"/>
            <a:ext cx="33813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E2CFBA-E705-4925-899C-F147B4A5C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955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2070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0704A"/>
                </a:solidFill>
                <a:latin typeface="Helvetica Neue"/>
                <a:ea typeface="Helvetica Neue"/>
                <a:cs typeface="Helvetica Neue"/>
              </a:rPr>
              <a:t>Utility = 1.00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BE331E-680F-400F-B6A4-3549287B4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574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in every condition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CFEFA4-1619-4CA4-9FCB-794628C03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62375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What it shows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EDD393-25F8-4C82-B43A-66209D7B3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67200"/>
            <a:ext cx="323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Surface filtering reduces a fixed code to chance (0.25), but semantic adaptation restores 1.00. Typed mediation returns it to 0.25.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6D110C-6349-4F49-B810-609594139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15050"/>
            <a:ext cx="904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n = 16 episodes / condition • pinned Qwen2.5-7B • registered codebook</a:t>
            </a:r>
          </a:p>
        </p:txBody>
      </p:sp>
    </p:spTree>
    <p:extLst>
      <p:ext uri="{BB962C8B-B14F-4D97-AF65-F5344CB8AC3E}">
        <p14:creationId xmlns:p14="http://schemas.microsoft.com/office/powerpoint/2010/main" val="94317316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7FF592-F54F-424F-B66C-2EDC9349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MULTI-AGENT DEFENSE EVALUATION</a:t>
            </a:r>
          </a:p>
        </p:txBody>
      </p:sp>
      <p:sp>
        <p:nvSpPr>
          <p:cNvPr id="2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37E69B3F-EBCE-41F9-BF5B-DE90A281A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Targeted repair prevents harm without zeroing utility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FF52A6-7687-4D8D-8774-DA8B2865D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400050" y="1619250"/>
          <a:ext xmlns:a="http://schemas.openxmlformats.org/drawingml/2006/main" cx="7715250" cy="4381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ca2cb4793a442d1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1336DE-6A69-48B7-925A-9FBBFA1D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5262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Registered harmful workflow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E1665-639F-4D8D-AAF6-60BA2956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28098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Local policies accept each step. The provenance-aware repair removes the prohibited flow and keeps the legitimate workflow intact.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E65D1C-4521-4C14-8E73-BFA9EA6A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24375"/>
            <a:ext cx="28098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FE992A-B0CB-45BF-83A8-810CA4BE3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762500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C86B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C86B20"/>
                </a:solidFill>
                <a:latin typeface="Helvetica Neue"/>
                <a:ea typeface="Helvetica Neue"/>
                <a:cs typeface="Helvetica Neue"/>
              </a:rPr>
              <a:t>n = 4 / condition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F781DF-D651-4B12-9D04-D8E70247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219700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feasibility—not confirmation</a:t>
            </a:r>
          </a:p>
        </p:txBody>
      </p:sp>
    </p:spTree>
    <p:extLst>
      <p:ext uri="{BB962C8B-B14F-4D97-AF65-F5344CB8AC3E}">
        <p14:creationId xmlns:p14="http://schemas.microsoft.com/office/powerpoint/2010/main" val="50511396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F19709-49B3-47B4-A352-F9AE71F7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MULTI-AGENT DEFENSE EVALUATION</a:t>
            </a:r>
          </a:p>
        </p:txBody>
      </p:sp>
      <p:sp>
        <p:nvSpPr>
          <p:cNvPr id="2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A9FD2FB8-3B79-426E-89BC-EA226EF83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Low-rate attacks are the clearest monitoring failure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DEA8DB-6990-475F-93D5-F0B76B8ED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0050" y="1666875"/>
          <a:ext xmlns:a="http://schemas.openxmlformats.org/drawingml/2006/main" cx="723900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3cbe4c757ab4bd0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1C860C-840B-426E-A2CD-BA5BCAD11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381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AFD91F-0C48-4C0B-8A49-221BD8F2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952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7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8B0137-B802-46B0-AC98-5F55509B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76450"/>
            <a:ext cx="29432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070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20704A"/>
                </a:solidFill>
                <a:latin typeface="Helvetica Neue"/>
                <a:ea typeface="Helvetica Neue"/>
                <a:cs typeface="Helvetica Neue"/>
              </a:rPr>
              <a:t>0.0458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716A40-E1BB-495B-97BA-208EF766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33700"/>
            <a:ext cx="29432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Benign lifetime-alarm 95% upper bound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0 / 80 alarms in each benign test stratum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96E82A-EAE2-42DB-A313-26A96688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05250"/>
            <a:ext cx="3381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248122-591F-442F-A6E9-A17FACD1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05250"/>
            <a:ext cx="952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FF2722-13A5-495B-BC3C-29CD6B018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171950"/>
            <a:ext cx="29432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C86B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C86B20"/>
                </a:solidFill>
                <a:latin typeface="Helvetica Neue"/>
                <a:ea typeface="Helvetica Neue"/>
                <a:cs typeface="Helvetica Neue"/>
              </a:rPr>
              <a:t>No winner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5B92C4-F32E-43FE-B2ED-5AE313782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029200"/>
            <a:ext cx="29432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All three monitors produced the same rates; the e-process was often slower.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7DCF22-AAD9-4EA9-B3D5-FFECAD97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150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Frozen test: 560 episodes • 80 / condition • Qwen2.5-7B</a:t>
            </a:r>
          </a:p>
        </p:txBody>
      </p:sp>
    </p:spTree>
    <p:extLst>
      <p:ext uri="{BB962C8B-B14F-4D97-AF65-F5344CB8AC3E}">
        <p14:creationId xmlns:p14="http://schemas.microsoft.com/office/powerpoint/2010/main" val="181787842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310ECD3-08AE-4304-97E2-ABA54357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MULTI-AGENT DEFENSE EVALUATION</a:t>
            </a:r>
          </a:p>
        </p:txBody>
      </p:sp>
      <p:sp>
        <p:nvSpPr>
          <p:cNvPr id="2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E07834F3-1512-4A27-BD49-56266779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Mechanisms pass; selector advantage is untested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9D766C-49B7-429F-A581-E931604A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392410-FACB-4AF5-9012-FFC9E4784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8115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ID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690FD0-06E6-4DB6-947B-F1EEFE29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5811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QUESTION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ECB01F-1972-446C-8808-A0CCD5506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81150"/>
            <a:ext cx="519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PRIMARY CONTROLLED RESULT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ACECBB-4FF3-44E9-8319-A035E4FAF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5811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GATE</a:t>
            </a:r>
          </a:p>
        </p:txBody>
      </p:sp>
      <p:cxnSp>
        <p:nvCxnSpPr>
          <p:cNvPr id="104" name=""/>
          <p:cNvCxnSpPr/>
          <p:nvPr/>
        </p:nvCxnSpPr>
        <p:spPr>
          <a:xfrm xmlns:a="http://schemas.openxmlformats.org/drawingml/2006/main">
            <a:off x="400050" y="19431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3959C0-5CF5-46FF-95A8-B49BF9450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19300"/>
            <a:ext cx="11391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A9A9D8-6F11-42C5-AD56-63A26CC97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14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AB5759-755D-4F48-BBF0-3A52CF17B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1145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Selector comparison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09F39D-BB0F-448D-96CD-FD5FC5AA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14550"/>
            <a:ext cx="519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0.00 improvement; all choose diverse-stack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D2D3CA-72DC-4411-B627-E259685A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1145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C86B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C86B20"/>
                </a:solidFill>
                <a:latin typeface="Helvetica Neue"/>
                <a:ea typeface="Helvetica Neue"/>
                <a:cs typeface="Helvetica Neue"/>
              </a:rPr>
              <a:t>NO CONTRAST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4DCAE7-2AC5-43FD-9062-C791D0DA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956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ABFCDC-D759-4FFC-9FEB-4AB3624D8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8956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Failure complementarity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695ED0-6BDF-47C0-9E8D-987BCF8A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95600"/>
            <a:ext cx="519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Γ 0.406; realized gain 0.381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38898E-93BD-4886-B06B-F44EBF9E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8956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070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0704A"/>
                </a:solidFill>
                <a:latin typeface="Helvetica Neue"/>
                <a:ea typeface="Helvetica Neue"/>
                <a:cs typeface="Helvetica Neue"/>
              </a:rPr>
              <a:t>PASS*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1B62F4-6391-4903-B77B-3A5567FDA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81400"/>
            <a:ext cx="11391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8D7E86-C26C-47DD-A2AA-EF16EC3C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766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818B89-FD32-46E0-A25F-AE94A79B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6766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Adaptive persistence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B3ACDF-0EC6-4D5A-B56E-63A487198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76650"/>
            <a:ext cx="519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0.93 vs 1.00 worst-cell CVaR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330313-2CE2-473A-9B89-6BC5E344E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6766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070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0704A"/>
                </a:solidFill>
                <a:latin typeface="Helvetica Neue"/>
                <a:ea typeface="Helvetica Neue"/>
                <a:cs typeface="Helvetica Neue"/>
              </a:rPr>
              <a:t>PASS*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AC6C0A-9318-433B-A5B1-2C3071733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577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3368E0-86F3-4901-8045-FCDE2A17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4577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Held-out transfer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029E85-6090-472A-A25B-7CF905053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57700"/>
            <a:ext cx="519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Spearman 0.866; compound gate blocked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38026B-58A4-4CF5-BAB9-13258B195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4577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A634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A63434"/>
                </a:solidFill>
                <a:latin typeface="Helvetica Neue"/>
                <a:ea typeface="Helvetica Neue"/>
                <a:cs typeface="Helvetica Neue"/>
              </a:rPr>
              <a:t>FAIL*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FFC104-DD28-430E-BA94-0DE112CB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0"/>
            <a:ext cx="11391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519946-B7D7-481F-8941-85C5E8746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387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DA00D5-624E-431F-A2CE-12E0FE62B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2387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Before-harm validity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DA2D1B-3415-4F0D-9600-FD2A83FA9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38750"/>
            <a:ext cx="519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harm 0.725 → 0.025; before-harm 0.95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B52420-C4CE-4477-A5F5-EEA2EFAC6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52387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070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0704A"/>
                </a:solidFill>
                <a:latin typeface="Helvetica Neue"/>
                <a:ea typeface="Helvetica Neue"/>
                <a:cs typeface="Helvetica Neue"/>
              </a:rPr>
              <a:t>PASS*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38F686-D7F8-44E0-990B-6C52ECCE0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* controlled synthetic gate only; not evidence about stochastic LLM-agent robustness</a:t>
            </a:r>
          </a:p>
        </p:txBody>
      </p:sp>
    </p:spTree>
    <p:extLst>
      <p:ext uri="{BB962C8B-B14F-4D97-AF65-F5344CB8AC3E}">
        <p14:creationId xmlns:p14="http://schemas.microsoft.com/office/powerpoint/2010/main" val="186869125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6BA0A9-E813-4212-8612-E23A499D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MULTI-AGENT DEFENSE EVALUATION</a:t>
            </a:r>
          </a:p>
        </p:txBody>
      </p:sp>
      <p:sp>
        <p:nvSpPr>
          <p:cNvPr id="2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E76E2DDF-B28C-40EF-842D-A6C91F87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Diversity helps only when failures do not overlap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B80C0F-A953-4D68-B714-B8137207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0050" y="1666875"/>
          <a:ext xmlns:a="http://schemas.openxmlformats.org/drawingml/2006/main" cx="7239000" cy="4238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d291aff308b44d3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729F59-0E22-433A-82D2-2CD880D57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62125"/>
            <a:ext cx="338137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C35228-F393-46AE-9F1C-25522189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62125"/>
            <a:ext cx="9525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7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0A7EC5-37BB-4B44-BE2F-0C564B52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28825"/>
            <a:ext cx="29432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070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20704A"/>
                </a:solidFill>
                <a:latin typeface="Helvetica Neue"/>
                <a:ea typeface="Helvetica Neue"/>
                <a:cs typeface="Helvetica Neue"/>
              </a:rPr>
              <a:t>Γ = 0.406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DC261C-4FC5-41C7-BCC5-059C161EC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86075"/>
            <a:ext cx="29432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Diverse fixed-panel complementarity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44F32C-4E8C-468A-9023-86A4747A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62375"/>
            <a:ext cx="338137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3FF3C3-4D21-4894-B61F-8846D39B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62375"/>
            <a:ext cx="9525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49068B-4B52-49DD-A8F3-E3FBE8FA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29075"/>
            <a:ext cx="29432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C86B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C86B20"/>
                </a:solidFill>
                <a:latin typeface="Helvetica Neue"/>
                <a:ea typeface="Helvetica Neue"/>
                <a:cs typeface="Helvetica Neue"/>
              </a:rPr>
              <a:t>+0.025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3F4778-EDC6-4525-BF41-F6730A8C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886325"/>
            <a:ext cx="29432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Interaction gap: the enforced stack is slightly worse than the singleton intersection.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A5C233-A6BB-4D6C-B0E4-70A01693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43625"/>
            <a:ext cx="1000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The enforced stack changes trajectories; complementarity alone is not deployment proof.</a:t>
            </a:r>
          </a:p>
        </p:txBody>
      </p:sp>
    </p:spTree>
    <p:extLst>
      <p:ext uri="{BB962C8B-B14F-4D97-AF65-F5344CB8AC3E}">
        <p14:creationId xmlns:p14="http://schemas.microsoft.com/office/powerpoint/2010/main" val="163780576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7C5280-E623-4768-BA09-30C58691E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MULTI-AGENT DEFENSE EVALUATION</a:t>
            </a:r>
          </a:p>
        </p:txBody>
      </p:sp>
      <p:sp>
        <p:nvSpPr>
          <p:cNvPr id="2" name="slide-12-title">
            <a:extLst xmlns:a="http://schemas.openxmlformats.org/drawingml/2006/main">
              <a:ext uri="{FF2B5EF4-FFF2-40B4-BE49-F238E27FC236}">
                <a16:creationId xmlns:a16="http://schemas.microsoft.com/office/drawing/2014/main" id="{9B1ABED8-B38E-4E2D-A4EC-3EC41DC9C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Negative results narrow the claim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8B43DF-7AC0-44E3-B9F2-CF827533E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87E9D7-FA12-4CDD-83F7-E2796065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5334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CA7752-38A5-4D29-B4A6-1335EE60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002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C86B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C86B20"/>
                </a:solidFill>
                <a:latin typeface="Helvetica Neue"/>
                <a:ea typeface="Helvetica Neue"/>
                <a:cs typeface="Helvetica Neue"/>
              </a:rPr>
              <a:t>E01: selector superiority not tested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D18815-8681-40B7-B768-AB4D2242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14625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Every registered selector chose the same stack.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Result: the fixture validates the pipeline, but cannot compare selectors.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9AE714-B01B-4B4B-B41D-BBACD288A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56959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F6C045-3769-418E-AE28-02248CE7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00250"/>
            <a:ext cx="485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A634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A63434"/>
                </a:solidFill>
                <a:latin typeface="Helvetica Neue"/>
                <a:ea typeface="Helvetica Neue"/>
                <a:cs typeface="Helvetica Neue"/>
              </a:rPr>
              <a:t>E04: transfer not established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1C3F4F-A652-4CC1-834E-FA7F68D3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714625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Validation Γ correlates with synthetic held-out robustness, but only across three stacks and without an E01 advantage.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Result: E04 remains false.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28566D-3DBD-40AF-A3DC-4AED565C7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harness rejects favorable secondary metrics when the primary gate fails.</a:t>
            </a:r>
          </a:p>
        </p:txBody>
      </p:sp>
    </p:spTree>
    <p:extLst>
      <p:ext uri="{BB962C8B-B14F-4D97-AF65-F5344CB8AC3E}">
        <p14:creationId xmlns:p14="http://schemas.microsoft.com/office/powerpoint/2010/main" val="97602724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131C71-3FBE-45E9-B711-EDD3B75D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MULTI-AGENT DEFENSE EVALUATION</a:t>
            </a:r>
          </a:p>
        </p:txBody>
      </p:sp>
      <p:sp>
        <p:nvSpPr>
          <p:cNvPr id="2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CA9E1DB2-44DE-4718-AAFD-A4928026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What the evidence establishes—and what remains open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F74CF4-81B3-48FE-9AEA-F5440C234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17BDED-2BE1-4928-97F6-FC2F2BA9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34766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2BDC0F-8382-4F57-96E5-060EA267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95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57BA5D-E40A-4135-938D-774336F5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30384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Established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8BF936-6003-469C-9E55-F76CBEA7B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33700"/>
            <a:ext cx="30384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Mechanism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Typed mediation and targeted repair work on pinned Qwen2.5-7B canaries.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DB8085-898C-4C86-B1FA-6D1D5FF60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809750"/>
            <a:ext cx="34766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AABD1D-F00F-4EC1-9266-2BE52D1E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809750"/>
            <a:ext cx="95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659B87-AB64-4F51-A371-EF4D948A5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76450"/>
            <a:ext cx="30384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Measured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1B36BE-585A-435E-AA53-5D01585E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933700"/>
            <a:ext cx="30384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Bounded results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Controlled Γ = 0.406; low-rate before-harm detection = 0.275.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AC07C0-0BDD-492D-9A25-0C42D64E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09750"/>
            <a:ext cx="34861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24F48E-FA4D-4F63-B5C6-E8B25428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09750"/>
            <a:ext cx="95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7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1B2D4F-964F-42B1-8200-323DE068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76450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070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20704A"/>
                </a:solidFill>
                <a:latin typeface="Helvetica Neue"/>
                <a:ea typeface="Helvetica Neue"/>
                <a:cs typeface="Helvetica Neue"/>
              </a:rPr>
              <a:t>Open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6C9C74-72A0-4552-948E-ACA23CC5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304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Decisive tests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Autonomous best response, selector advantage, and cross-model transfer.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4ABC26-1996-4C7A-9D39-7267C562B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C86B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C86B20"/>
                </a:solidFill>
                <a:latin typeface="Helvetica Neue"/>
                <a:ea typeface="Helvetica Neue"/>
                <a:cs typeface="Helvetica Neue"/>
              </a:rPr>
              <a:t>Conclusion: strong mechanism evidence; incomplete robustness evidence.</a:t>
            </a:r>
          </a:p>
        </p:txBody>
      </p:sp>
    </p:spTree>
    <p:extLst>
      <p:ext uri="{BB962C8B-B14F-4D97-AF65-F5344CB8AC3E}">
        <p14:creationId xmlns:p14="http://schemas.microsoft.com/office/powerpoint/2010/main" val="31458286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3D1B11-64E7-48EA-86C6-3DA4ACC7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MULTI-AGENT DEFENSE EVALUATION</a:t>
            </a:r>
          </a:p>
        </p:txBody>
      </p:sp>
      <p:sp>
        <p:nvSpPr>
          <p:cNvPr id="2" name="slide-13-title">
            <a:extLst xmlns:a="http://schemas.openxmlformats.org/drawingml/2006/main">
              <a:ext uri="{FF2B5EF4-FFF2-40B4-BE49-F238E27FC236}">
                <a16:creationId xmlns:a16="http://schemas.microsoft.com/office/drawing/2014/main" id="{5359DFED-FFA9-4922-82E9-17E96594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Three experiments now decide the conjecture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66D728-C950-41A3-A178-827AD770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918F06-D9CE-493E-9479-8F130A10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3381375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CB0F6C-0882-4DCC-A200-A94539C1C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66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29D0F4-52DE-44AD-A4CB-4460DC31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2809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Model-backed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complementarity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62AD8D-EC5F-43A7-AB6F-655A82A0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2809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Shadow-fork matched LLM events through singleton and stacked defenses.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66D313-1F48-43F0-9D61-E73D7E99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762125"/>
            <a:ext cx="3381375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72F8DC-99C4-4BDC-BED5-577140495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47875"/>
            <a:ext cx="66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F70D54-33E3-4A40-8C03-DD9B30F00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905125"/>
            <a:ext cx="2809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Stack-aware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best response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5E9369-2DCD-41E3-8370-8E02EFD6C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857625"/>
            <a:ext cx="2809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Optimize one attacker per finalist under equal query, token, tool, and rollout budgets.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28467C-53F3-4C5F-8A2C-CA0379AE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62125"/>
            <a:ext cx="3381375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DBDC29-977A-4C0E-A37E-208BB8034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47875"/>
            <a:ext cx="66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71EFEB-6E3B-4058-9249-6176A880A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05125"/>
            <a:ext cx="2809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Held-out transfer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4228B1-7D84-4286-911F-2F6BD03B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57625"/>
            <a:ext cx="2809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Qualify a distinct 7–9B model, then open single-axis and compound cells once.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1780EC-79B2-44E4-B91B-49D35198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7212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Decision rule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76134C-4239-4D6A-B72F-EB9E8536D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5245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Claim optimization only if the advantage survives all three.</a:t>
            </a:r>
          </a:p>
        </p:txBody>
      </p:sp>
    </p:spTree>
    <p:extLst>
      <p:ext uri="{BB962C8B-B14F-4D97-AF65-F5344CB8AC3E}">
        <p14:creationId xmlns:p14="http://schemas.microsoft.com/office/powerpoint/2010/main" val="16417329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2026-08-21T08:42:46.3900000Z</dcterms:created>
  <dcterms:modified xsi:type="dcterms:W3CDTF">2026-08-21T08:42:46.3900000Z</dcterms:modified>
</coreProperties>
</file>