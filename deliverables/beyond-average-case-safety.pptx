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3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4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14874b792b48a4" /><Relationship Type="http://schemas.openxmlformats.org/officeDocument/2006/relationships/extended-properties" Target="/docProps/app.xml" Id="Rc7b00848850f463b" /><Relationship Type="http://schemas.openxmlformats.org/officeDocument/2006/relationships/officeDocument" Target="/ppt/presentation.xml" Id="R518f896944cb48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288bd0786b4522"/>
  </p:sldMasterIdLst>
  <p:notesMasterIdLst>
    <p:notesMasterId xmlns:r="http://schemas.openxmlformats.org/officeDocument/2006/relationships" r:id="Re022d4c3fda34454"/>
  </p:notesMasterIdLst>
  <p:sldIdLst>
    <p:sldId xmlns:r="http://schemas.openxmlformats.org/officeDocument/2006/relationships" id="256" r:id="R814fafc558d64f4c"/>
    <p:sldId xmlns:r="http://schemas.openxmlformats.org/officeDocument/2006/relationships" id="257" r:id="Rb958ec18815b42a7"/>
    <p:sldId xmlns:r="http://schemas.openxmlformats.org/officeDocument/2006/relationships" id="258" r:id="Rd0cb72c31014471b"/>
    <p:sldId xmlns:r="http://schemas.openxmlformats.org/officeDocument/2006/relationships" id="259" r:id="R5f5e34d279e04839"/>
    <p:sldId xmlns:r="http://schemas.openxmlformats.org/officeDocument/2006/relationships" id="260" r:id="Re42d3305b8774755"/>
    <p:sldId xmlns:r="http://schemas.openxmlformats.org/officeDocument/2006/relationships" id="261" r:id="R1b8cbd95c7e54afe"/>
    <p:sldId xmlns:r="http://schemas.openxmlformats.org/officeDocument/2006/relationships" id="262" r:id="R6a1198ff95e44184"/>
    <p:sldId xmlns:r="http://schemas.openxmlformats.org/officeDocument/2006/relationships" id="263" r:id="R6fc69624b9b64839"/>
    <p:sldId xmlns:r="http://schemas.openxmlformats.org/officeDocument/2006/relationships" id="264" r:id="R591ea47c07954d7a"/>
    <p:sldId xmlns:r="http://schemas.openxmlformats.org/officeDocument/2006/relationships" id="265" r:id="Rdf0f83db0d6e477e"/>
    <p:sldId xmlns:r="http://schemas.openxmlformats.org/officeDocument/2006/relationships" id="266" r:id="R9a406bd0a6f94e79"/>
    <p:sldId xmlns:r="http://schemas.openxmlformats.org/officeDocument/2006/relationships" id="267" r:id="Rcb473682418e4a95"/>
    <p:sldId xmlns:r="http://schemas.openxmlformats.org/officeDocument/2006/relationships" id="268" r:id="Rf256cb0b3e1f4ad5"/>
    <p:sldId xmlns:r="http://schemas.openxmlformats.org/officeDocument/2006/relationships" id="269" r:id="Rf9c09f03eee54152"/>
    <p:sldId xmlns:r="http://schemas.openxmlformats.org/officeDocument/2006/relationships" id="270" r:id="R067034cb86b449ca"/>
    <p:sldId xmlns:r="http://schemas.openxmlformats.org/officeDocument/2006/relationships" id="271" r:id="R63795b4ffb7f42d9"/>
    <p:sldId xmlns:r="http://schemas.openxmlformats.org/officeDocument/2006/relationships" id="272" r:id="R9501a0c0ba47440a"/>
    <p:sldId xmlns:r="http://schemas.openxmlformats.org/officeDocument/2006/relationships" id="273" r:id="Rec4c2f6a45174a13"/>
    <p:sldId xmlns:r="http://schemas.openxmlformats.org/officeDocument/2006/relationships" id="274" r:id="Rf3d0be6be927426f"/>
    <p:sldId xmlns:r="http://schemas.openxmlformats.org/officeDocument/2006/relationships" id="275" r:id="R7ed778b24cb74e72"/>
    <p:sldId xmlns:r="http://schemas.openxmlformats.org/officeDocument/2006/relationships" id="276" r:id="R3b4aed10fa83449f"/>
    <p:sldId xmlns:r="http://schemas.openxmlformats.org/officeDocument/2006/relationships" id="277" r:id="Rd118349154d2447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d0dbbe524f4474" /><Relationship Type="http://schemas.openxmlformats.org/officeDocument/2006/relationships/slideMaster" Target="/ppt/slideMasters/slideMaster1.xml" Id="R52288bd0786b4522" /><Relationship Type="http://schemas.openxmlformats.org/officeDocument/2006/relationships/notesMaster" Target="/ppt/notesMasters/notesMaster1.xml" Id="Re022d4c3fda34454" /><Relationship Type="http://schemas.openxmlformats.org/officeDocument/2006/relationships/presProps" Target="/ppt/presProps.xml" Id="R2baeea09251a4a45" /><Relationship Type="http://schemas.openxmlformats.org/officeDocument/2006/relationships/tableStyles" Target="/ppt/tableStyles.xml" Id="Rc1a0a34d92274b54" /><Relationship Type="http://schemas.openxmlformats.org/officeDocument/2006/relationships/slide" Target="/ppt/slides/slide1.xml" Id="R814fafc558d64f4c" /><Relationship Type="http://schemas.openxmlformats.org/officeDocument/2006/relationships/slide" Target="/ppt/slides/slide2.xml" Id="Rb958ec18815b42a7" /><Relationship Type="http://schemas.openxmlformats.org/officeDocument/2006/relationships/slide" Target="/ppt/slides/slide3.xml" Id="Rd0cb72c31014471b" /><Relationship Type="http://schemas.openxmlformats.org/officeDocument/2006/relationships/slide" Target="/ppt/slides/slide4.xml" Id="R5f5e34d279e04839" /><Relationship Type="http://schemas.openxmlformats.org/officeDocument/2006/relationships/slide" Target="/ppt/slides/slide5.xml" Id="Re42d3305b8774755" /><Relationship Type="http://schemas.openxmlformats.org/officeDocument/2006/relationships/slide" Target="/ppt/slides/slide6.xml" Id="R1b8cbd95c7e54afe" /><Relationship Type="http://schemas.openxmlformats.org/officeDocument/2006/relationships/slide" Target="/ppt/slides/slide7.xml" Id="R6a1198ff95e44184" /><Relationship Type="http://schemas.openxmlformats.org/officeDocument/2006/relationships/slide" Target="/ppt/slides/slide8.xml" Id="R6fc69624b9b64839" /><Relationship Type="http://schemas.openxmlformats.org/officeDocument/2006/relationships/slide" Target="/ppt/slides/slide9.xml" Id="R591ea47c07954d7a" /><Relationship Type="http://schemas.openxmlformats.org/officeDocument/2006/relationships/slide" Target="/ppt/slides/slide10.xml" Id="Rdf0f83db0d6e477e" /><Relationship Type="http://schemas.openxmlformats.org/officeDocument/2006/relationships/slide" Target="/ppt/slides/slide11.xml" Id="R9a406bd0a6f94e79" /><Relationship Type="http://schemas.openxmlformats.org/officeDocument/2006/relationships/slide" Target="/ppt/slides/slide12.xml" Id="Rcb473682418e4a95" /><Relationship Type="http://schemas.openxmlformats.org/officeDocument/2006/relationships/slide" Target="/ppt/slides/slide13.xml" Id="Rf256cb0b3e1f4ad5" /><Relationship Type="http://schemas.openxmlformats.org/officeDocument/2006/relationships/slide" Target="/ppt/slides/slide14.xml" Id="Rf9c09f03eee54152" /><Relationship Type="http://schemas.openxmlformats.org/officeDocument/2006/relationships/slide" Target="/ppt/slides/slide15.xml" Id="R067034cb86b449ca" /><Relationship Type="http://schemas.openxmlformats.org/officeDocument/2006/relationships/slide" Target="/ppt/slides/slide16.xml" Id="R63795b4ffb7f42d9" /><Relationship Type="http://schemas.openxmlformats.org/officeDocument/2006/relationships/slide" Target="/ppt/slides/slide17.xml" Id="R9501a0c0ba47440a" /><Relationship Type="http://schemas.openxmlformats.org/officeDocument/2006/relationships/slide" Target="/ppt/slides/slide18.xml" Id="Rec4c2f6a45174a13" /><Relationship Type="http://schemas.openxmlformats.org/officeDocument/2006/relationships/slide" Target="/ppt/slides/slide19.xml" Id="Rf3d0be6be927426f" /><Relationship Type="http://schemas.openxmlformats.org/officeDocument/2006/relationships/slide" Target="/ppt/slides/slide20.xml" Id="R7ed778b24cb74e72" /><Relationship Type="http://schemas.openxmlformats.org/officeDocument/2006/relationships/slide" Target="/ppt/slides/slide21.xml" Id="R3b4aed10fa83449f" /><Relationship Type="http://schemas.openxmlformats.org/officeDocument/2006/relationships/slide" Target="/ppt/slides/slide22.xml" Id="Rd118349154d244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377dbf125145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927e4824d945fe" /><Relationship Type="http://schemas.openxmlformats.org/officeDocument/2006/relationships/notesMaster" Target="/ppt/notesMasters/notesMaster1.xml" Id="Rf1f36452513641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0c1e8f302d4f7a" /><Relationship Type="http://schemas.openxmlformats.org/officeDocument/2006/relationships/notesMaster" Target="/ppt/notesMasters/notesMaster1.xml" Id="R70336c3144b74f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164c9fb0534e14" /><Relationship Type="http://schemas.openxmlformats.org/officeDocument/2006/relationships/notesMaster" Target="/ppt/notesMasters/notesMaster1.xml" Id="R435eeb8a3e844c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7ad8f8609b4912" /><Relationship Type="http://schemas.openxmlformats.org/officeDocument/2006/relationships/notesMaster" Target="/ppt/notesMasters/notesMaster1.xml" Id="R3b82c54efa4543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cd8e7fe45a4034" /><Relationship Type="http://schemas.openxmlformats.org/officeDocument/2006/relationships/notesMaster" Target="/ppt/notesMasters/notesMaster1.xml" Id="Rf6e078a9264447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3d2c19ab294c5e" /><Relationship Type="http://schemas.openxmlformats.org/officeDocument/2006/relationships/notesMaster" Target="/ppt/notesMasters/notesMaster1.xml" Id="R470660e1694c44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b005e373924a63" /><Relationship Type="http://schemas.openxmlformats.org/officeDocument/2006/relationships/notesMaster" Target="/ppt/notesMasters/notesMaster1.xml" Id="R5a521bca7f9548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15bfeecccb4d67" /><Relationship Type="http://schemas.openxmlformats.org/officeDocument/2006/relationships/notesMaster" Target="/ppt/notesMasters/notesMaster1.xml" Id="R8a3a551fe7da42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89ee36648142cb" /><Relationship Type="http://schemas.openxmlformats.org/officeDocument/2006/relationships/notesMaster" Target="/ppt/notesMasters/notesMaster1.xml" Id="R1b9cfcd93a3c4c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4593a4138b4d00" /><Relationship Type="http://schemas.openxmlformats.org/officeDocument/2006/relationships/notesMaster" Target="/ppt/notesMasters/notesMaster1.xml" Id="R8f7f6aa7b13d44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f102e0db974037" /><Relationship Type="http://schemas.openxmlformats.org/officeDocument/2006/relationships/notesMaster" Target="/ppt/notesMasters/notesMaster1.xml" Id="R8848832b7e5e40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dfd4c7361b344ad" /><Relationship Type="http://schemas.openxmlformats.org/officeDocument/2006/relationships/notesMaster" Target="/ppt/notesMasters/notesMaster1.xml" Id="Rd8e19e81e8f74bb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76503a5e9fc439d" /><Relationship Type="http://schemas.openxmlformats.org/officeDocument/2006/relationships/notesMaster" Target="/ppt/notesMasters/notesMaster1.xml" Id="Rbb6e3011950c4c4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a06f8beec5c4c17" /><Relationship Type="http://schemas.openxmlformats.org/officeDocument/2006/relationships/notesMaster" Target="/ppt/notesMasters/notesMaster1.xml" Id="Rd70bdbdd9c3b401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44b72e2908740df" /><Relationship Type="http://schemas.openxmlformats.org/officeDocument/2006/relationships/notesMaster" Target="/ppt/notesMasters/notesMaster1.xml" Id="Rb81c7c47afd14ec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45dfcbd33ee404e" /><Relationship Type="http://schemas.openxmlformats.org/officeDocument/2006/relationships/notesMaster" Target="/ppt/notesMasters/notesMaster1.xml" Id="R165099fffe89488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ba70fcff3e54887" /><Relationship Type="http://schemas.openxmlformats.org/officeDocument/2006/relationships/notesMaster" Target="/ppt/notesMasters/notesMaster1.xml" Id="Rab56ba9b27c349d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68b28af970941fa" /><Relationship Type="http://schemas.openxmlformats.org/officeDocument/2006/relationships/notesMaster" Target="/ppt/notesMasters/notesMaster1.xml" Id="R82cc62ef71fa4cd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6c4a5ad95484caf" /><Relationship Type="http://schemas.openxmlformats.org/officeDocument/2006/relationships/notesMaster" Target="/ppt/notesMasters/notesMaster1.xml" Id="R57659f26a7b141d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0a8c8cfdd1741d7" /><Relationship Type="http://schemas.openxmlformats.org/officeDocument/2006/relationships/notesMaster" Target="/ppt/notesMasters/notesMaster1.xml" Id="Rb3d26d0d131e41a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7d4f9e729be40ad" /><Relationship Type="http://schemas.openxmlformats.org/officeDocument/2006/relationships/notesMaster" Target="/ppt/notesMasters/notesMaster1.xml" Id="Rc9ea6867a7b2439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350de363b304745" /><Relationship Type="http://schemas.openxmlformats.org/officeDocument/2006/relationships/notesMaster" Target="/ppt/notesMasters/notesMaster1.xml" Id="R62d2a2a743264e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presentation asks how to optimize defense strategies against multi-agent attacks when average performance can hide a severe conditional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"Beyond the average case" is the central shift: a defense should be judged on the hardest registered cells, the overlap of its failure modes, and whether its advantage survives adaptation and held-out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will separate the conjecture from the evidence. Some results are model-backed canaries, some are controlled fixtures, and several decisive tests remain 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- artifacts/reviewer-evidence-20260821/README.md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checks remain necessary, but the security unit is the trajectory. Individually acceptable steps can compose into a prohibited outcome, and several defenses can share one blind spot.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practical implication is that evaluation must bind coalition, context, and consequence. Per-message accuracy is not enough.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Section 3.3 provides dimensions of attack variation. Hard cases combine adverse values: low detectability, coalition-level locality, long horizons, weak attribution, and irreversible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motivates conditional tail evaluation. We do not average a catastrophic cell together with many easy cells.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These are mechanism families, not mutually exclusive labels. Covert coordination attacks the communication surface; compositional attacks exploit workflow and consequence surfaces.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Different mechanisms demand different defenses: mediation, provenance, action gates, and sequential monitoring.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https://arxiv.org/abs/2505.02077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the first half of the paper's "Terminology and relevance"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trajectory is the full team execution, so it is the unit of security. An attack cell fixes the conditions under which loss is measured. A defense stack is the complete deployed combination, not a list of components considered separately. Tail risk focuses on the severe 10% within a cell. Failure diversity asks whether two defenses fail on different matched opportunities.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the second half of the paper's "Terminology and relevance"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interaction gap distinguishes predicted singleton overlap from the behavior of the enforced stack. A stack-aware best response re-optimizes the attacker against the exact defense. Held-out transfer checks generalization after selection freezes. Before-harm intervention requires action before the irreversible consequence. Typed mediation and provenance-aware repair remove carrier freedom or repair the unsafe action using its causal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selector minimizes an uncertainty-adjusted worst-cell tail loss subject to utility. Γ measures whether component bypass sets overlap. BR makes the attacker stack-aware.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novel part is the conjunction, not CVaR by itself: tail risk plus failure diversity plus adaptive retesting.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CVaR, group robustness, uncertainty bounds, and anytime-valid statistics are established tools. The conjecture is that non-overlapping validation failures predict realized held-out gain after adaptation and enforcement.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can fail, and the deck preserves those failure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paper/references.bib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common contract prevents post-hoc story changes: matched forks, frozen selection, equal-budget attack search, sealed transfer, and before-harm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currently implemented harness covers the contract and several precursors; model-backed forks and autonomous search remain next steps.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docs/experiments/mechanism_diverse_tail/common_contract.md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Three evidence tiers ran. The controlled suite has 2,400 deterministic outcomes. The online canaries use pinned Qwen2.5-7B with 64 covert-channel and 24 six-role workflow episodes. Phase 5 has 900 two-agent, 100-turn episodes, but its monitors are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distinct held-out model family or autonomous stack-specific search has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artifacts/reviewer-evidence-20260821/README.md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capacity and workflow attacks execute supplied or registered policies. Phase 5 adds goal-driven pressure with randomized onset, but not autonomous collusion discovery.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Only the capacity mediator and workflow repair/gate run inline. Phase 5 monitors score after generation.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src/agent_defense_evals/experiments/model_capacity_transfer.py</a:t>
            </a:r>
          </a:p>
          <a:p xmlns:a="http://schemas.openxmlformats.org/drawingml/2006/main">
            <a:r>
              <a:t>- src/agent_defense_evals/experiments/model_workflow_remediation.py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Each claim has an effect metric and uncertainty method. The important discipline is not to promote a diagnostic statistic into a confirmatory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Canary intervals are wide; E04 has only three synthetic stacks.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Unrestricted communication succeeds. Paraphrasing breaks a fixed surface code, but a semantic adaptation restores full success. Typed mediation returns the registered attack to chance while exact utility stays at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one codebook and one model. It shows mechanism execution, not universal channel elimination.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artifacts/reviewer-evidence-20260821/phase7-model-capacity-7b-vllm-trace-complete.json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defense and local-only checks permit the registered harmful composition. Hard blocking prevents harm by removing utility. Targeted provenance repair prevents the prohibited flow and preserves exact utility.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There are only four harmful episodes per condition, so this is feasibility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artifacts/reviewer-evidence-20260821/phase7-model-workflow-7b-vllm-trace-complete.json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lifetime false-alarm upper bound passes the registered ceiling, but low-rate attacks are detected before harm only 27.5 percent of the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monitors produce the same rates and the e-process is often slower. The supported finding is the low-rate gap, not monitor superiority.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scorecard distinguishes harness gates. E02, E03, and E05 pass only as controlled synthetic mechanisms. E01 provides no selector contrast, and E04 fails its compound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asterisk prevents synthetic outcomes from being presented as stochastic-agent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Γ is the best singleton bypass minus joint singleton bypass on matched opportunities. The controlled diverse stack has strongly non-overlapping failures.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positive interaction gap means enforcing the stack changes trajectories slightly for the worse. That gap must be reported rather than hidden.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E01 cannot compare selectors because every selector chooses the same stack. E04 remains false because a favorable three-stack correlation cannot replace the missing primary contrast.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results make the conjecture more credible by constraining what can be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evidence establishes that two defenses can execute inline on a pinned model and that the harness can measure complementarity and before-harm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It does not establish adaptive stack robustness or cross-model transfer. The current conclusion is mechanism evidence, not a general safety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artifacts/reviewer-evidence-20260821/README.md</a:t>
            </a:r>
          </a:p>
          <a:p xmlns:a="http://schemas.openxmlformats.org/drawingml/2006/main">
            <a:r>
              <a:t>- deliverables/experiment-evidence-canvas.md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These are the three decisive tests. First, model-backed shadow forks establish whether LLM-generated failures are non-overlapping. Second, equal-budget best response tests whether adaptation collapses the advantage. Third, a distinct held-out model tests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Only if the advantage survives all three should we claim that this optimization improves multi-agent defense.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docs/experiments/mechanism_diverse_tail/03_adaptive_best_response/README.md</a:t>
            </a:r>
          </a:p>
          <a:p xmlns:a="http://schemas.openxmlformats.org/drawingml/2006/main">
            <a:r>
              <a:t>- docs/experiments/mechanism_diverse_tail/04_compound_heldout_transfer/README.md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closing synthesis is deliberately evidence-linked.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First, security is compositional: local checks accepted the registered harmful workflow. Second, representation adapts: surface paraphrasing broke a fixed code, but semantic adaptation restored full success, while typed mediation removed the registered carrier. Third, targeted provenance repair prevented harm without destroying exact utility. Fourth, a stringent lifetime false-alarm bound did not guarantee useful low-rate intervention; before-harm detection was only 0.275. Fifth, diversity is promising only when matched failure sets do not overlap and the benefit survives enforcement, adaptation, and held-out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final row preserves the boundary of the evidence. Controlled Gamma was positive, but the interaction gap was also positive and selector advantage plus genuine held-out transfer remain 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artifacts/reviewer-evidence-20260821/phase7-model-capacity-7b-vllm-trace-complete.json</a:t>
            </a:r>
          </a:p>
          <a:p xmlns:a="http://schemas.openxmlformats.org/drawingml/2006/main">
            <a:r>
              <a:t>- artifacts/reviewer-evidence-20260821/phase7-model-workflow-7b-vllm-trace-complete.json</a:t>
            </a:r>
          </a:p>
          <a:p xmlns:a="http://schemas.openxmlformats.org/drawingml/2006/main">
            <a:r>
              <a:t>- artifacts/phase5-confirmatory-report.json</a:t>
            </a:r>
          </a:p>
          <a:p xmlns:a="http://schemas.openxmlformats.org/drawingml/2006/main">
            <a:r>
              <a:t>- artifacts/reviewer-evidence-20260821/tail-report.json</a:t>
            </a:r>
          </a:p>
          <a:p xmlns:a="http://schemas.openxmlformats.org/drawingml/2006/main">
            <a:r>
              <a:t>- paper/main.tex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Fairlead is a Rust inference gateway and compute router. It does not run inference: vLLM owns model loading, GPU execution, caching, and token streaming. Fairlead chooses the backend and applies routing, health, retry, resource, pool, and admission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 future multi-agent evaluations, the evaluation_shard extension provides a durable scheduling unit above individual model turns. Fairlead can own job state, worker-pool placement, claims, leases, renewal, retry, restart recovery, idempotency, callbacks, and operational metrics. Agent Defense Evals should continue to own prompts, attacks, seeds, immutable traces, scores, calibration, and statistical reports.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remaining qualification gate is operational: add the Python evaluation worker, verify artifact digests, preserve Fairlead response provenance in every trace, run a live-vLLM canary, exercise controlled Fairlead and vLLM restarts, and complete the target-machine soak. This supports repeatability; it does not itself prove a security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https://github.com/ybordag/fairlead</a:t>
            </a:r>
          </a:p>
          <a:p xmlns:a="http://schemas.openxmlformats.org/drawingml/2006/main">
            <a:r>
              <a:t>- https://github.com/ybordag/fairlead/blob/evaluation-shard/docs/current_work/phase_9b_evaluation_shard.md</a:t>
            </a:r>
          </a:p>
          <a:p xmlns:a="http://schemas.openxmlformats.org/drawingml/2006/main">
            <a:r>
              <a:t>- https://github.com/ybordag/fairlead/blob/overnight-hardening/docs/current_work/phase_9c_overnight_hardening.md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daaf99b6fb47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144797f82945b7" /><Relationship Type="http://schemas.openxmlformats.org/officeDocument/2006/relationships/slideLayout" Target="/ppt/slideLayouts/slideLayout1.xml" Id="Rdca0ec23689b4c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a0ec23689b4c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491c9f26f445a" /><Relationship Type="http://schemas.openxmlformats.org/officeDocument/2006/relationships/notesSlide" Target="/ppt/notesSlides/notesSlide1.xml" Id="R7871ff95be1f48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bd1cf9cf24a51" /><Relationship Type="http://schemas.openxmlformats.org/officeDocument/2006/relationships/notesSlide" Target="/ppt/notesSlides/notesSlide2.xml" Id="Reca0e6852ccb4b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b2634b66b8497f" /><Relationship Type="http://schemas.openxmlformats.org/officeDocument/2006/relationships/notesSlide" Target="/ppt/notesSlides/notesSlide3.xml" Id="R2cf8ce4d855e48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728f74eed4eb8" /><Relationship Type="http://schemas.openxmlformats.org/officeDocument/2006/relationships/notesSlide" Target="/ppt/notesSlides/notesSlide4.xml" Id="Rd5993d49936245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1ec9619b674616" /><Relationship Type="http://schemas.openxmlformats.org/officeDocument/2006/relationships/notesSlide" Target="/ppt/notesSlides/notesSlide5.xml" Id="R22868df9db5f47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e4eaf4e984964" /><Relationship Type="http://schemas.openxmlformats.org/officeDocument/2006/relationships/notesSlide" Target="/ppt/notesSlides/notesSlide6.xml" Id="Rf3c2b3fd8d2541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9a1b06f2c4e79" /><Relationship Type="http://schemas.openxmlformats.org/officeDocument/2006/relationships/notesSlide" Target="/ppt/notesSlides/notesSlide7.xml" Id="R31464bff8e234b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3dea17d9ce4bdf" /><Relationship Type="http://schemas.openxmlformats.org/officeDocument/2006/relationships/notesSlide" Target="/ppt/notesSlides/notesSlide8.xml" Id="R1f21dd0ba8044d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dabfa65b14741" /><Relationship Type="http://schemas.openxmlformats.org/officeDocument/2006/relationships/notesSlide" Target="/ppt/notesSlides/notesSlide9.xml" Id="Reacacfde3c0341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f44a2b2194a09" /><Relationship Type="http://schemas.openxmlformats.org/officeDocument/2006/relationships/notesSlide" Target="/ppt/notesSlides/notesSlide10.xml" Id="R11204ef224c546e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a41ad31aa4664" /><Relationship Type="http://schemas.openxmlformats.org/officeDocument/2006/relationships/notesSlide" Target="/ppt/notesSlides/notesSlide11.xml" Id="Rccc93192b50e43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ca5951f344227" /><Relationship Type="http://schemas.openxmlformats.org/officeDocument/2006/relationships/notesSlide" Target="/ppt/notesSlides/notesSlide12.xml" Id="Rf89d968d22ad43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599518c0c44ca" /><Relationship Type="http://schemas.openxmlformats.org/officeDocument/2006/relationships/chart" Target="/ppt/slides/charts/chart1.xml" Id="Rb68591f74d664dd3" /><Relationship Type="http://schemas.openxmlformats.org/officeDocument/2006/relationships/notesSlide" Target="/ppt/notesSlides/notesSlide13.xml" Id="R312494329d3347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ede080aef245cc" /><Relationship Type="http://schemas.openxmlformats.org/officeDocument/2006/relationships/chart" Target="/ppt/slides/charts/chart2.xml" Id="R8319cc8d30b74531" /><Relationship Type="http://schemas.openxmlformats.org/officeDocument/2006/relationships/notesSlide" Target="/ppt/notesSlides/notesSlide14.xml" Id="R43a77d2bd6c34b6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7952067e34cf0" /><Relationship Type="http://schemas.openxmlformats.org/officeDocument/2006/relationships/chart" Target="/ppt/slides/charts/chart3.xml" Id="R434525ad53d547d8" /><Relationship Type="http://schemas.openxmlformats.org/officeDocument/2006/relationships/notesSlide" Target="/ppt/notesSlides/notesSlide15.xml" Id="Re69e8929cbe7407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f2e4d5de54fe2" /><Relationship Type="http://schemas.openxmlformats.org/officeDocument/2006/relationships/notesSlide" Target="/ppt/notesSlides/notesSlide16.xml" Id="Rb09d1b91e680438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79338a7794589" /><Relationship Type="http://schemas.openxmlformats.org/officeDocument/2006/relationships/chart" Target="/ppt/slides/charts/chart4.xml" Id="R0f4f2e4dd2244146" /><Relationship Type="http://schemas.openxmlformats.org/officeDocument/2006/relationships/notesSlide" Target="/ppt/notesSlides/notesSlide17.xml" Id="R87140f568d0a4bf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9cd11f84e34133" /><Relationship Type="http://schemas.openxmlformats.org/officeDocument/2006/relationships/notesSlide" Target="/ppt/notesSlides/notesSlide18.xml" Id="R0f2c0c300e64400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b37281f8c4b26" /><Relationship Type="http://schemas.openxmlformats.org/officeDocument/2006/relationships/notesSlide" Target="/ppt/notesSlides/notesSlide19.xml" Id="R8df290466256461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b541435aa47b3" /><Relationship Type="http://schemas.openxmlformats.org/officeDocument/2006/relationships/notesSlide" Target="/ppt/notesSlides/notesSlide20.xml" Id="Rb7a39b6ce86f4e8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bd17641344291" /><Relationship Type="http://schemas.openxmlformats.org/officeDocument/2006/relationships/notesSlide" Target="/ppt/notesSlides/notesSlide21.xml" Id="Rcb7da920a41845c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bb5d4babf4be4" /><Relationship Type="http://schemas.openxmlformats.org/officeDocument/2006/relationships/notesSlide" Target="/ppt/notesSlides/notesSlide22.xml" Id="Reeb66f4949b844c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Attack success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Unrestricted</c:v>
              </c:pt>
              <c:pt idx="1">
                <c:v>Paraphrase
fixed</c:v>
              </c:pt>
              <c:pt idx="2">
                <c:v>Paraphrase
adaptive</c:v>
              </c:pt>
              <c:pt idx="3">
                <c:v>Typed
adaptive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0.25</c:v>
              </c:pt>
              <c:pt idx="2">
                <c:v>1</c:v>
              </c:pt>
              <c:pt idx="3">
                <c:v>0.25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00"/>
                  <a:t>attack success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/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Attack success</c:v>
          </c:tx>
          <c:spPr>
            <a:solidFill xmlns:a="http://schemas.openxmlformats.org/drawingml/2006/main">
              <a:srgbClr val="A63434"/>
            </a:solidFill>
          </c:spPr>
          <c:cat>
            <c:strLit>
              <c:ptCount val="4"/>
              <c:pt idx="0">
                <c:v>No defense</c:v>
              </c:pt>
              <c:pt idx="1">
                <c:v>Local only</c:v>
              </c:pt>
              <c:pt idx="2">
                <c:v>Hard block</c:v>
              </c:pt>
              <c:pt idx="3">
                <c:v>Targeted repair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0</c:v>
              </c:pt>
              <c:pt idx="3">
                <c:v>0</c:v>
              </c:pt>
            </c:numLit>
          </c:val>
        </c:ser>
        <c:ser>
          <c:idx val="1"/>
          <c:order val="1"/>
          <c:tx>
            <c:v>Exact utility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No defense</c:v>
              </c:pt>
              <c:pt idx="1">
                <c:v>Local only</c:v>
              </c:pt>
              <c:pt idx="2">
                <c:v>Hard block</c:v>
              </c:pt>
              <c:pt idx="3">
                <c:v>Targeted repair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0</c:v>
              </c:pt>
              <c:pt idx="3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/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Detected before irreversible harm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Low rate</c:v>
              </c:pt>
              <c:pt idx="1">
                <c:v>Memory poisoning</c:v>
              </c:pt>
              <c:pt idx="2">
                <c:v>Reward induced</c:v>
              </c:pt>
              <c:pt idx="3">
                <c:v>Delayed trigger</c:v>
              </c:pt>
            </c:strLit>
          </c:cat>
          <c:val>
            <c:numLit>
              <c:formatCode>General</c:formatCode>
              <c:ptCount val="4"/>
              <c:pt idx="0">
                <c:v>0.275</c:v>
              </c:pt>
              <c:pt idx="1">
                <c:v>0.75</c:v>
              </c:pt>
              <c:pt idx="2">
                <c:v>0.75</c:v>
              </c:pt>
              <c:pt idx="3">
                <c:v>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Diverse stack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2"/>
              <c:pt idx="0">
                <c:v>Joint singleton bypass</c:v>
              </c:pt>
              <c:pt idx="1">
                <c:v>Realized stack bypass</c:v>
              </c:pt>
            </c:strLit>
          </c:cat>
          <c:val>
            <c:numLit>
              <c:formatCode>General</c:formatCode>
              <c:ptCount val="2"/>
              <c:pt idx="0">
                <c:v>0.03125</c:v>
              </c:pt>
              <c:pt idx="1">
                <c:v>0.05625</c:v>
              </c:pt>
            </c:numLit>
          </c:val>
        </c:ser>
        <c:ser>
          <c:idx val="1"/>
          <c:order val="1"/>
          <c:tx>
            <c:v>Homogeneous ensemble</c:v>
          </c:tx>
          <c:spPr>
            <a:solidFill xmlns:a="http://schemas.openxmlformats.org/drawingml/2006/main">
              <a:srgbClr val="B8BCC4"/>
            </a:solidFill>
          </c:spPr>
          <c:cat>
            <c:strLit>
              <c:ptCount val="2"/>
              <c:pt idx="0">
                <c:v>Joint singleton bypass</c:v>
              </c:pt>
              <c:pt idx="1">
                <c:v>Realized stack bypass</c:v>
              </c:pt>
            </c:strLit>
          </c:cat>
          <c:val>
            <c:numLit>
              <c:formatCode>General</c:formatCode>
              <c:ptCount val="2"/>
              <c:pt idx="0">
                <c:v>0.63125</c:v>
              </c:pt>
              <c:pt idx="1">
                <c:v>0.65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15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/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0F7A3-7436-4E02-AB4F-707AF45D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CB11F-AFF6-4F03-AF0C-53CAADA4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76300"/>
            <a:ext cx="8858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Optimizing defense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strategies against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multi-agent attacks -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beyond the average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7CF6D-5836-450F-A996-9E5E9661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7810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Stress-testing defenses for colluding and covertly coordinating AI agents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BCBD0C-57C1-44D1-BE35-FFC2818F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876300"/>
            <a:ext cx="18097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949E6-9A66-4F1B-A102-0AEA1752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352550"/>
            <a:ext cx="8572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7FDE2-12EE-41B9-8087-00AA0962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Yashila Bordag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Agent Defense Evals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August 2026</a:t>
            </a:r>
          </a:p>
        </p:txBody>
      </p:sp>
    </p:spTree>
    <p:extLst>
      <p:ext uri="{BB962C8B-B14F-4D97-AF65-F5344CB8AC3E}">
        <p14:creationId xmlns:p14="http://schemas.microsoft.com/office/powerpoint/2010/main" val="3165089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Individual safeguards can still compose into system harm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local checks assume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Agents can be evaluated independently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Suspicious messages look suspicious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Failures combine predictably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Average performance is informative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What multi-agent systems add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Harmless-looking steps can compose into harm.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Coordination can move through messages, tools, memory, or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Several defenses can fail on the same trajectory.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Evaluate the whole trajectory: coalition, context, and consequence—not components alone.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F9099C-0853-4127-A943-84671A9A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C64C9AF2-450C-416F-BF2D-736C72B4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 variation creates hard-to-see worst-case cells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828D0-64AE-4CF2-9B1A-8A36EB63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7BDB3-9CE1-48E3-833F-3C84ADFB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Section 3.3 separates attack categories from dimensions of variation. Security failures appear where adverse values combine.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A942C-5803-40BF-99D2-B3060E3D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0E6606-A63A-4A64-BD78-345C6797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2479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obvious signal → distribution-matched</a:t>
            </a:r>
          </a:p>
        </p:txBody>
      </p:sp>
      <p:cxnSp>
        <p:nvCxnSpPr>
          <p:cNvPr id="485" name=""/>
          <p:cNvCxnSpPr/>
          <p:nvPr/>
        </p:nvCxnSpPr>
        <p:spPr>
          <a:xfrm xmlns:a="http://schemas.openxmlformats.org/drawingml/2006/main">
            <a:off x="400050" y="29051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2E17F-FE5B-4B8F-B65C-4187B426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718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8BB6E-6BDE-4FEA-B0BE-610B46DC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1813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agent → coalition or whole graph</a:t>
            </a:r>
          </a:p>
        </p:txBody>
      </p:sp>
      <p:cxnSp>
        <p:nvCxnSpPr>
          <p:cNvPr id="488" name=""/>
          <p:cNvCxnSpPr/>
          <p:nvPr/>
        </p:nvCxnSpPr>
        <p:spPr>
          <a:xfrm xmlns:a="http://schemas.openxmlformats.org/drawingml/2006/main">
            <a:off x="400050" y="38385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2639D-9DFB-4113-B817-996142A39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052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Cascading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86A434-AEE1-429F-82A0-838908E6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1148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contained → propagating compromise</a:t>
            </a:r>
          </a:p>
        </p:txBody>
      </p:sp>
      <p:cxnSp>
        <p:nvCxnSpPr>
          <p:cNvPr id="491" name=""/>
          <p:cNvCxnSpPr/>
          <p:nvPr/>
        </p:nvCxnSpPr>
        <p:spPr>
          <a:xfrm xmlns:a="http://schemas.openxmlformats.org/drawingml/2006/main">
            <a:off x="400050" y="47720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E83C11-4523-404D-9AA5-534569B3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387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Composition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FE275-7992-4688-B0DE-38C0904B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50482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action → harmless-looking multi-step chain</a:t>
            </a:r>
          </a:p>
        </p:txBody>
      </p:sp>
      <p:cxnSp>
        <p:nvCxnSpPr>
          <p:cNvPr id="494" name=""/>
          <p:cNvCxnSpPr/>
          <p:nvPr/>
        </p:nvCxnSpPr>
        <p:spPr>
          <a:xfrm xmlns:a="http://schemas.openxmlformats.org/drawingml/2006/main">
            <a:off x="400050" y="57054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536886-8946-4668-862F-F2C3339D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383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 horizon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A7B2CA-9108-4CFD-A862-542DD510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2479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shot → deployment lifetime</a:t>
            </a:r>
          </a:p>
        </p:txBody>
      </p:sp>
      <p:cxnSp>
        <p:nvCxnSpPr>
          <p:cNvPr id="497" name=""/>
          <p:cNvCxnSpPr/>
          <p:nvPr/>
        </p:nvCxnSpPr>
        <p:spPr>
          <a:xfrm xmlns:a="http://schemas.openxmlformats.org/drawingml/2006/main">
            <a:off x="6210300" y="29051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F9C697-E14C-464E-AF35-66408279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718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Attributability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038FBD-DA15-40EB-8BBB-B6793AF2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1813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traceable actor → degraded lineage</a:t>
            </a:r>
          </a:p>
        </p:txBody>
      </p:sp>
      <p:cxnSp>
        <p:nvCxnSpPr>
          <p:cNvPr id="500" name=""/>
          <p:cNvCxnSpPr/>
          <p:nvPr/>
        </p:nvCxnSpPr>
        <p:spPr>
          <a:xfrm xmlns:a="http://schemas.openxmlformats.org/drawingml/2006/main">
            <a:off x="6210300" y="38385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3C0994-C306-4A4F-B1A3-E67CB963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052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Directness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70AA6-5AD7-408A-9559-FE035A8A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411480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explicit attacker → emergent harm</a:t>
            </a:r>
          </a:p>
        </p:txBody>
      </p:sp>
      <p:cxnSp>
        <p:nvCxnSpPr>
          <p:cNvPr id="503" name=""/>
          <p:cNvCxnSpPr/>
          <p:nvPr/>
        </p:nvCxnSpPr>
        <p:spPr>
          <a:xfrm xmlns:a="http://schemas.openxmlformats.org/drawingml/2006/main">
            <a:off x="6210300" y="477202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2504A-45F0-4DA1-9FBF-26461467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387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Reversibility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7566D9-FFEF-4AC0-8A0C-353EB742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5048250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rollback → irreversible consequence</a:t>
            </a:r>
          </a:p>
        </p:txBody>
      </p:sp>
      <p:cxnSp>
        <p:nvCxnSpPr>
          <p:cNvPr id="506" name=""/>
          <p:cNvCxnSpPr/>
          <p:nvPr/>
        </p:nvCxnSpPr>
        <p:spPr>
          <a:xfrm xmlns:a="http://schemas.openxmlformats.org/drawingml/2006/main">
            <a:off x="6210300" y="5705475"/>
            <a:ext cx="538162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11AFF5-A4DF-4748-9178-36D3F5F4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674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Design implication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01A019-9594-44F2-B29F-330A98A7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067425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Optimize the worst conditional cell—not the pooled average.</a:t>
            </a:r>
          </a:p>
        </p:txBody>
      </p:sp>
    </p:spTree>
    <p:extLst>
      <p:ext uri="{BB962C8B-B14F-4D97-AF65-F5344CB8AC3E}">
        <p14:creationId xmlns:p14="http://schemas.microsoft.com/office/powerpoint/2010/main" val="11810018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 mechanisms defeat different defense surfaces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Covert coordination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Overt or semantic collusion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Steganography and distribution matching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Shared memory, tools, or scratchpads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Delayed or low-rate signaling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Compositional system attacks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Heterogeneous task decomposition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Locally acceptable multi-step workflows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Cascading compromise and irreversible 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The same eight attack dimensions vary every mechanism.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Terminology and relevance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#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APPLICATION</a:t>
            </a:r>
          </a:p>
        </p:txBody>
      </p:sp>
      <p:cxnSp>
        <p:nvCxnSpPr>
          <p:cNvPr id="168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Trajectory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Full sequence of messages, state, tools, and actions from the team.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UNIT OF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SECURITY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 cell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One registered combination of attack, model, topology, channel, and horizon.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DEFINES A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 CASE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Defense stack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Mediators, monitors, checks, and repair or blocking rules deployed together.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TESTS LAYERS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TOGETHER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Tail risk / CVaR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Mean loss among the worst 10% of outcomes within an attack cell.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FOCUSES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SEVERE FAILURES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Failure diversity (Γ)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Degree to which two defenses fail on different matched examples.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TESTS DISTINCT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COVERAGE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Terms 1-5 match the paper; definitions are condensed for slide readability.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Terminology and relevance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#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APPLICATION</a:t>
            </a:r>
          </a:p>
        </p:txBody>
      </p:sp>
      <p:cxnSp>
        <p:nvCxnSpPr>
          <p:cNvPr id="168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Interaction gap (Δint)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Enforced-stack bypass minus the overlap predicted from singleton failures.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MEASURES STACK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INTERACTION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Stack-aware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response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An attacker re-optimized against the exact deployed defense stack.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TESTS AFTER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ADAPTATION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Held-out transfer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Final test on models, attacks, prompts, or topologies not used for selection.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CHECKS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TRANSFER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Before-harm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intervention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Detection or repair before the registered irreversible action.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REQUIRES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TIMELY 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Typed mediation /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provenance-aware repair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Restrict communication fields or repair an unsafe action using its history.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BLOCKS HARMFUL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COMPOSITION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Use the same terms when reading the objective, evidence, and confirmatory gates.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848647-FB61-4778-9EC2-3A58A81D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80917119-A4B0-4A44-B08A-E1672761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Minimize worst-cell tail loss without destroying utility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E2EBA-D36D-49AB-8187-2FDB1001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1168C-9623-4937-A5F9-695B64D7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93257-CBDE-47AB-AF4B-960321F1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π* = arg minπ  maxg UCB[CVaR10%(L | g, BR(π,g))]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07BEC2-BC3B-478F-A276-D0E9C5EF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574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subject to U(π) ≥ u_min and operational constraints; select on validation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3CCCC-5864-40E5-8EAC-3BA32BDB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3476625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3F6CD-9259-4F54-812A-FFB39B48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952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367CB-2A30-4606-B8AC-85ADF02E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Tail risk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A1A58-4A26-45BB-9CDC-3E248A55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30384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Protect the severe 10% within each registered attack cell.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3C398-AF4E-4E84-AF78-E2A7AC6B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33750"/>
            <a:ext cx="3476625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6A2609-3DE1-431B-BF03-DD80BE04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33750"/>
            <a:ext cx="952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60E2F-A6B1-4608-941A-68939804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600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Diversity 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65616-D563-457C-9700-054E969A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57700"/>
            <a:ext cx="30384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Reward layers only when matched bypass sets do not overlap.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349C8-526C-4964-A919-DAC5F0F7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34861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66CD-D7BD-4129-A76E-BBF01D81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33750"/>
            <a:ext cx="952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6B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A5DCE2-6E7A-46D1-AC6D-8960A1A5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Best response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A3C488-3D18-4BBE-BBF0-7AF9005A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304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Re-optimize against every stack under equal budgets.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FC88A-3A68-4EDD-97E8-83662CDB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Prediction: validation failure geometry forecasts held-out realized gain.</a:t>
            </a:r>
          </a:p>
        </p:txBody>
      </p:sp>
    </p:spTree>
    <p:extLst>
      <p:ext uri="{BB962C8B-B14F-4D97-AF65-F5344CB8AC3E}">
        <p14:creationId xmlns:p14="http://schemas.microsoft.com/office/powerpoint/2010/main" val="1263853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novel claim is about non-overlapping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Established tools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CVaR / expected shortfall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Worst-group or distributionally robust selection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Confidence bounds and multiplicity control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Anytime-valid sequential evidence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Utility-constrained optimization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Conjecture to falsify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Defense layers fail on different matched opportunities.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That diversity survives a stack-aware attacker.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Validation Γ predicts held-out gain beyond quality and cost.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A positive result must survive adaptation, enforcement, and a genuinely held-out model.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0C0637-2900-4AC7-8115-15880B65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441AD398-7AE6-4EEA-9B80-FD3B60A0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harness turns the conjecture into five falsifiable tests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8FA7F-9A2D-4011-9DBB-172F8588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cxnSp>
        <p:nvCxnSpPr>
          <p:cNvPr id="94" name=""/>
          <p:cNvCxnSpPr/>
          <p:nvPr/>
        </p:nvCxnSpPr>
        <p:spPr>
          <a:xfrm xmlns:a="http://schemas.openxmlformats.org/drawingml/2006/main">
            <a:off x="809625" y="3286125"/>
            <a:ext cx="10287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46216-E4D4-4D8E-953C-B0941DA7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26A82-3BE2-4191-8AFE-A09B7285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EA8DC-57F5-4EF4-B9E5-702D8025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Matched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6C8E62-D104-4EE6-B680-46BA5CFE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Replay one LLM event through each singleton and the full stack.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8D885-1CB0-4121-AD8B-7357057F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4D015-870C-4988-8E6D-8753A803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BD092-31B0-4340-ACE0-6C045FC9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Frozen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D1D8E-2A5F-4CC1-9FC5-66431A65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Choose among utility-feasible stacks without test access.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0158D-8023-4FED-AEE8-0193D8EF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A2E37-6335-4467-A68F-A5455896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B4469-E9C9-4273-AA7D-6452F5DC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Stack-aware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1C8A96-7D87-4C67-851A-962D3213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Optimize one attacker per stack under equal budgets.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E2F06-061B-4E6C-A459-4B439181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0F6B17-0CBF-4604-96C8-53689B09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68903A-CDCF-4019-91F7-DA192D37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Sealed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transfer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10897-8291-41A0-BF23-7138DD56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Open single-axis and compound cells only after selection freezes.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CAA663-9917-49BF-91CD-1D48A3E9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289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493813-4F51-4713-98FE-5377906B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14675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BB2C60-5262-4233-A12A-F382C862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857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19D626-7430-4C84-BCEA-92269403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381500"/>
            <a:ext cx="1809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Measure intervention before the irreversible action.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1CDE00-70DF-47F6-B12D-E1785963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Common contract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202833-D67E-47B9-94D1-91805780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Immutable assignments • paired seeds • model/runtime revision • consequence loss • utility • latency • trace hash</a:t>
            </a:r>
          </a:p>
        </p:txBody>
      </p:sp>
    </p:spTree>
    <p:extLst>
      <p:ext uri="{BB962C8B-B14F-4D97-AF65-F5344CB8AC3E}">
        <p14:creationId xmlns:p14="http://schemas.microsoft.com/office/powerpoint/2010/main" val="10690950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31C71-3FBE-45E9-B711-EDD3B75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CA9E1DB2-44DE-4718-AAFD-A4928026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actually ran—and what did not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74CF4-81B3-48FE-9AEA-F5440C23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BDED-2BE1-4928-97F6-FC2F2BA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DC0F-8382-4F57-96E5-060EA267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7BA5D-E40A-4135-938D-774336F5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2,400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F936-6003-469C-9E55-F76CBEA7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Controlled trajectories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Deterministic failure simulator; no LLM agents. Registered cells, stacks, and known fixtures.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B8085-898C-4C86-B1FA-6D1D5FF6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ABD1D-F00F-4EC1-9266-2BE52D1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59B87-AB64-4F51-A371-EF4D948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64 + 24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B36BE-585A-435E-AA53-5D01585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Online 7B canaries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Two-agent covert channel (64) and six-role workflow (24), with defenses inside the gateway.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C07C0-0BDD-492D-9A25-0C42D6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86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4F48E-FA4D-4F63-B5C6-E8B2542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B2D4F-964F-42B1-8200-323DE068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900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C9C74-72A0-4552-948E-ACA23CC5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33700"/>
            <a:ext cx="304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Sequential 7B episodes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Two agents, 100 turns, 900 episodes; monitors score trace-derived statistics after generation.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ABC26-1996-4C7A-9D39-7267C56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Not yet run: autonomous stack-specific search or a distinct held-out model family.</a:t>
            </a:r>
          </a:p>
        </p:txBody>
      </p:sp>
    </p:spTree>
    <p:extLst>
      <p:ext uri="{BB962C8B-B14F-4D97-AF65-F5344CB8AC3E}">
        <p14:creationId xmlns:p14="http://schemas.microsoft.com/office/powerpoint/2010/main" val="31458286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Attacks were scaffolded; two defenses ran inline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 induction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Supplied two-bit codebook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Registered planner/reviewer manipulation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Goal-driven low-rate, delayed, memory, and reward objectives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Defense placement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Capacity mediator: before the receiver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Workflow repair/gate: before external action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Phase 5 monitors: offline after generation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This establishes execution and mechanism paths—not autonomous collusion discovery.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5E479-F304-43E0-9DD7-6ECE0BB1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5D1F63C-9327-4B72-9129-86881690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conclusion pairs an effect with uncertainty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7683D-8C23-4AC2-AA5B-ED38921D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DC0CE-0622-4406-9B4F-98CF1B34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5429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CD06E-8FC1-495C-9B93-0E6F7A30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43050"/>
            <a:ext cx="56007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63782-92FE-4FEB-9BA8-546B5955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Effect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64050-A6DA-4B46-82A2-CAB2EC10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Attack success, mutual information, exact utility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Harm, remediation, Γ, realized gain, interaction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• Before-harm intervention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5A0DB-A5FB-4312-BFF3-AD6BAB91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Uncertainty and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D6E4E-7DEC-485C-B4D4-00B4FD5E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Wilson 95% bounds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Worst-decile CVaR + DKW upper bound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Paired Hoeffding lower bound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2,000-bootstrap delay; Spearman diagnostic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5C5AC7-7E09-417E-8BE5-0A3A1455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Canary intervals are wide; E04 uses three synthetic stacks and remains diagnostic only.</a:t>
            </a:r>
          </a:p>
        </p:txBody>
      </p:sp>
    </p:spTree>
    <p:extLst>
      <p:ext uri="{BB962C8B-B14F-4D97-AF65-F5344CB8AC3E}">
        <p14:creationId xmlns:p14="http://schemas.microsoft.com/office/powerpoint/2010/main" val="18160911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82E770-9413-4750-8886-127FE3D8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1462EBED-5E7F-431A-BF19-FD71AA23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Paraphrasing breaks one code; adaptation restores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6FD1D-B3B8-4CF1-B87C-53F33837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00050" y="1571625"/>
          <a:ext xmlns:a="http://schemas.openxmlformats.org/drawingml/2006/main" cx="723900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8591f74d664dd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7ACE5B-E8E8-4FC4-8106-33D26A91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33813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E2CFBA-E705-4925-899C-F147B4A5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955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Utility = 1.00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BE331E-680F-400F-B6A4-3549287B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574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 every condition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CFEFA4-1619-4CA4-9FCB-794628C0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shows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EDD393-25F8-4C82-B43A-66209D7B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67200"/>
            <a:ext cx="3238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Surface filtering reduces a fixed code to chance (0.25), but semantic adaptation restores 1.00. Typed mediation returns it to 0.25.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D110C-6349-4F49-B810-60959413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15050"/>
            <a:ext cx="904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n = 16 episodes / condition • pinned Qwen2.5-7B • registered codebook</a:t>
            </a:r>
          </a:p>
        </p:txBody>
      </p:sp>
    </p:spTree>
    <p:extLst>
      <p:ext uri="{BB962C8B-B14F-4D97-AF65-F5344CB8AC3E}">
        <p14:creationId xmlns:p14="http://schemas.microsoft.com/office/powerpoint/2010/main" val="94317316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FF592-F54F-424F-B66C-2EDC9349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37E69B3F-EBCE-41F9-BF5B-DE90A281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Targeted repair prevents harm without zeroing utility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F52A6-7687-4D8D-8774-DA8B2865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00050" y="1619250"/>
          <a:ext xmlns:a="http://schemas.openxmlformats.org/drawingml/2006/main" cx="7715250" cy="4381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19cc8d30b7453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336DE-6A69-48B7-925A-9FBBFA1D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5262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Registered harmful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E1665-639F-4D8D-AAF6-60BA2956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28098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Local policies accept each step. The provenance-aware repair removes the prohibited flow and keeps the legitimate workflow intact.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65D1C-4521-4C14-8E73-BFA9EA6A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24375"/>
            <a:ext cx="28098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E992A-B0CB-45BF-83A8-810CA4BE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76250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 = 4 / condition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F781DF-D651-4B12-9D04-D8E70247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219700"/>
            <a:ext cx="2333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feasibility—not confirmation</a:t>
            </a:r>
          </a:p>
        </p:txBody>
      </p:sp>
    </p:spTree>
    <p:extLst>
      <p:ext uri="{BB962C8B-B14F-4D97-AF65-F5344CB8AC3E}">
        <p14:creationId xmlns:p14="http://schemas.microsoft.com/office/powerpoint/2010/main" val="50511396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F19709-49B3-47B4-A352-F9AE71F7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A9FD2FB8-3B79-426E-89BC-EA226EF8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Low-rate attacks are the clearest monitoring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EA8DB-6990-475F-93D5-F0B76B8E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00050" y="1666875"/>
          <a:ext xmlns:a="http://schemas.openxmlformats.org/drawingml/2006/main" cx="723900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4525ad53d547d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C860C-840B-426E-A2CD-BA5BCAD1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3813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AFD91F-0C48-4C0B-8A49-221BD8F2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952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8B0137-B802-46B0-AC98-5F55509B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76450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0.0458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16A40-E1BB-495B-97BA-208EF766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33700"/>
            <a:ext cx="2943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Benign lifetime-alarm 95% upper bound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 / 80 alarms in each benign test stratum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6E82A-EAE2-42DB-A313-26A96688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338137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48122-591F-442F-A6E9-A17FACD1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05250"/>
            <a:ext cx="952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6B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F2722-13A5-495B-BC3C-29CD6B01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No winner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B92C4-F32E-43FE-B2ED-5AE31378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29200"/>
            <a:ext cx="2943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All three monitors produced the same rates; the e-process was often slower.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7DCF22-AAD9-4EA9-B3D5-FFECAD97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150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Frozen test: 560 episodes • 80 / condition • Qwen2.5-7B</a:t>
            </a:r>
          </a:p>
        </p:txBody>
      </p:sp>
    </p:spTree>
    <p:extLst>
      <p:ext uri="{BB962C8B-B14F-4D97-AF65-F5344CB8AC3E}">
        <p14:creationId xmlns:p14="http://schemas.microsoft.com/office/powerpoint/2010/main" val="18178784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Mechanisms pass; selector advantage is untested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PRIMARY CONTROLLED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GATE</a:t>
            </a:r>
          </a:p>
        </p:txBody>
      </p:sp>
      <p:cxnSp>
        <p:nvCxnSpPr>
          <p:cNvPr id="168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Selector comparison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0.00 improvement; all choose diverse-stack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NO CONTRAST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Failure complementarity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Γ 0.406; realized gain 0.381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PASS*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Adaptive persistence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0.93 vs 1.00 worst-cell CVaR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PASS*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Held-out transfer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Spearman 0.866; compound gate blocked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FAIL*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Before-harm validity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harm 0.725 → 0.025; before-harm 0.95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PASS*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* controlled synthetic gate only; not evidence about stochastic LLM-agent robustness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A0A9-E813-4212-8612-E23A499D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E76E2DDF-B28C-40EF-842D-A6C91F87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Diversity helps only when failures do not overlap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80C0F-A953-4D68-B714-B8137207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00050" y="1666875"/>
          <a:ext xmlns:a="http://schemas.openxmlformats.org/drawingml/2006/main" cx="723900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4f2e4dd2244146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29F59-0E22-433A-82D2-2CD880D5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33813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35228-F393-46AE-9F1C-2552218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95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A7EC5-37BB-4B44-BE2F-0C564B52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28825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Γ = 0.406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DC261C-4FC5-41C7-BCC5-059C161E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86075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Diverse fixed-panel complementarity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4F32C-4E8C-468A-9023-86A4747A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338137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3FF3C3-4D21-4894-B61F-8846D39B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952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6B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9068B-4B52-49DD-A8F3-E3FBE8FA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29075"/>
            <a:ext cx="29432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+0.025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3F4778-EDC6-4525-BF41-F6730A8C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886325"/>
            <a:ext cx="2943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Interaction gap: the enforced stack is slightly worse than the singleton intersection.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A5C233-A6BB-4D6C-B0E4-70A01693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43625"/>
            <a:ext cx="1000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The enforced stack changes trajectories; complementarity alone is not deployment proof.</a:t>
            </a:r>
          </a:p>
        </p:txBody>
      </p:sp>
    </p:spTree>
    <p:extLst>
      <p:ext uri="{BB962C8B-B14F-4D97-AF65-F5344CB8AC3E}">
        <p14:creationId xmlns:p14="http://schemas.microsoft.com/office/powerpoint/2010/main" val="163780576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C5280-E623-4768-BA09-30C58691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9B1ABED8-B38E-4E2D-A4EC-3EC41DC9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Negative results narrow the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B43DF-7AC0-44E3-B9F2-CF827533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7E9D7-FA12-4CDD-83F7-E2796065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334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A7752-38A5-4D29-B4A6-1335EE60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E01: selector superiority not tested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18815-8681-40B7-B768-AB4D2242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14625"/>
            <a:ext cx="4476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Every registered selector chose the same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Result: the fixture validates the pipeline, but cannot compare selectors.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AE714-B01B-4B4B-B41D-BBACD288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19250"/>
            <a:ext cx="56959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6C045-3769-418E-AE28-02248CE7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002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A63434"/>
                </a:solidFill>
                <a:latin typeface="Helvetica Neue"/>
                <a:ea typeface="Helvetica Neue"/>
                <a:cs typeface="Helvetica Neue"/>
              </a:rPr>
              <a:t>E04: transfer not established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1C3F4F-A652-4CC1-834E-FA7F68D3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146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Validation Γ correlates with synthetic held-out robustness, but only across three stacks and without an E01 advantage.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Result: E04 remains false.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8566D-3DBD-40AF-A3DC-4AED565C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harness rejects favorable secondary metrics when the primary gate fails.</a:t>
            </a:r>
          </a:p>
        </p:txBody>
      </p:sp>
    </p:spTree>
    <p:extLst>
      <p:ext uri="{BB962C8B-B14F-4D97-AF65-F5344CB8AC3E}">
        <p14:creationId xmlns:p14="http://schemas.microsoft.com/office/powerpoint/2010/main" val="97602724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31C71-3FBE-45E9-B711-EDD3B75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CA9E1DB2-44DE-4718-AAFD-A4928026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evidence establishes—and what remains open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74CF4-81B3-48FE-9AEA-F5440C23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BDED-2BE1-4928-97F6-FC2F2BA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DC0F-8382-4F57-96E5-060EA267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7BA5D-E40A-4135-938D-774336F5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Established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F936-6003-469C-9E55-F76CBEA7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Mechanism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Typed mediation and targeted repair work on pinned Qwen2.5-7B canaries.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B8085-898C-4C86-B1FA-6D1D5FF6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ABD1D-F00F-4EC1-9266-2BE52D1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59B87-AB64-4F51-A371-EF4D948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Measured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B36BE-585A-435E-AA53-5D01585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Bounded results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Controlled Γ = 0.406; low-rate before-harm detection = 0.275.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C07C0-0BDD-492D-9A25-0C42D6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86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4F48E-FA4D-4F63-B5C6-E8B2542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B2D4F-964F-42B1-8200-323DE068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Open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C9C74-72A0-4552-948E-ACA23CC5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33700"/>
            <a:ext cx="304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Decisive tests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Autonomous best response, selector advantage, and cross-model transfer.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ABC26-1996-4C7A-9D39-7267C56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Conclusion: strong mechanism evidence; incomplete robustness evidence.</a:t>
            </a:r>
          </a:p>
        </p:txBody>
      </p:sp>
    </p:spTree>
    <p:extLst>
      <p:ext uri="{BB962C8B-B14F-4D97-AF65-F5344CB8AC3E}">
        <p14:creationId xmlns:p14="http://schemas.microsoft.com/office/powerpoint/2010/main" val="31458286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3D1B11-64E7-48EA-86C6-3DA4ACC7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5359DFED-FFA9-4922-82E9-17E96594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Three experiments now decide the conjecture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6D728-C950-41A3-A178-827AD770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918F06-D9CE-493E-9479-8F130A10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3381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B0F6C-0882-4DCC-A200-A94539C1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66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29D0F4-52DE-44AD-A4CB-4460DC31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2809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Model-backed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complementarity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62AD8D-EC5F-43A7-AB6F-655A82A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2809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Shadow-fork matched LLM events through singleton and stacked defenses.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6D313-1F48-43F0-9D61-E73D7E99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762125"/>
            <a:ext cx="3381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2F8DC-99C4-4BDC-BED5-57714049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47875"/>
            <a:ext cx="66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F70D54-33E3-4A40-8C03-DD9B30F0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05125"/>
            <a:ext cx="2809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Stack-aware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E9369-2DCD-41E3-8370-8E02EFD6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857625"/>
            <a:ext cx="2809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Optimize one attacker per finalist under equal query, token, tool, and rollout budgets.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8467C-53F3-4C5F-8A2C-CA0379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62125"/>
            <a:ext cx="3381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BDC29-977A-4C0E-A37E-208BB803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47875"/>
            <a:ext cx="66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71EFEB-6E3B-4058-9249-6176A880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05125"/>
            <a:ext cx="2809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Held-out transfer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4228B1-7D84-4286-911F-2F6BD03B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57625"/>
            <a:ext cx="2809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Qualify a distinct 7–9B model, then open single-axis and compound cells once.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1780EC-79B2-44E4-B91B-49D35198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7212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Decision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76134C-4239-4D6A-B72F-EB9E8536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5245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Claim optimization only if the advantage survives all three.</a:t>
            </a:r>
          </a:p>
        </p:txBody>
      </p:sp>
    </p:spTree>
    <p:extLst>
      <p:ext uri="{BB962C8B-B14F-4D97-AF65-F5344CB8AC3E}">
        <p14:creationId xmlns:p14="http://schemas.microsoft.com/office/powerpoint/2010/main" val="164173298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10ECD3-08AE-4304-97E2-ABA54357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E07834F3-1512-4A27-BD49-56266779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insights change multi-agent defense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D766C-49B7-429F-A581-E931604A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92410-FACB-4AF5-9012-FFC9E4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619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#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90FD0-06E6-4DB6-947B-F1EEFE29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5811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INSIGHT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CB01F-1972-446C-8808-A0CCD550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81150"/>
            <a:ext cx="519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WHAT THE EVIDENCE SHOWS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CECBB-4FF3-44E9-8319-A035E4FA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581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DESIGN MOVE</a:t>
            </a:r>
          </a:p>
        </p:txBody>
      </p:sp>
      <p:cxnSp>
        <p:nvCxnSpPr>
          <p:cNvPr id="168" name=""/>
          <p:cNvCxnSpPr/>
          <p:nvPr/>
        </p:nvCxnSpPr>
        <p:spPr>
          <a:xfrm xmlns:a="http://schemas.openxmlformats.org/drawingml/2006/main">
            <a:off x="400050" y="194310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959C0-5CF5-46FF-95A8-B49BF945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9A9D8-6F11-42C5-AD56-63A26CC9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14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B5759-755D-4F48-BBF0-3A52CF17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is compositional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9F39D-BB0F-448D-96CD-FD5FC5AA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Local-only checks permitted a harmful six-role workflow.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2D3CA-72DC-4411-B627-E259685A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145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TRACE TRAJECTORY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4DCAE7-2AC5-43FD-9062-C791D0DA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BFCDC-D759-4FFC-9FEB-4AB3624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Representation adapts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5ED0-6BDF-47C0-9E8D-987BCF8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Semantic adaptation restored 1.00; typed mediation returned success to 0.25.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8898E-93BD-4886-B06B-F44EBF9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956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TYPE INTERFACES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B62F4-6391-4903-B77B-3A5567FD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814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D7E86-C26C-47DD-A2AA-EF16EC3C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766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18B89-FD32-46E0-A25F-AE94A79B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Repair preserves utility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ACDF-0EC6-4D5A-B56E-63A48719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Targeted repair blocked harm while exact utility stayed 1.00.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30313-2CE2-473A-9B89-6BC5E344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6766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REPAIR FIRST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AC6C0A-9318-433B-A5B1-2C307173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5770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368E0-86F3-4901-8045-FCDE2A17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Before-harm timing matters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29E85-6090-472A-A25B-7CF90505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5770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Low-rate before-harm detection was 0.275 despite low benign alarms.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8026B-58A4-4CF5-BAB9-13258B19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45770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OPTIMIZE DELAY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FFC104-DD28-430E-BA94-0DE112C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1139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19946-B7D7-481F-8941-85C5E874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DA00D5-624E-431F-A2CE-12E0FE62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Diversity needs proof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DA2D1B-3415-4F0D-9600-FD2A83FA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387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Γ=0.406, but interaction was +0.025; transfer remains open.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B52420-C4CE-4477-A5F5-EEA2EFAC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238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MATCH FAILURES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38F686-D7F8-44E0-990B-6C52ECCE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Core lesson: optimize trajectories and common-mode failures—not average scores or layer count alone.</a:t>
            </a:r>
          </a:p>
        </p:txBody>
      </p:sp>
    </p:spTree>
    <p:extLst>
      <p:ext uri="{BB962C8B-B14F-4D97-AF65-F5344CB8AC3E}">
        <p14:creationId xmlns:p14="http://schemas.microsoft.com/office/powerpoint/2010/main" val="186869125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31C71-3FBE-45E9-B711-EDD3B75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MULTI-AGENT DEFENSE EVALUATION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CA9E1DB2-44DE-4718-AAFD-A4928026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Fairlead operationalizes future multi-agent evaluations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74CF4-81B3-48FE-9AEA-F5440C23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BDED-2BE1-4928-97F6-FC2F2BA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DC0F-8382-4F57-96E5-060EA267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6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7BA5D-E40A-4135-938D-774336F5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Inference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F936-6003-469C-9E55-F76CBEA7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Current Rust gateway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Routes OpenAI-compatible requests to vLLM with health-aware fallback, model and pool eligibility, and resource-aware admission.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DB8085-898C-4C86-B1FA-6D1D5FF6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347662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ABD1D-F00F-4EC1-9266-2BE52D1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59B87-AB64-4F51-A371-EF4D948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76450"/>
            <a:ext cx="30384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Scheduling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B36BE-585A-435E-AA53-5D01585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33700"/>
            <a:ext cx="30384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evaluation_shard extension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Adds worker pools, claims, leases, renewals, retries, restart recovery, idempotency, callbacks, and operational metrics.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C07C0-0BDD-492D-9A25-0C42D6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3486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4F48E-FA4D-4F63-B5C6-E8B2542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95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7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B2D4F-964F-42B1-8200-323DE068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0704A"/>
                </a:solidFill>
                <a:latin typeface="Helvetica Neue"/>
                <a:ea typeface="Helvetica Neue"/>
                <a:cs typeface="Helvetica Neue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C9C74-72A0-4552-948E-ACA23CC5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33700"/>
            <a:ext cx="304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Next multi-agent tests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D636D"/>
                </a:solidFill>
                <a:latin typeface="Helvetica Neue"/>
                <a:ea typeface="Helvetica Neue"/>
                <a:cs typeface="Helvetica Neue"/>
              </a:rPr>
              <a:t>Shard held-out models and attack cells, preserve routing provenance, verify artifacts, and resume overnight campaigns.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ABC26-1996-4C7A-9D39-7267C56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86B20"/>
                </a:solidFill>
                <a:latin typeface="Helvetica Neue"/>
                <a:ea typeface="Helvetica Neue"/>
                <a:cs typeface="Helvetica Neue"/>
              </a:rPr>
              <a:t>Fairlead owns compute control; Agent Defense Evals owns prompts, traces, scores, and statistical validity.</a:t>
            </a:r>
          </a:p>
        </p:txBody>
      </p:sp>
    </p:spTree>
    <p:extLst>
      <p:ext uri="{BB962C8B-B14F-4D97-AF65-F5344CB8AC3E}">
        <p14:creationId xmlns:p14="http://schemas.microsoft.com/office/powerpoint/2010/main" val="3145828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2026-08-21T10:05:24.6030000Z</dcterms:created>
  <dcterms:modified xsi:type="dcterms:W3CDTF">2026-08-21T10:05:24.6030000Z</dcterms:modified>
</coreProperties>
</file>