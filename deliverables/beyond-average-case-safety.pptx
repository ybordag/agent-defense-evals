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2.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3.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4.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8ee34f1d42c4cab" /><Relationship Type="http://schemas.openxmlformats.org/officeDocument/2006/relationships/extended-properties" Target="/docProps/app.xml" Id="R128be8b927d54c75" /><Relationship Type="http://schemas.openxmlformats.org/officeDocument/2006/relationships/officeDocument" Target="/ppt/presentation.xml" Id="Rcc392b6755114402" /></Relationships>
</file>

<file path=ppt/presentation.xml><?xml version="1.0" encoding="utf-8"?>
<p:presentation xmlns:p="http://schemas.openxmlformats.org/presentationml/2006/main">
  <p:sldMasterIdLst>
    <p:sldMasterId xmlns:r="http://schemas.openxmlformats.org/officeDocument/2006/relationships" id="2147483648" r:id="Reac7fa20bf1d4bb3"/>
  </p:sldMasterIdLst>
  <p:notesMasterIdLst>
    <p:notesMasterId xmlns:r="http://schemas.openxmlformats.org/officeDocument/2006/relationships" r:id="Ra52b349bd3474dc1"/>
  </p:notesMasterIdLst>
  <p:sldIdLst>
    <p:sldId xmlns:r="http://schemas.openxmlformats.org/officeDocument/2006/relationships" id="256" r:id="R7979765a95cf45a1"/>
    <p:sldId xmlns:r="http://schemas.openxmlformats.org/officeDocument/2006/relationships" id="257" r:id="R3153485ad39f462b"/>
    <p:sldId xmlns:r="http://schemas.openxmlformats.org/officeDocument/2006/relationships" id="258" r:id="R3e5f46dff64b4224"/>
    <p:sldId xmlns:r="http://schemas.openxmlformats.org/officeDocument/2006/relationships" id="259" r:id="R52adcc8f4c194338"/>
    <p:sldId xmlns:r="http://schemas.openxmlformats.org/officeDocument/2006/relationships" id="260" r:id="R2f3d3bb271b04ca0"/>
    <p:sldId xmlns:r="http://schemas.openxmlformats.org/officeDocument/2006/relationships" id="261" r:id="R440cefe11d2a453c"/>
    <p:sldId xmlns:r="http://schemas.openxmlformats.org/officeDocument/2006/relationships" id="262" r:id="R8aa1ee146bb44dc9"/>
    <p:sldId xmlns:r="http://schemas.openxmlformats.org/officeDocument/2006/relationships" id="263" r:id="Rb6f06206977b4239"/>
    <p:sldId xmlns:r="http://schemas.openxmlformats.org/officeDocument/2006/relationships" id="264" r:id="R82862a95ec3744ae"/>
    <p:sldId xmlns:r="http://schemas.openxmlformats.org/officeDocument/2006/relationships" id="265" r:id="R95c723ef244248c9"/>
    <p:sldId xmlns:r="http://schemas.openxmlformats.org/officeDocument/2006/relationships" id="266" r:id="R0b96c4a553d54b26"/>
    <p:sldId xmlns:r="http://schemas.openxmlformats.org/officeDocument/2006/relationships" id="267" r:id="R2054799ba1434cc4"/>
    <p:sldId xmlns:r="http://schemas.openxmlformats.org/officeDocument/2006/relationships" id="268" r:id="R187d584026e14846"/>
    <p:sldId xmlns:r="http://schemas.openxmlformats.org/officeDocument/2006/relationships" id="269" r:id="R2a78caf1e80947c7"/>
    <p:sldId xmlns:r="http://schemas.openxmlformats.org/officeDocument/2006/relationships" id="270" r:id="R8256a5db26c04419"/>
    <p:sldId xmlns:r="http://schemas.openxmlformats.org/officeDocument/2006/relationships" id="271" r:id="R3160fa873b904724"/>
    <p:sldId xmlns:r="http://schemas.openxmlformats.org/officeDocument/2006/relationships" id="272" r:id="R23bab5bfa7504044"/>
    <p:sldId xmlns:r="http://schemas.openxmlformats.org/officeDocument/2006/relationships" id="273" r:id="Ra6cba447601f4ca3"/>
    <p:sldId xmlns:r="http://schemas.openxmlformats.org/officeDocument/2006/relationships" id="274" r:id="Rf5bc3be42dd34288"/>
    <p:sldId xmlns:r="http://schemas.openxmlformats.org/officeDocument/2006/relationships" id="275" r:id="R26e4feb3dbb744e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8ceb5e4a1b445a" /><Relationship Type="http://schemas.openxmlformats.org/officeDocument/2006/relationships/slideMaster" Target="/ppt/slideMasters/slideMaster1.xml" Id="Reac7fa20bf1d4bb3" /><Relationship Type="http://schemas.openxmlformats.org/officeDocument/2006/relationships/notesMaster" Target="/ppt/notesMasters/notesMaster1.xml" Id="Ra52b349bd3474dc1" /><Relationship Type="http://schemas.openxmlformats.org/officeDocument/2006/relationships/presProps" Target="/ppt/presProps.xml" Id="Reee2aace61664194" /><Relationship Type="http://schemas.openxmlformats.org/officeDocument/2006/relationships/tableStyles" Target="/ppt/tableStyles.xml" Id="R82751e6e78d04ba5" /><Relationship Type="http://schemas.openxmlformats.org/officeDocument/2006/relationships/slide" Target="/ppt/slides/slide1.xml" Id="R7979765a95cf45a1" /><Relationship Type="http://schemas.openxmlformats.org/officeDocument/2006/relationships/slide" Target="/ppt/slides/slide2.xml" Id="R3153485ad39f462b" /><Relationship Type="http://schemas.openxmlformats.org/officeDocument/2006/relationships/slide" Target="/ppt/slides/slide3.xml" Id="R3e5f46dff64b4224" /><Relationship Type="http://schemas.openxmlformats.org/officeDocument/2006/relationships/slide" Target="/ppt/slides/slide4.xml" Id="R52adcc8f4c194338" /><Relationship Type="http://schemas.openxmlformats.org/officeDocument/2006/relationships/slide" Target="/ppt/slides/slide5.xml" Id="R2f3d3bb271b04ca0" /><Relationship Type="http://schemas.openxmlformats.org/officeDocument/2006/relationships/slide" Target="/ppt/slides/slide6.xml" Id="R440cefe11d2a453c" /><Relationship Type="http://schemas.openxmlformats.org/officeDocument/2006/relationships/slide" Target="/ppt/slides/slide7.xml" Id="R8aa1ee146bb44dc9" /><Relationship Type="http://schemas.openxmlformats.org/officeDocument/2006/relationships/slide" Target="/ppt/slides/slide8.xml" Id="Rb6f06206977b4239" /><Relationship Type="http://schemas.openxmlformats.org/officeDocument/2006/relationships/slide" Target="/ppt/slides/slide9.xml" Id="R82862a95ec3744ae" /><Relationship Type="http://schemas.openxmlformats.org/officeDocument/2006/relationships/slide" Target="/ppt/slides/slide10.xml" Id="R95c723ef244248c9" /><Relationship Type="http://schemas.openxmlformats.org/officeDocument/2006/relationships/slide" Target="/ppt/slides/slide11.xml" Id="R0b96c4a553d54b26" /><Relationship Type="http://schemas.openxmlformats.org/officeDocument/2006/relationships/slide" Target="/ppt/slides/slide12.xml" Id="R2054799ba1434cc4" /><Relationship Type="http://schemas.openxmlformats.org/officeDocument/2006/relationships/slide" Target="/ppt/slides/slide13.xml" Id="R187d584026e14846" /><Relationship Type="http://schemas.openxmlformats.org/officeDocument/2006/relationships/slide" Target="/ppt/slides/slide14.xml" Id="R2a78caf1e80947c7" /><Relationship Type="http://schemas.openxmlformats.org/officeDocument/2006/relationships/slide" Target="/ppt/slides/slide15.xml" Id="R8256a5db26c04419" /><Relationship Type="http://schemas.openxmlformats.org/officeDocument/2006/relationships/slide" Target="/ppt/slides/slide16.xml" Id="R3160fa873b904724" /><Relationship Type="http://schemas.openxmlformats.org/officeDocument/2006/relationships/slide" Target="/ppt/slides/slide17.xml" Id="R23bab5bfa7504044" /><Relationship Type="http://schemas.openxmlformats.org/officeDocument/2006/relationships/slide" Target="/ppt/slides/slide18.xml" Id="Ra6cba447601f4ca3" /><Relationship Type="http://schemas.openxmlformats.org/officeDocument/2006/relationships/slide" Target="/ppt/slides/slide19.xml" Id="Rf5bc3be42dd34288" /><Relationship Type="http://schemas.openxmlformats.org/officeDocument/2006/relationships/slide" Target="/ppt/slides/slide20.xml" Id="R26e4feb3dbb744e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69a20239abb4ab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8b7a8b381aa421b" /><Relationship Type="http://schemas.openxmlformats.org/officeDocument/2006/relationships/notesMaster" Target="/ppt/notesMasters/notesMaster1.xml" Id="R4a21f8c075d643f7"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02bf7867424df5" /><Relationship Type="http://schemas.openxmlformats.org/officeDocument/2006/relationships/notesMaster" Target="/ppt/notesMasters/notesMaster1.xml" Id="R874329e17791497c" /></Relationships>
</file>

<file path=ppt/notesSlides/_rels/notesSlide3.xml.rels>&#65279;<?xml version="1.0" encoding="utf-8"?><Relationships xmlns="http://schemas.openxmlformats.org/package/2006/relationships"><Relationship Type="http://schemas.openxmlformats.org/officeDocument/2006/relationships/slide" Target="/ppt/slides/slide3.xml" Id="Rc842eb99b4264596" /><Relationship Type="http://schemas.openxmlformats.org/officeDocument/2006/relationships/notesMaster" Target="/ppt/notesMasters/notesMaster1.xml" Id="R6a7ee26b013245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3a67690947a74c9d" /><Relationship Type="http://schemas.openxmlformats.org/officeDocument/2006/relationships/notesMaster" Target="/ppt/notesMasters/notesMaster1.xml" Id="R3772e35844c9480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f3bce3bdcf743c9" /><Relationship Type="http://schemas.openxmlformats.org/officeDocument/2006/relationships/notesMaster" Target="/ppt/notesMasters/notesMaster1.xml" Id="R82d96044a8844ff7"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b53e180d704298" /><Relationship Type="http://schemas.openxmlformats.org/officeDocument/2006/relationships/notesMaster" Target="/ppt/notesMasters/notesMaster1.xml" Id="R9edbc3898df6492f" /></Relationships>
</file>

<file path=ppt/notesSlides/_rels/notesSlide7.xml.rels>&#65279;<?xml version="1.0" encoding="utf-8"?><Relationships xmlns="http://schemas.openxmlformats.org/package/2006/relationships"><Relationship Type="http://schemas.openxmlformats.org/officeDocument/2006/relationships/slide" Target="/ppt/slides/slide7.xml" Id="R800bb898117649f7" /><Relationship Type="http://schemas.openxmlformats.org/officeDocument/2006/relationships/notesMaster" Target="/ppt/notesMasters/notesMaster1.xml" Id="Rc57c2de682194f26" /></Relationships>
</file>

<file path=ppt/notesSlides/_rels/notesSlide8.xml.rels>&#65279;<?xml version="1.0" encoding="utf-8"?><Relationships xmlns="http://schemas.openxmlformats.org/package/2006/relationships"><Relationship Type="http://schemas.openxmlformats.org/officeDocument/2006/relationships/slide" Target="/ppt/slides/slide8.xml" Id="Rd3e084859cdd4711" /><Relationship Type="http://schemas.openxmlformats.org/officeDocument/2006/relationships/notesMaster" Target="/ppt/notesMasters/notesMaster1.xml" Id="R10a504dbc419437c" /></Relationships>
</file>

<file path=ppt/notesSlides/_rels/notesSlide9.xml.rels>&#65279;<?xml version="1.0" encoding="utf-8"?><Relationships xmlns="http://schemas.openxmlformats.org/package/2006/relationships"><Relationship Type="http://schemas.openxmlformats.org/officeDocument/2006/relationships/slide" Target="/ppt/slides/slide9.xml" Id="R47e9ce65c7db4613" /><Relationship Type="http://schemas.openxmlformats.org/officeDocument/2006/relationships/notesMaster" Target="/ppt/notesMasters/notesMaster1.xml" Id="Rae00c32337594fc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dfc7b260c1645ec" /><Relationship Type="http://schemas.openxmlformats.org/officeDocument/2006/relationships/notesMaster" Target="/ppt/notesMasters/notesMaster1.xml" Id="R03aa3acb57424d9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d07d80d25a44e81" /><Relationship Type="http://schemas.openxmlformats.org/officeDocument/2006/relationships/notesMaster" Target="/ppt/notesMasters/notesMaster1.xml" Id="R356b35e862d9412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eb86c8d89e449c3" /><Relationship Type="http://schemas.openxmlformats.org/officeDocument/2006/relationships/notesMaster" Target="/ppt/notesMasters/notesMaster1.xml" Id="R9bde1868032e46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874bcfdd30b419d" /><Relationship Type="http://schemas.openxmlformats.org/officeDocument/2006/relationships/notesMaster" Target="/ppt/notesMasters/notesMaster1.xml" Id="R22fff5d3321243d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487b96ab994bc4" /><Relationship Type="http://schemas.openxmlformats.org/officeDocument/2006/relationships/notesMaster" Target="/ppt/notesMasters/notesMaster1.xml" Id="Ra807a1b5766c494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613a95caec44be9" /><Relationship Type="http://schemas.openxmlformats.org/officeDocument/2006/relationships/notesMaster" Target="/ppt/notesMasters/notesMaster1.xml" Id="R377cd01b11b34a9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1a14d725aa5442b" /><Relationship Type="http://schemas.openxmlformats.org/officeDocument/2006/relationships/notesMaster" Target="/ppt/notesMasters/notesMaster1.xml" Id="R1fdd7394cc2e45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ef7e8d1b2f94329" /><Relationship Type="http://schemas.openxmlformats.org/officeDocument/2006/relationships/notesMaster" Target="/ppt/notesMasters/notesMaster1.xml" Id="R50a5776d81f74ef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5dc36508351443a" /><Relationship Type="http://schemas.openxmlformats.org/officeDocument/2006/relationships/notesMaster" Target="/ppt/notesMasters/notesMaster1.xml" Id="R11336442c4384ed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1e1876dad12476a" /><Relationship Type="http://schemas.openxmlformats.org/officeDocument/2006/relationships/notesMaster" Target="/ppt/notesMasters/notesMaster1.xml" Id="R05f3c288c8054be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87e6fd2095f4871" /><Relationship Type="http://schemas.openxmlformats.org/officeDocument/2006/relationships/notesMaster" Target="/ppt/notesMasters/notesMaster1.xml" Id="R4eca808114d541a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Opening</a:t>
            </a:r>
          </a:p>
          <a:p xmlns:a="http://schemas.openxmlformats.org/drawingml/2006/main">
            <a:r>
              <a:t/>
            </a:r>
          </a:p>
          <a:p xmlns:a="http://schemas.openxmlformats.org/drawingml/2006/main">
            <a:r>
              <a:t>The problem is not whether one filter catches one attack. It is whether a layered defense keeps working across collusion, covert channels, composition, and long horizons without destroying utility.</a:t>
            </a:r>
          </a:p>
          <a:p xmlns:a="http://schemas.openxmlformats.org/drawingml/2006/main">
            <a:r>
              <a:t/>
            </a:r>
          </a:p>
          <a:p xmlns:a="http://schemas.openxmlformats.org/drawingml/2006/main">
            <a:r>
              <a:t>The title "Beyond average-case safety" states the key shift: a defense can look strong on average and still fail catastrophically in one conditional cell.</a:t>
            </a:r>
          </a:p>
          <a:p xmlns:a="http://schemas.openxmlformats.org/drawingml/2006/main">
            <a:r>
              <a:t/>
            </a:r>
          </a:p>
          <a:p xmlns:a="http://schemas.openxmlformats.org/drawingml/2006/main">
            <a:r>
              <a:t>I will separate the conjecture from the evidence. Some results are model-backed canaries, some are controlled fixtures, and several decisive tests remain open.</a:t>
            </a:r>
          </a:p>
          <a:p xmlns:a="http://schemas.openxmlformats.org/drawingml/2006/main">
            <a:r>
              <a:t/>
            </a:r>
          </a:p>
          <a:p xmlns:a="http://schemas.openxmlformats.org/drawingml/2006/main">
            <a:r>
              <a:t>[Sources]</a:t>
            </a:r>
          </a:p>
          <a:p xmlns:a="http://schemas.openxmlformats.org/drawingml/2006/main">
            <a:r>
              <a:t>- https://arxiv.org/abs/2505.02077</a:t>
            </a:r>
          </a:p>
          <a:p xmlns:a="http://schemas.openxmlformats.org/drawingml/2006/main">
            <a:r>
              <a:t>- artifacts/reviewer-evidence-20260821/README.md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Local checks remain necessary, but the security unit is the trajectory. Individually acceptable steps can compose into a prohibited outcome, and several defenses can share one blind spot.</a:t>
            </a:r>
          </a:p>
          <a:p xmlns:a="http://schemas.openxmlformats.org/drawingml/2006/main">
            <a:r>
              <a:t/>
            </a:r>
          </a:p>
          <a:p xmlns:a="http://schemas.openxmlformats.org/drawingml/2006/main">
            <a:r>
              <a:t>The practical implication is that evaluation must bind coalition, context, and consequence. Per-message accuracy is not enough.</a:t>
            </a:r>
          </a:p>
          <a:p xmlns:a="http://schemas.openxmlformats.org/drawingml/2006/main">
            <a:r>
              <a:t/>
            </a:r>
          </a:p>
          <a:p xmlns:a="http://schemas.openxmlformats.org/drawingml/2006/main">
            <a:r>
              <a:t>[Sources]</a:t>
            </a:r>
          </a:p>
          <a:p xmlns:a="http://schemas.openxmlformats.org/drawingml/2006/main">
            <a:r>
              <a:t>- https://arxiv.org/abs/2505.02077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Section 3.3 provides dimensions of attack variation. Hard cases combine adverse values: low detectability, coalition-level locality, long horizons, weak attribution, and irreversible outcomes.</a:t>
            </a:r>
          </a:p>
          <a:p xmlns:a="http://schemas.openxmlformats.org/drawingml/2006/main">
            <a:r>
              <a:t/>
            </a:r>
          </a:p>
          <a:p xmlns:a="http://schemas.openxmlformats.org/drawingml/2006/main">
            <a:r>
              <a:t>This motivates conditional tail evaluation. We do not average a catastrophic cell together with many easy cells.</a:t>
            </a:r>
          </a:p>
          <a:p xmlns:a="http://schemas.openxmlformats.org/drawingml/2006/main">
            <a:r>
              <a:t/>
            </a:r>
          </a:p>
          <a:p xmlns:a="http://schemas.openxmlformats.org/drawingml/2006/main">
            <a:r>
              <a:t>[Sources]</a:t>
            </a:r>
          </a:p>
          <a:p xmlns:a="http://schemas.openxmlformats.org/drawingml/2006/main">
            <a:r>
              <a:t>- https://arxiv.org/abs/2505.02077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These are mechanism families, not mutually exclusive labels. Covert coordination attacks the communication surface; compositional attacks exploit workflow and consequence surfaces.</a:t>
            </a:r>
          </a:p>
          <a:p xmlns:a="http://schemas.openxmlformats.org/drawingml/2006/main">
            <a:r>
              <a:t/>
            </a:r>
          </a:p>
          <a:p xmlns:a="http://schemas.openxmlformats.org/drawingml/2006/main">
            <a:r>
              <a:t>Different mechanisms demand different defenses: mediation, provenance, action gates, and sequential monitoring.</a:t>
            </a:r>
          </a:p>
          <a:p xmlns:a="http://schemas.openxmlformats.org/drawingml/2006/main">
            <a:r>
              <a:t/>
            </a:r>
          </a:p>
          <a:p xmlns:a="http://schemas.openxmlformats.org/drawingml/2006/main">
            <a:r>
              <a:t>[Sources]</a:t>
            </a:r>
          </a:p>
          <a:p xmlns:a="http://schemas.openxmlformats.org/drawingml/2006/main">
            <a:r>
              <a:t>- https://arxiv.org/abs/2505.02077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This is the vocabulary used by the optimization slide that follows. An attack cell is a conditional evaluation stratum, not a single prompt. A defense stack is the complete deployed policy. CVaR summarizes the severe tail inside one cell. Gamma measures whether layers fail on different matched opportunities. Best response means the attacker is re-optimized against the actual stack.</a:t>
            </a:r>
          </a:p>
          <a:p xmlns:a="http://schemas.openxmlformats.org/drawingml/2006/main">
            <a:r>
              <a:t/>
            </a:r>
          </a:p>
          <a:p xmlns:a="http://schemas.openxmlformats.org/drawingml/2006/main">
            <a:r>
              <a:t>Two related terms appear later. The interaction gap separates matched singleton complementarity from the behavior of the enforced stack. Before-harm detection requires intervention before the registered irreversible consequence, not merely eventual detection.</a:t>
            </a:r>
          </a:p>
          <a:p xmlns:a="http://schemas.openxmlformats.org/drawingml/2006/main">
            <a:r>
              <a:t/>
            </a:r>
          </a:p>
          <a:p xmlns:a="http://schemas.openxmlformats.org/drawingml/2006/main">
            <a:r>
              <a:t>[Sources]</a:t>
            </a:r>
          </a:p>
          <a:p xmlns:a="http://schemas.openxmlformats.org/drawingml/2006/main">
            <a:r>
              <a:t>- paper/main.tex</a:t>
            </a:r>
          </a:p>
          <a:p xmlns:a="http://schemas.openxmlformats.org/drawingml/2006/main">
            <a:r>
              <a:t>- docs/experiments/mechanism_diverse_tail/README.md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selector minimizes an uncertainty-adjusted worst-cell tail loss subject to utility. Γ measures whether component bypass sets overlap. BR makes the attacker stack-aware.</a:t>
            </a:r>
          </a:p>
          <a:p xmlns:a="http://schemas.openxmlformats.org/drawingml/2006/main">
            <a:r>
              <a:t/>
            </a:r>
          </a:p>
          <a:p xmlns:a="http://schemas.openxmlformats.org/drawingml/2006/main">
            <a:r>
              <a:t>The novel part is the conjunction, not CVaR by itself: tail risk plus failure diversity plus adaptive retesting.</a:t>
            </a:r>
          </a:p>
          <a:p xmlns:a="http://schemas.openxmlformats.org/drawingml/2006/main">
            <a:r>
              <a:t/>
            </a:r>
          </a:p>
          <a:p xmlns:a="http://schemas.openxmlformats.org/drawingml/2006/main">
            <a:r>
              <a:t>[Sources]</a:t>
            </a:r>
          </a:p>
          <a:p xmlns:a="http://schemas.openxmlformats.org/drawingml/2006/main">
            <a:r>
              <a:t>- paper/main.tex</a:t>
            </a:r>
          </a:p>
          <a:p xmlns:a="http://schemas.openxmlformats.org/drawingml/2006/main">
            <a:r>
              <a:t>- artifacts/reviewer-evidence-20260821/tail-report.json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CVaR, group robustness, uncertainty bounds, and anytime-valid statistics are established tools. The conjecture is that non-overlapping validation failures predict realized held-out gain after adaptation and enforcement.</a:t>
            </a:r>
          </a:p>
          <a:p xmlns:a="http://schemas.openxmlformats.org/drawingml/2006/main">
            <a:r>
              <a:t/>
            </a:r>
          </a:p>
          <a:p xmlns:a="http://schemas.openxmlformats.org/drawingml/2006/main">
            <a:r>
              <a:t>This can fail, and the deck preserves those failure conditions.</a:t>
            </a:r>
          </a:p>
          <a:p xmlns:a="http://schemas.openxmlformats.org/drawingml/2006/main">
            <a:r>
              <a:t/>
            </a:r>
          </a:p>
          <a:p xmlns:a="http://schemas.openxmlformats.org/drawingml/2006/main">
            <a:r>
              <a:t>[Sources]</a:t>
            </a:r>
          </a:p>
          <a:p xmlns:a="http://schemas.openxmlformats.org/drawingml/2006/main">
            <a:r>
              <a:t>- paper/references.bib</a:t>
            </a:r>
          </a:p>
          <a:p xmlns:a="http://schemas.openxmlformats.org/drawingml/2006/main">
            <a:r>
              <a:t>- paper/main.tex</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common contract prevents post-hoc story changes: matched forks, frozen selection, equal-budget attack search, sealed transfer, and before-harm timing.</a:t>
            </a:r>
          </a:p>
          <a:p xmlns:a="http://schemas.openxmlformats.org/drawingml/2006/main">
            <a:r>
              <a:t/>
            </a:r>
          </a:p>
          <a:p xmlns:a="http://schemas.openxmlformats.org/drawingml/2006/main">
            <a:r>
              <a:t>The currently implemented harness covers the contract and several precursors; model-backed forks and autonomous search remain next steps.</a:t>
            </a:r>
          </a:p>
          <a:p xmlns:a="http://schemas.openxmlformats.org/drawingml/2006/main">
            <a:r>
              <a:t/>
            </a:r>
          </a:p>
          <a:p xmlns:a="http://schemas.openxmlformats.org/drawingml/2006/main">
            <a:r>
              <a:t>[Sources]</a:t>
            </a:r>
          </a:p>
          <a:p xmlns:a="http://schemas.openxmlformats.org/drawingml/2006/main">
            <a:r>
              <a:t>- docs/experiments/mechanism_diverse_tail/common_contract.md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Three evidence tiers ran. The controlled suite has 2,400 deterministic outcomes. The online canaries use pinned Qwen2.5-7B with 64 covert-channel and 24 six-role workflow episodes. Phase 5 has 900 two-agent, 100-turn episodes, but its monitors are offline.</a:t>
            </a:r>
          </a:p>
          <a:p xmlns:a="http://schemas.openxmlformats.org/drawingml/2006/main">
            <a:r>
              <a:t/>
            </a:r>
          </a:p>
          <a:p xmlns:a="http://schemas.openxmlformats.org/drawingml/2006/main">
            <a:r>
              <a:t>No distinct held-out model family or autonomous stack-specific search has run.</a:t>
            </a:r>
          </a:p>
          <a:p xmlns:a="http://schemas.openxmlformats.org/drawingml/2006/main">
            <a:r>
              <a:t/>
            </a:r>
          </a:p>
          <a:p xmlns:a="http://schemas.openxmlformats.org/drawingml/2006/main">
            <a:r>
              <a:t>[Sources]</a:t>
            </a:r>
          </a:p>
          <a:p xmlns:a="http://schemas.openxmlformats.org/drawingml/2006/main">
            <a:r>
              <a:t>- artifacts/reviewer-evidence-20260821/README.md</a:t>
            </a:r>
          </a:p>
          <a:p xmlns:a="http://schemas.openxmlformats.org/drawingml/2006/main">
            <a:r>
              <a:t>- artifacts/phase5-confirmatory-report.json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capacity and workflow attacks execute supplied or registered policies. Phase 5 adds goal-driven pressure with randomized onset, but not autonomous collusion discovery.</a:t>
            </a:r>
          </a:p>
          <a:p xmlns:a="http://schemas.openxmlformats.org/drawingml/2006/main">
            <a:r>
              <a:t/>
            </a:r>
          </a:p>
          <a:p xmlns:a="http://schemas.openxmlformats.org/drawingml/2006/main">
            <a:r>
              <a:t>Only the capacity mediator and workflow repair/gate run inline. Phase 5 monitors score after generation.</a:t>
            </a:r>
          </a:p>
          <a:p xmlns:a="http://schemas.openxmlformats.org/drawingml/2006/main">
            <a:r>
              <a:t/>
            </a:r>
          </a:p>
          <a:p xmlns:a="http://schemas.openxmlformats.org/drawingml/2006/main">
            <a:r>
              <a:t>[Sources]</a:t>
            </a:r>
          </a:p>
          <a:p xmlns:a="http://schemas.openxmlformats.org/drawingml/2006/main">
            <a:r>
              <a:t>- src/agent_defense_evals/experiments/model_capacity_transfer.py</a:t>
            </a:r>
          </a:p>
          <a:p xmlns:a="http://schemas.openxmlformats.org/drawingml/2006/main">
            <a:r>
              <a:t>- src/agent_defense_evals/experiments/model_workflow_remediation.py</a:t>
            </a:r>
          </a:p>
          <a:p xmlns:a="http://schemas.openxmlformats.org/drawingml/2006/main">
            <a:r>
              <a:t>- artifacts/phase5-confirmatory-report.json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Each claim has an effect metric and uncertainty method. The important discipline is not to promote a diagnostic statistic into a confirmatory result.</a:t>
            </a:r>
          </a:p>
          <a:p xmlns:a="http://schemas.openxmlformats.org/drawingml/2006/main">
            <a:r>
              <a:t/>
            </a:r>
          </a:p>
          <a:p xmlns:a="http://schemas.openxmlformats.org/drawingml/2006/main">
            <a:r>
              <a:t>Canary intervals are wide; E04 has only three synthetic stacks.</a:t>
            </a:r>
          </a:p>
          <a:p xmlns:a="http://schemas.openxmlformats.org/drawingml/2006/main">
            <a:r>
              <a:t/>
            </a:r>
          </a:p>
          <a:p xmlns:a="http://schemas.openxmlformats.org/drawingml/2006/main">
            <a:r>
              <a:t>[Sources]</a:t>
            </a:r>
          </a:p>
          <a:p xmlns:a="http://schemas.openxmlformats.org/drawingml/2006/main">
            <a:r>
              <a:t>- artifacts/reviewer-evidence-20260821/tail-report.json</a:t>
            </a:r>
          </a:p>
          <a:p xmlns:a="http://schemas.openxmlformats.org/drawingml/2006/main">
            <a:r>
              <a:t>- artifacts/phase5-confirmatory-report.json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Unrestricted communication succeeds. Paraphrasing breaks a fixed surface code, but a semantic adaptation restores full success. Typed mediation returns the registered attack to chance while exact utility stays at one.</a:t>
            </a:r>
          </a:p>
          <a:p xmlns:a="http://schemas.openxmlformats.org/drawingml/2006/main">
            <a:r>
              <a:t/>
            </a:r>
          </a:p>
          <a:p xmlns:a="http://schemas.openxmlformats.org/drawingml/2006/main">
            <a:r>
              <a:t>This is one codebook and one model. It shows mechanism execution, not universal channel elimination.</a:t>
            </a:r>
          </a:p>
          <a:p xmlns:a="http://schemas.openxmlformats.org/drawingml/2006/main">
            <a:r>
              <a:t/>
            </a:r>
          </a:p>
          <a:p xmlns:a="http://schemas.openxmlformats.org/drawingml/2006/main">
            <a:r>
              <a:t>[Sources]</a:t>
            </a:r>
          </a:p>
          <a:p xmlns:a="http://schemas.openxmlformats.org/drawingml/2006/main">
            <a:r>
              <a:t>- artifacts/reviewer-evidence-20260821/phase7-model-capacity-7b-vllm-trace-complete.json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No defense and local-only checks permit the registered harmful composition. Hard blocking prevents harm by removing utility. Targeted provenance repair prevents the prohibited flow and preserves exact utility.</a:t>
            </a:r>
          </a:p>
          <a:p xmlns:a="http://schemas.openxmlformats.org/drawingml/2006/main">
            <a:r>
              <a:t/>
            </a:r>
          </a:p>
          <a:p xmlns:a="http://schemas.openxmlformats.org/drawingml/2006/main">
            <a:r>
              <a:t>There are only four harmful episodes per condition, so this is feasibility evidence.</a:t>
            </a:r>
          </a:p>
          <a:p xmlns:a="http://schemas.openxmlformats.org/drawingml/2006/main">
            <a:r>
              <a:t/>
            </a:r>
          </a:p>
          <a:p xmlns:a="http://schemas.openxmlformats.org/drawingml/2006/main">
            <a:r>
              <a:t>[Sources]</a:t>
            </a:r>
          </a:p>
          <a:p xmlns:a="http://schemas.openxmlformats.org/drawingml/2006/main">
            <a:r>
              <a:t>- artifacts/reviewer-evidence-20260821/phase7-model-workflow-7b-vllm-trace-complete.json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lifetime false-alarm upper bound passes the registered ceiling, but low-rate attacks are detected before harm only 27.5 percent of the time.</a:t>
            </a:r>
          </a:p>
          <a:p xmlns:a="http://schemas.openxmlformats.org/drawingml/2006/main">
            <a:r>
              <a:t/>
            </a:r>
          </a:p>
          <a:p xmlns:a="http://schemas.openxmlformats.org/drawingml/2006/main">
            <a:r>
              <a:t>All monitors produce the same rates and the e-process is often slower. The supported finding is the low-rate gap, not monitor superiority.</a:t>
            </a:r>
          </a:p>
          <a:p xmlns:a="http://schemas.openxmlformats.org/drawingml/2006/main">
            <a:r>
              <a:t/>
            </a:r>
          </a:p>
          <a:p xmlns:a="http://schemas.openxmlformats.org/drawingml/2006/main">
            <a:r>
              <a:t>[Sources]</a:t>
            </a:r>
          </a:p>
          <a:p xmlns:a="http://schemas.openxmlformats.org/drawingml/2006/main">
            <a:r>
              <a:t>- artifacts/phase5-confirmatory-report.json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scorecard distinguishes harness gates. E02, E03, and E05 pass only as controlled synthetic mechanisms. E01 provides no selector contrast, and E04 fails its compound gate.</a:t>
            </a:r>
          </a:p>
          <a:p xmlns:a="http://schemas.openxmlformats.org/drawingml/2006/main">
            <a:r>
              <a:t/>
            </a:r>
          </a:p>
          <a:p xmlns:a="http://schemas.openxmlformats.org/drawingml/2006/main">
            <a:r>
              <a:t>The asterisk prevents synthetic outcomes from being presented as stochastic-agent robustness.</a:t>
            </a:r>
          </a:p>
          <a:p xmlns:a="http://schemas.openxmlformats.org/drawingml/2006/main">
            <a:r>
              <a:t/>
            </a:r>
          </a:p>
          <a:p xmlns:a="http://schemas.openxmlformats.org/drawingml/2006/main">
            <a:r>
              <a:t>[Sources]</a:t>
            </a:r>
          </a:p>
          <a:p xmlns:a="http://schemas.openxmlformats.org/drawingml/2006/main">
            <a:r>
              <a:t>- artifacts/reviewer-evidence-20260821/tail-report.json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Γ is the best singleton bypass minus joint singleton bypass on matched opportunities. The controlled diverse stack has strongly non-overlapping failures.</a:t>
            </a:r>
          </a:p>
          <a:p xmlns:a="http://schemas.openxmlformats.org/drawingml/2006/main">
            <a:r>
              <a:t/>
            </a:r>
          </a:p>
          <a:p xmlns:a="http://schemas.openxmlformats.org/drawingml/2006/main">
            <a:r>
              <a:t>The positive interaction gap means enforcing the stack changes trajectories slightly for the worse. That gap must be reported rather than hidden.</a:t>
            </a:r>
          </a:p>
          <a:p xmlns:a="http://schemas.openxmlformats.org/drawingml/2006/main">
            <a:r>
              <a:t/>
            </a:r>
          </a:p>
          <a:p xmlns:a="http://schemas.openxmlformats.org/drawingml/2006/main">
            <a:r>
              <a:t>[Sources]</a:t>
            </a:r>
          </a:p>
          <a:p xmlns:a="http://schemas.openxmlformats.org/drawingml/2006/main">
            <a:r>
              <a:t>- artifacts/reviewer-evidence-20260821/tail-report.json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E01 cannot compare selectors because every selector chooses the same stack. E04 remains false because a favorable three-stack correlation cannot replace the missing primary contrast.</a:t>
            </a:r>
          </a:p>
          <a:p xmlns:a="http://schemas.openxmlformats.org/drawingml/2006/main">
            <a:r>
              <a:t/>
            </a:r>
          </a:p>
          <a:p xmlns:a="http://schemas.openxmlformats.org/drawingml/2006/main">
            <a:r>
              <a:t>Negative results make the conjecture more credible by constraining what can be claimed.</a:t>
            </a:r>
          </a:p>
          <a:p xmlns:a="http://schemas.openxmlformats.org/drawingml/2006/main">
            <a:r>
              <a:t/>
            </a:r>
          </a:p>
          <a:p xmlns:a="http://schemas.openxmlformats.org/drawingml/2006/main">
            <a:r>
              <a:t>[Sources]</a:t>
            </a:r>
          </a:p>
          <a:p xmlns:a="http://schemas.openxmlformats.org/drawingml/2006/main">
            <a:r>
              <a:t>- artifacts/reviewer-evidence-20260821/tail-report.json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evidence establishes that two defenses can execute inline on a pinned model and that the harness can measure complementarity and before-harm timing.</a:t>
            </a:r>
          </a:p>
          <a:p xmlns:a="http://schemas.openxmlformats.org/drawingml/2006/main">
            <a:r>
              <a:t/>
            </a:r>
          </a:p>
          <a:p xmlns:a="http://schemas.openxmlformats.org/drawingml/2006/main">
            <a:r>
              <a:t>It does not establish adaptive stack robustness or cross-model transfer. The current conclusion is mechanism evidence, not a general safety result.</a:t>
            </a:r>
          </a:p>
          <a:p xmlns:a="http://schemas.openxmlformats.org/drawingml/2006/main">
            <a:r>
              <a:t/>
            </a:r>
          </a:p>
          <a:p xmlns:a="http://schemas.openxmlformats.org/drawingml/2006/main">
            <a:r>
              <a:t>[Sources]</a:t>
            </a:r>
          </a:p>
          <a:p xmlns:a="http://schemas.openxmlformats.org/drawingml/2006/main">
            <a:r>
              <a:t>- artifacts/reviewer-evidence-20260821/README.md</a:t>
            </a:r>
          </a:p>
          <a:p xmlns:a="http://schemas.openxmlformats.org/drawingml/2006/main">
            <a:r>
              <a:t>- deliverables/experiment-evidence-canvas.md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These are the three decisive tests. First, model-backed shadow forks establish whether LLM-generated failures are non-overlapping. Second, equal-budget best response tests whether adaptation collapses the advantage. Third, a distinct held-out model tests transfer.</a:t>
            </a:r>
          </a:p>
          <a:p xmlns:a="http://schemas.openxmlformats.org/drawingml/2006/main">
            <a:r>
              <a:t/>
            </a:r>
          </a:p>
          <a:p xmlns:a="http://schemas.openxmlformats.org/drawingml/2006/main">
            <a:r>
              <a:t>Only if the advantage survives all three should we claim that this optimization improves multi-agent defense.</a:t>
            </a:r>
          </a:p>
          <a:p xmlns:a="http://schemas.openxmlformats.org/drawingml/2006/main">
            <a:r>
              <a:t/>
            </a:r>
          </a:p>
          <a:p xmlns:a="http://schemas.openxmlformats.org/drawingml/2006/main">
            <a:r>
              <a:t>[Sources]</a:t>
            </a:r>
          </a:p>
          <a:p xmlns:a="http://schemas.openxmlformats.org/drawingml/2006/main">
            <a:r>
              <a:t>- docs/experiments/mechanism_diverse_tail/03_adaptive_best_response/README.md</a:t>
            </a:r>
          </a:p>
          <a:p xmlns:a="http://schemas.openxmlformats.org/drawingml/2006/main">
            <a:r>
              <a:t>- docs/experiments/mechanism_diverse_tail/04_compound_heldout_transfer/README.md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
            </a:r>
          </a:p>
          <a:p xmlns:a="http://schemas.openxmlformats.org/drawingml/2006/main">
            <a:r>
              <a:t>The closing synthesis is deliberately evidence-linked.</a:t>
            </a:r>
          </a:p>
          <a:p xmlns:a="http://schemas.openxmlformats.org/drawingml/2006/main">
            <a:r>
              <a:t/>
            </a:r>
          </a:p>
          <a:p xmlns:a="http://schemas.openxmlformats.org/drawingml/2006/main">
            <a:r>
              <a:t>First, security is compositional: local checks accepted the registered harmful workflow. Second, representation adapts: surface paraphrasing broke a fixed code, but semantic adaptation restored full success, while typed mediation removed the registered carrier. Third, targeted provenance repair prevented harm without destroying exact utility. Fourth, a stringent lifetime false-alarm bound did not guarantee useful low-rate intervention; before-harm detection was only 0.275. Fifth, diversity is promising only when matched failure sets do not overlap and the benefit survives enforcement, adaptation, and held-out transfer.</a:t>
            </a:r>
          </a:p>
          <a:p xmlns:a="http://schemas.openxmlformats.org/drawingml/2006/main">
            <a:r>
              <a:t/>
            </a:r>
          </a:p>
          <a:p xmlns:a="http://schemas.openxmlformats.org/drawingml/2006/main">
            <a:r>
              <a:t>The final row preserves the boundary of the evidence. Controlled Gamma was positive, but the interaction gap was also positive and selector advantage plus genuine held-out transfer remain open.</a:t>
            </a:r>
          </a:p>
          <a:p xmlns:a="http://schemas.openxmlformats.org/drawingml/2006/main">
            <a:r>
              <a:t/>
            </a:r>
          </a:p>
          <a:p xmlns:a="http://schemas.openxmlformats.org/drawingml/2006/main">
            <a:r>
              <a:t>[Sources]</a:t>
            </a:r>
          </a:p>
          <a:p xmlns:a="http://schemas.openxmlformats.org/drawingml/2006/main">
            <a:r>
              <a:t>- artifacts/reviewer-evidence-20260821/phase7-model-capacity-7b-vllm-trace-complete.json</a:t>
            </a:r>
          </a:p>
          <a:p xmlns:a="http://schemas.openxmlformats.org/drawingml/2006/main">
            <a:r>
              <a:t>- artifacts/reviewer-evidence-20260821/phase7-model-workflow-7b-vllm-trace-complete.json</a:t>
            </a:r>
          </a:p>
          <a:p xmlns:a="http://schemas.openxmlformats.org/drawingml/2006/main">
            <a:r>
              <a:t>- artifacts/phase5-confirmatory-report.json</a:t>
            </a:r>
          </a:p>
          <a:p xmlns:a="http://schemas.openxmlformats.org/drawingml/2006/main">
            <a:r>
              <a:t>- artifacts/reviewer-evidence-20260821/tail-report.json</a:t>
            </a:r>
          </a:p>
          <a:p xmlns:a="http://schemas.openxmlformats.org/drawingml/2006/main">
            <a:r>
              <a:t>- paper/main.tex</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c201a0292f148e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4a7c7d077a4618" /><Relationship Type="http://schemas.openxmlformats.org/officeDocument/2006/relationships/slideLayout" Target="/ppt/slideLayouts/slideLayout1.xml" Id="R248ce45c8ddc4ec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48ce45c8ddc4ec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1e78439af8c43f8" /><Relationship Type="http://schemas.openxmlformats.org/officeDocument/2006/relationships/notesSlide" Target="/ppt/notesSlides/notesSlide1.xml" Id="R4762a25087fc470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f299d8fdac24281" /><Relationship Type="http://schemas.openxmlformats.org/officeDocument/2006/relationships/notesSlide" Target="/ppt/notesSlides/notesSlide2.xml" Id="R8d422323f8554c2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98efadd07c14a5f" /><Relationship Type="http://schemas.openxmlformats.org/officeDocument/2006/relationships/notesSlide" Target="/ppt/notesSlides/notesSlide3.xml" Id="R17446d579bb142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0a70a86bdbb4f40" /><Relationship Type="http://schemas.openxmlformats.org/officeDocument/2006/relationships/notesSlide" Target="/ppt/notesSlides/notesSlide4.xml" Id="R664c19c840554f1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ce7887ce1e64687" /><Relationship Type="http://schemas.openxmlformats.org/officeDocument/2006/relationships/notesSlide" Target="/ppt/notesSlides/notesSlide5.xml" Id="R5bd6dda897bd4fd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fd4e97836dc40db" /><Relationship Type="http://schemas.openxmlformats.org/officeDocument/2006/relationships/notesSlide" Target="/ppt/notesSlides/notesSlide6.xml" Id="R50cdf0776b9e4d5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6c35ea0626d4b4e" /><Relationship Type="http://schemas.openxmlformats.org/officeDocument/2006/relationships/notesSlide" Target="/ppt/notesSlides/notesSlide7.xml" Id="R0def7abbee474e3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575ab2e59804aae" /><Relationship Type="http://schemas.openxmlformats.org/officeDocument/2006/relationships/notesSlide" Target="/ppt/notesSlides/notesSlide8.xml" Id="Re6826115a53a419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be301497bd246bf" /><Relationship Type="http://schemas.openxmlformats.org/officeDocument/2006/relationships/notesSlide" Target="/ppt/notesSlides/notesSlide9.xml" Id="R2decf82ccbec49d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3663a71518e4bb4" /><Relationship Type="http://schemas.openxmlformats.org/officeDocument/2006/relationships/notesSlide" Target="/ppt/notesSlides/notesSlide10.xml" Id="R444aba3258ea42b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7e0f003340c4f5a" /><Relationship Type="http://schemas.openxmlformats.org/officeDocument/2006/relationships/notesSlide" Target="/ppt/notesSlides/notesSlide11.xml" Id="R2aba064bc0194f6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ea6be9638d349d9" /><Relationship Type="http://schemas.openxmlformats.org/officeDocument/2006/relationships/chart" Target="/ppt/slides/charts/chart1.xml" Id="Ree6c6792c6b5492e" /><Relationship Type="http://schemas.openxmlformats.org/officeDocument/2006/relationships/notesSlide" Target="/ppt/notesSlides/notesSlide12.xml" Id="R6710828ded81444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0c6c9e2980746ea" /><Relationship Type="http://schemas.openxmlformats.org/officeDocument/2006/relationships/chart" Target="/ppt/slides/charts/chart2.xml" Id="Rae3c59d42e284371" /><Relationship Type="http://schemas.openxmlformats.org/officeDocument/2006/relationships/notesSlide" Target="/ppt/notesSlides/notesSlide13.xml" Id="R1578f3ef459c45d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d2bcc77b0454d06" /><Relationship Type="http://schemas.openxmlformats.org/officeDocument/2006/relationships/chart" Target="/ppt/slides/charts/chart3.xml" Id="R9cf440efae624a45" /><Relationship Type="http://schemas.openxmlformats.org/officeDocument/2006/relationships/notesSlide" Target="/ppt/notesSlides/notesSlide14.xml" Id="R5d2dc463100443c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ed9b7d9ede940a7" /><Relationship Type="http://schemas.openxmlformats.org/officeDocument/2006/relationships/notesSlide" Target="/ppt/notesSlides/notesSlide15.xml" Id="Re519cba3c803466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2f1e8c3ebd04c01" /><Relationship Type="http://schemas.openxmlformats.org/officeDocument/2006/relationships/chart" Target="/ppt/slides/charts/chart4.xml" Id="Ra91f3d85faf6495b" /><Relationship Type="http://schemas.openxmlformats.org/officeDocument/2006/relationships/notesSlide" Target="/ppt/notesSlides/notesSlide16.xml" Id="R56c44026acdd4d0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1425613c05b4443" /><Relationship Type="http://schemas.openxmlformats.org/officeDocument/2006/relationships/notesSlide" Target="/ppt/notesSlides/notesSlide17.xml" Id="Rb298862087d24ba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2de2b0948ac45b8" /><Relationship Type="http://schemas.openxmlformats.org/officeDocument/2006/relationships/notesSlide" Target="/ppt/notesSlides/notesSlide18.xml" Id="Rfa91b073e4814ef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fec7030e0d04e82" /><Relationship Type="http://schemas.openxmlformats.org/officeDocument/2006/relationships/notesSlide" Target="/ppt/notesSlides/notesSlide19.xml" Id="R62b8792e296f4ae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896af154ded4b09" /><Relationship Type="http://schemas.openxmlformats.org/officeDocument/2006/relationships/notesSlide" Target="/ppt/notesSlides/notesSlide20.xml" Id="Ra19f93a2d2464da5" /></Relationships>
</file>

<file path=ppt/slides/charts/chart1.xml><?xml version="1.0" encoding="utf-8"?>
<c:chartSpace xmlns:c="http://schemas.openxmlformats.org/drawingml/2006/chart">
  <c:lang val="en-US"/>
  <c:chart>
    <c:plotArea>
      <c:barChart>
        <c:barDir val="col"/>
        <c:grouping val="clustered"/>
        <c:varyColors val="0"/>
        <c:ser>
          <c:idx val="0"/>
          <c:order val="0"/>
          <c:tx>
            <c:v>Attack success</c:v>
          </c:tx>
          <c:spPr>
            <a:solidFill xmlns:a="http://schemas.openxmlformats.org/drawingml/2006/main">
              <a:srgbClr val="3D8DFF"/>
            </a:solidFill>
          </c:spPr>
          <c:cat>
            <c:strLit>
              <c:ptCount val="4"/>
              <c:pt idx="0">
                <c:v>Unrestricted</c:v>
              </c:pt>
              <c:pt idx="1">
                <c:v>Paraphrase
fixed</c:v>
              </c:pt>
              <c:pt idx="2">
                <c:v>Paraphrase
adaptive</c:v>
              </c:pt>
              <c:pt idx="3">
                <c:v>Typed
adaptive</c:v>
              </c:pt>
            </c:strLit>
          </c:cat>
          <c:val>
            <c:numLit>
              <c:formatCode>General</c:formatCode>
              <c:ptCount val="4"/>
              <c:pt idx="0">
                <c:v>1</c:v>
              </c:pt>
              <c:pt idx="1">
                <c:v>0.25</c:v>
              </c:pt>
              <c:pt idx="2">
                <c:v>1</c:v>
              </c:pt>
              <c:pt idx="3">
                <c:v>0.25</c:v>
              </c:pt>
            </c:numLit>
          </c:val>
        </c:ser>
        <c:dLbls>
          <c:txPr>
            <a:bodyPr xmlns:a="http://schemas.openxmlformats.org/drawingml/2006/main" anchorCtr="1"/>
            <a:lstStyle xmlns:a="http://schemas.openxmlformats.org/drawingml/2006/main"/>
            <a:p xmlns:a="http://schemas.openxmlformats.org/drawingml/2006/main">
              <a:pPr>
                <a:defRPr sz="1200" b="1">
                  <a:solidFill>
                    <a:srgbClr val="000000"/>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00">
                <a:solidFill>
                  <a:srgbClr val="000000"/>
                </a:solidFill>
              </a:defRPr>
            </a:pPr>
          </a:p>
        </c:txPr>
        <c:crossAx val="48672768"/>
      </c:catAx>
      <c:valAx>
        <c:axId val="48672768"/>
        <c:scaling>
          <c:orientation val="minMax"/>
          <c:max val="1"/>
          <c:min val="0"/>
        </c:scaling>
        <c:delete val="0"/>
        <c:axPos val="l"/>
        <c:majorGridlines>
          <c:spPr>
            <a:ln xmlns:a="http://schemas.openxmlformats.org/drawingml/2006/main" w="9525">
              <a:solidFill>
                <a:srgbClr val="EDEDED"/>
              </a:solidFill>
              <a:prstDash val="solid"/>
            </a:ln>
          </c:spPr>
        </c:majorGridlines>
        <c:title>
          <c:tx>
            <c:rich>
              <a:bodyPr xmlns:a="http://schemas.openxmlformats.org/drawingml/2006/main"/>
              <a:lstStyle xmlns:a="http://schemas.openxmlformats.org/drawingml/2006/main"/>
              <a:p xmlns:a="http://schemas.openxmlformats.org/drawingml/2006/main">
                <a:r>
                  <a:rPr sz="1200"/>
                  <a:t>attack success</a:t>
                </a:r>
              </a:p>
            </c:rich>
          </c:tx>
          <c:overlay val="0"/>
          <c:txPr>
            <a:bodyPr xmlns:a="http://schemas.openxmlformats.org/drawingml/2006/main" anchorCtr="1"/>
            <a:lstStyle xmlns:a="http://schemas.openxmlformats.org/drawingml/2006/main"/>
            <a:p xmlns:a="http://schemas.openxmlformats.org/drawingml/2006/main">
              <a:pPr>
                <a:defRPr sz="1200"/>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defRPr>
            </a:pPr>
          </a:p>
        </c:txPr>
        <c:crossAx val="48650112"/>
        <c:crossBetween val="between"/>
        <c:majorUnit val="0.25"/>
      </c:valAx>
      <c:spPr>
        <a:noFill xmlns:a="http://schemas.openxmlformats.org/drawingml/2006/mai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col"/>
        <c:grouping val="clustered"/>
        <c:varyColors val="0"/>
        <c:ser>
          <c:idx val="0"/>
          <c:order val="0"/>
          <c:tx>
            <c:v>Attack success</c:v>
          </c:tx>
          <c:spPr>
            <a:solidFill xmlns:a="http://schemas.openxmlformats.org/drawingml/2006/main">
              <a:srgbClr val="A63434"/>
            </a:solidFill>
          </c:spPr>
          <c:cat>
            <c:strLit>
              <c:ptCount val="4"/>
              <c:pt idx="0">
                <c:v>No defense</c:v>
              </c:pt>
              <c:pt idx="1">
                <c:v>Local only</c:v>
              </c:pt>
              <c:pt idx="2">
                <c:v>Hard block</c:v>
              </c:pt>
              <c:pt idx="3">
                <c:v>Targeted repair</c:v>
              </c:pt>
            </c:strLit>
          </c:cat>
          <c:val>
            <c:numLit>
              <c:formatCode>General</c:formatCode>
              <c:ptCount val="4"/>
              <c:pt idx="0">
                <c:v>1</c:v>
              </c:pt>
              <c:pt idx="1">
                <c:v>1</c:v>
              </c:pt>
              <c:pt idx="2">
                <c:v>0</c:v>
              </c:pt>
              <c:pt idx="3">
                <c:v>0</c:v>
              </c:pt>
            </c:numLit>
          </c:val>
        </c:ser>
        <c:ser>
          <c:idx val="1"/>
          <c:order val="1"/>
          <c:tx>
            <c:v>Exact utility</c:v>
          </c:tx>
          <c:spPr>
            <a:solidFill xmlns:a="http://schemas.openxmlformats.org/drawingml/2006/main">
              <a:srgbClr val="3D8DFF"/>
            </a:solidFill>
          </c:spPr>
          <c:cat>
            <c:strLit>
              <c:ptCount val="4"/>
              <c:pt idx="0">
                <c:v>No defense</c:v>
              </c:pt>
              <c:pt idx="1">
                <c:v>Local only</c:v>
              </c:pt>
              <c:pt idx="2">
                <c:v>Hard block</c:v>
              </c:pt>
              <c:pt idx="3">
                <c:v>Targeted repair</c:v>
              </c:pt>
            </c:strLit>
          </c:cat>
          <c:val>
            <c:numLit>
              <c:formatCode>General</c:formatCode>
              <c:ptCount val="4"/>
              <c:pt idx="0">
                <c:v>1</c:v>
              </c:pt>
              <c:pt idx="1">
                <c:v>1</c:v>
              </c:pt>
              <c:pt idx="2">
                <c:v>0</c:v>
              </c:pt>
              <c:pt idx="3">
                <c:v>1</c:v>
              </c:pt>
            </c:numLit>
          </c:val>
        </c:ser>
        <c:dLbls>
          <c:txPr>
            <a:bodyPr xmlns:a="http://schemas.openxmlformats.org/drawingml/2006/main" anchorCtr="1"/>
            <a:lstStyle xmlns:a="http://schemas.openxmlformats.org/drawingml/2006/main"/>
            <a:p xmlns:a="http://schemas.openxmlformats.org/drawingml/2006/main">
              <a:pPr>
                <a:defRPr sz="1125">
                  <a:solidFill>
                    <a:srgbClr val="000000"/>
                  </a:solidFil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00">
                <a:solidFill>
                  <a:srgbClr val="000000"/>
                </a:solidFill>
              </a:defRPr>
            </a:pPr>
          </a:p>
        </c:txPr>
        <c:crossAx val="48672768"/>
      </c:catAx>
      <c:valAx>
        <c:axId val="48672768"/>
        <c:scaling>
          <c:orientation val="minMax"/>
          <c:max val="1"/>
          <c:min val="0"/>
        </c:scaling>
        <c:delete val="0"/>
        <c:axPos val="l"/>
        <c:majorGridlines>
          <c:spPr>
            <a:ln xmlns:a="http://schemas.openxmlformats.org/drawingml/2006/main" w="9525">
              <a:solidFill>
                <a:srgbClr val="EDEDED"/>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defRPr>
            </a:pPr>
          </a:p>
        </c:txPr>
        <c:crossAx val="48650112"/>
        <c:crossBetween val="between"/>
        <c:majorUnit val="0.25"/>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200"/>
          </a:pPr>
        </a:p>
      </c:txPr>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3.xml><?xml version="1.0" encoding="utf-8"?>
<c:chartSpace xmlns:c="http://schemas.openxmlformats.org/drawingml/2006/chart">
  <c:lang val="en-US"/>
  <c:chart>
    <c:plotArea>
      <c:barChart>
        <c:barDir val="col"/>
        <c:grouping val="clustered"/>
        <c:varyColors val="0"/>
        <c:ser>
          <c:idx val="0"/>
          <c:order val="0"/>
          <c:tx>
            <c:v>Detected before irreversible harm</c:v>
          </c:tx>
          <c:spPr>
            <a:solidFill xmlns:a="http://schemas.openxmlformats.org/drawingml/2006/main">
              <a:srgbClr val="3D8DFF"/>
            </a:solidFill>
          </c:spPr>
          <c:cat>
            <c:strLit>
              <c:ptCount val="4"/>
              <c:pt idx="0">
                <c:v>Low rate</c:v>
              </c:pt>
              <c:pt idx="1">
                <c:v>Memory poisoning</c:v>
              </c:pt>
              <c:pt idx="2">
                <c:v>Reward induced</c:v>
              </c:pt>
              <c:pt idx="3">
                <c:v>Delayed trigger</c:v>
              </c:pt>
            </c:strLit>
          </c:cat>
          <c:val>
            <c:numLit>
              <c:formatCode>General</c:formatCode>
              <c:ptCount val="4"/>
              <c:pt idx="0">
                <c:v>0.275</c:v>
              </c:pt>
              <c:pt idx="1">
                <c:v>0.75</c:v>
              </c:pt>
              <c:pt idx="2">
                <c:v>0.75</c:v>
              </c:pt>
              <c:pt idx="3">
                <c:v>1</c:v>
              </c:pt>
            </c:numLit>
          </c:val>
        </c:ser>
        <c:dLbls>
          <c:txPr>
            <a:bodyPr xmlns:a="http://schemas.openxmlformats.org/drawingml/2006/main" anchorCtr="1"/>
            <a:lstStyle xmlns:a="http://schemas.openxmlformats.org/drawingml/2006/main"/>
            <a:p xmlns:a="http://schemas.openxmlformats.org/drawingml/2006/main">
              <a:pPr>
                <a:defRPr sz="1200" b="1">
                  <a:solidFill>
                    <a:srgbClr val="000000"/>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125">
                <a:solidFill>
                  <a:srgbClr val="000000"/>
                </a:solidFill>
              </a:defRPr>
            </a:pPr>
          </a:p>
        </c:txPr>
        <c:crossAx val="48672768"/>
      </c:catAx>
      <c:valAx>
        <c:axId val="48672768"/>
        <c:scaling>
          <c:orientation val="minMax"/>
          <c:max val="1"/>
          <c:min val="0"/>
        </c:scaling>
        <c:delete val="0"/>
        <c:axPos val="l"/>
        <c:majorGridlines>
          <c:spPr>
            <a:ln xmlns:a="http://schemas.openxmlformats.org/drawingml/2006/main" w="9525">
              <a:solidFill>
                <a:srgbClr val="EDEDED"/>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defRPr>
            </a:pPr>
          </a:p>
        </c:txPr>
        <c:crossAx val="48650112"/>
        <c:crossBetween val="between"/>
        <c:majorUnit val="0.25"/>
      </c:valAx>
      <c:spPr>
        <a:noFill xmlns:a="http://schemas.openxmlformats.org/drawingml/2006/mai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4.xml><?xml version="1.0" encoding="utf-8"?>
<c:chartSpace xmlns:c="http://schemas.openxmlformats.org/drawingml/2006/chart">
  <c:lang val="en-US"/>
  <c:chart>
    <c:plotArea>
      <c:barChart>
        <c:barDir val="col"/>
        <c:grouping val="clustered"/>
        <c:varyColors val="0"/>
        <c:ser>
          <c:idx val="0"/>
          <c:order val="0"/>
          <c:tx>
            <c:v>Diverse stack</c:v>
          </c:tx>
          <c:spPr>
            <a:solidFill xmlns:a="http://schemas.openxmlformats.org/drawingml/2006/main">
              <a:srgbClr val="3D8DFF"/>
            </a:solidFill>
          </c:spPr>
          <c:cat>
            <c:strLit>
              <c:ptCount val="2"/>
              <c:pt idx="0">
                <c:v>Joint singleton bypass</c:v>
              </c:pt>
              <c:pt idx="1">
                <c:v>Realized stack bypass</c:v>
              </c:pt>
            </c:strLit>
          </c:cat>
          <c:val>
            <c:numLit>
              <c:formatCode>General</c:formatCode>
              <c:ptCount val="2"/>
              <c:pt idx="0">
                <c:v>0.03125</c:v>
              </c:pt>
              <c:pt idx="1">
                <c:v>0.05625</c:v>
              </c:pt>
            </c:numLit>
          </c:val>
        </c:ser>
        <c:ser>
          <c:idx val="1"/>
          <c:order val="1"/>
          <c:tx>
            <c:v>Homogeneous ensemble</c:v>
          </c:tx>
          <c:spPr>
            <a:solidFill xmlns:a="http://schemas.openxmlformats.org/drawingml/2006/main">
              <a:srgbClr val="B8BCC4"/>
            </a:solidFill>
          </c:spPr>
          <c:cat>
            <c:strLit>
              <c:ptCount val="2"/>
              <c:pt idx="0">
                <c:v>Joint singleton bypass</c:v>
              </c:pt>
              <c:pt idx="1">
                <c:v>Realized stack bypass</c:v>
              </c:pt>
            </c:strLit>
          </c:cat>
          <c:val>
            <c:numLit>
              <c:formatCode>General</c:formatCode>
              <c:ptCount val="2"/>
              <c:pt idx="0">
                <c:v>0.63125</c:v>
              </c:pt>
              <c:pt idx="1">
                <c:v>0.65</c:v>
              </c:pt>
            </c:numLit>
          </c:val>
        </c:ser>
        <c:dLbls>
          <c:txPr>
            <a:bodyPr xmlns:a="http://schemas.openxmlformats.org/drawingml/2006/main" anchorCtr="1"/>
            <a:lstStyle xmlns:a="http://schemas.openxmlformats.org/drawingml/2006/main"/>
            <a:p xmlns:a="http://schemas.openxmlformats.org/drawingml/2006/main">
              <a:pPr>
                <a:defRPr sz="1125">
                  <a:solidFill>
                    <a:srgbClr val="000000"/>
                  </a:solidFil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00">
                <a:solidFill>
                  <a:srgbClr val="000000"/>
                </a:solidFill>
              </a:defRPr>
            </a:pPr>
          </a:p>
        </c:txPr>
        <c:crossAx val="48672768"/>
      </c:catAx>
      <c:valAx>
        <c:axId val="48672768"/>
        <c:scaling>
          <c:orientation val="minMax"/>
          <c:max val="0.75"/>
          <c:min val="0"/>
        </c:scaling>
        <c:delete val="0"/>
        <c:axPos val="l"/>
        <c:majorGridlines>
          <c:spPr>
            <a:ln xmlns:a="http://schemas.openxmlformats.org/drawingml/2006/main" w="9525">
              <a:solidFill>
                <a:srgbClr val="EDEDED"/>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defRPr>
            </a:pPr>
          </a:p>
        </c:txPr>
        <c:crossAx val="48650112"/>
        <c:crossBetween val="between"/>
        <c:majorUnit val="0.15"/>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200"/>
          </a:pPr>
        </a:p>
      </c:txPr>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770F7A3-7436-4E02-AB4F-707AF45DF6C1}"/>
              </a:ext>
            </a:extLst>
          </p:cNvPr>
          <p:cNvSpPr>
            <a:spLocks xmlns:a="http://schemas.openxmlformats.org/drawingml/2006/main" noGrp="1"/>
          </p:cNvSpPr>
          <p:nvPr/>
        </p:nvSpPr>
        <p:spPr>
          <a:xfrm xmlns:a="http://schemas.openxmlformats.org/drawingml/2006/main">
            <a:off x="400050" y="3619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D636D"/>
                </a:solidFill>
                <a:latin typeface="Helvetica Neue"/>
                <a:ea typeface="Helvetica Neue"/>
                <a:cs typeface="Helvetica Neue"/>
              </a:defRPr>
            </a:pPr>
            <a:r>
              <a:rPr sz="1350" b="1">
                <a:solidFill>
                  <a:srgbClr val="5D636D"/>
                </a:solidFill>
                <a:latin typeface="Helvetica Neue"/>
                <a:ea typeface="Helvetica Neue"/>
                <a:cs typeface="Helvetica Neue"/>
              </a:rPr>
              <a:t>MULTI-AGENT DEFENSE EVALUATION</a:t>
            </a:r>
          </a:p>
        </p:txBody>
      </p:sp>
      <p:sp>
        <p:nvSpPr>
          <p:cNvPr id="2" name="">
            <a:extLst xmlns:a="http://schemas.openxmlformats.org/drawingml/2006/main">
              <a:ext uri="{FF2B5EF4-FFF2-40B4-BE49-F238E27FC236}">
                <a16:creationId xmlns:a16="http://schemas.microsoft.com/office/drawing/2014/main" id="{0B9CB11F-AFF6-4F03-AF0C-53CAADA4A84E}"/>
              </a:ext>
            </a:extLst>
          </p:cNvPr>
          <p:cNvSpPr>
            <a:spLocks xmlns:a="http://schemas.openxmlformats.org/drawingml/2006/main" noGrp="1"/>
          </p:cNvSpPr>
          <p:nvPr/>
        </p:nvSpPr>
        <p:spPr>
          <a:xfrm xmlns:a="http://schemas.openxmlformats.org/drawingml/2006/main">
            <a:off x="400050" y="1695450"/>
            <a:ext cx="88582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lstStyle xmlns:a="http://schemas.openxmlformats.org/drawingml/2006/main"/>
          <a:p xmlns:a="http://schemas.openxmlformats.org/drawingml/2006/main">
            <a:pPr algn="l">
              <a:buNone/>
              <a:defRPr sz="5400" b="1">
                <a:solidFill>
                  <a:srgbClr val="000000"/>
                </a:solidFill>
                <a:latin typeface="Helvetica Neue"/>
                <a:ea typeface="Helvetica Neue"/>
                <a:cs typeface="Helvetica Neue"/>
              </a:defRPr>
            </a:pPr>
            <a:r>
              <a:rPr sz="5400" b="1">
                <a:solidFill>
                  <a:srgbClr val="000000"/>
                </a:solidFill>
                <a:latin typeface="Helvetica Neue"/>
                <a:ea typeface="Helvetica Neue"/>
                <a:cs typeface="Helvetica Neue"/>
              </a:rPr>
              <a:t>Beyond average-case</a:t>
            </a:r>
          </a:p>
          <a:p xmlns:a="http://schemas.openxmlformats.org/drawingml/2006/main">
            <a:pPr algn="l">
              <a:buNone/>
              <a:defRPr sz="5400" b="1">
                <a:solidFill>
                  <a:srgbClr val="000000"/>
                </a:solidFill>
                <a:latin typeface="Helvetica Neue"/>
                <a:ea typeface="Helvetica Neue"/>
                <a:cs typeface="Helvetica Neue"/>
              </a:defRPr>
            </a:pPr>
            <a:r>
              <a:rPr sz="5400" b="1">
                <a:solidFill>
                  <a:srgbClr val="000000"/>
                </a:solidFill>
                <a:latin typeface="Helvetica Neue"/>
                <a:ea typeface="Helvetica Neue"/>
                <a:cs typeface="Helvetica Neue"/>
              </a:rPr>
              <a:t>safety</a:t>
            </a:r>
          </a:p>
        </p:txBody>
      </p:sp>
      <p:sp>
        <p:nvSpPr>
          <p:cNvPr id="3" name="">
            <a:extLst xmlns:a="http://schemas.openxmlformats.org/drawingml/2006/main">
              <a:ext uri="{FF2B5EF4-FFF2-40B4-BE49-F238E27FC236}">
                <a16:creationId xmlns:a16="http://schemas.microsoft.com/office/drawing/2014/main" id="{0DD7CF6D-5836-450F-A996-9E5E96610667}"/>
              </a:ext>
            </a:extLst>
          </p:cNvPr>
          <p:cNvSpPr>
            <a:spLocks xmlns:a="http://schemas.openxmlformats.org/drawingml/2006/main" noGrp="1"/>
          </p:cNvSpPr>
          <p:nvPr/>
        </p:nvSpPr>
        <p:spPr>
          <a:xfrm xmlns:a="http://schemas.openxmlformats.org/drawingml/2006/main">
            <a:off x="400050" y="4305300"/>
            <a:ext cx="7810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0">
                <a:solidFill>
                  <a:srgbClr val="5D636D"/>
                </a:solidFill>
                <a:latin typeface="Helvetica Neue"/>
                <a:ea typeface="Helvetica Neue"/>
                <a:cs typeface="Helvetica Neue"/>
              </a:defRPr>
            </a:pPr>
            <a:r>
              <a:rPr sz="2100" b="0">
                <a:solidFill>
                  <a:srgbClr val="5D636D"/>
                </a:solidFill>
                <a:latin typeface="Helvetica Neue"/>
                <a:ea typeface="Helvetica Neue"/>
                <a:cs typeface="Helvetica Neue"/>
              </a:rPr>
              <a:t>Stress-testing defenses for colluding and covertly coordinating AI agents</a:t>
            </a:r>
          </a:p>
        </p:txBody>
      </p:sp>
      <p:sp>
        <p:nvSpPr>
          <p:cNvPr id="4" name="">
            <a:extLst xmlns:a="http://schemas.openxmlformats.org/drawingml/2006/main">
              <a:ext uri="{FF2B5EF4-FFF2-40B4-BE49-F238E27FC236}">
                <a16:creationId xmlns:a16="http://schemas.microsoft.com/office/drawing/2014/main" id="{07BCBD0C-57C1-44D1-BE35-FFC2818F58CB}"/>
              </a:ext>
            </a:extLst>
          </p:cNvPr>
          <p:cNvSpPr>
            <a:spLocks xmlns:a="http://schemas.openxmlformats.org/drawingml/2006/main" noGrp="1"/>
          </p:cNvSpPr>
          <p:nvPr/>
        </p:nvSpPr>
        <p:spPr>
          <a:xfrm xmlns:a="http://schemas.openxmlformats.org/drawingml/2006/main">
            <a:off x="9620250" y="876300"/>
            <a:ext cx="1809750" cy="476250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BA949E6-9A66-4F1B-A102-0AEA175229F1}"/>
              </a:ext>
            </a:extLst>
          </p:cNvPr>
          <p:cNvSpPr>
            <a:spLocks xmlns:a="http://schemas.openxmlformats.org/drawingml/2006/main" noGrp="1"/>
          </p:cNvSpPr>
          <p:nvPr/>
        </p:nvSpPr>
        <p:spPr>
          <a:xfrm xmlns:a="http://schemas.openxmlformats.org/drawingml/2006/main">
            <a:off x="10096500" y="1352550"/>
            <a:ext cx="857250" cy="38100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247FDE2-12EE-41B9-8087-00AA0962E695}"/>
              </a:ext>
            </a:extLst>
          </p:cNvPr>
          <p:cNvSpPr>
            <a:spLocks xmlns:a="http://schemas.openxmlformats.org/drawingml/2006/main" noGrp="1"/>
          </p:cNvSpPr>
          <p:nvPr/>
        </p:nvSpPr>
        <p:spPr>
          <a:xfrm xmlns:a="http://schemas.openxmlformats.org/drawingml/2006/main">
            <a:off x="400050" y="5829300"/>
            <a:ext cx="7620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000000"/>
                </a:solidFill>
                <a:latin typeface="Helvetica Neue"/>
                <a:ea typeface="Helvetica Neue"/>
                <a:cs typeface="Helvetica Neue"/>
              </a:defRPr>
            </a:pPr>
            <a:r>
              <a:rPr sz="1350" b="1">
                <a:solidFill>
                  <a:srgbClr val="000000"/>
                </a:solidFill>
                <a:latin typeface="Helvetica Neue"/>
                <a:ea typeface="Helvetica Neue"/>
                <a:cs typeface="Helvetica Neue"/>
              </a:rPr>
              <a:t>Yashila Bordag</a:t>
            </a:r>
          </a:p>
          <a:p xmlns:a="http://schemas.openxmlformats.org/drawingml/2006/main">
            <a:pPr algn="l">
              <a:buNone/>
              <a:defRPr sz="1350" b="1">
                <a:solidFill>
                  <a:srgbClr val="000000"/>
                </a:solidFill>
                <a:latin typeface="Helvetica Neue"/>
                <a:ea typeface="Helvetica Neue"/>
                <a:cs typeface="Helvetica Neue"/>
              </a:defRPr>
            </a:pPr>
            <a:r>
              <a:rPr sz="1350" b="1">
                <a:solidFill>
                  <a:srgbClr val="000000"/>
                </a:solidFill>
                <a:latin typeface="Helvetica Neue"/>
                <a:ea typeface="Helvetica Neue"/>
                <a:cs typeface="Helvetica Neue"/>
              </a:rPr>
              <a:t>Agent Defense Evals</a:t>
            </a:r>
          </a:p>
          <a:p xmlns:a="http://schemas.openxmlformats.org/drawingml/2006/main">
            <a:pPr algn="l">
              <a:buNone/>
              <a:defRPr sz="1350" b="1">
                <a:solidFill>
                  <a:srgbClr val="000000"/>
                </a:solidFill>
                <a:latin typeface="Helvetica Neue"/>
                <a:ea typeface="Helvetica Neue"/>
                <a:cs typeface="Helvetica Neue"/>
              </a:defRPr>
            </a:pPr>
            <a:r>
              <a:rPr sz="1350" b="1">
                <a:solidFill>
                  <a:srgbClr val="000000"/>
                </a:solidFill>
                <a:latin typeface="Helvetica Neue"/>
                <a:ea typeface="Helvetica Neue"/>
                <a:cs typeface="Helvetica Neue"/>
              </a:rPr>
              <a:t>August 2026</a:t>
            </a:r>
          </a:p>
        </p:txBody>
      </p:sp>
    </p:spTree>
    <p:extLst>
      <p:ext uri="{BB962C8B-B14F-4D97-AF65-F5344CB8AC3E}">
        <p14:creationId xmlns:p14="http://schemas.microsoft.com/office/powerpoint/2010/main" val="31650899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F5E479-F304-43E0-9DD7-6ECE0BB1B711}"/>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4-title">
            <a:extLst xmlns:a="http://schemas.openxmlformats.org/drawingml/2006/main">
              <a:ext uri="{FF2B5EF4-FFF2-40B4-BE49-F238E27FC236}">
                <a16:creationId xmlns:a16="http://schemas.microsoft.com/office/drawing/2014/main" id="{75D1F63C-9327-4B72-9129-8688169032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Individual safeguards can still compose into system harm</a:t>
            </a:r>
          </a:p>
        </p:txBody>
      </p:sp>
      <p:sp>
        <p:nvSpPr>
          <p:cNvPr id="3" name="">
            <a:extLst xmlns:a="http://schemas.openxmlformats.org/drawingml/2006/main">
              <a:ext uri="{FF2B5EF4-FFF2-40B4-BE49-F238E27FC236}">
                <a16:creationId xmlns:a16="http://schemas.microsoft.com/office/drawing/2014/main" id="{C457683D-8C23-4AC2-AA5B-ED38921DB86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A5BDC0CE-0622-4406-9B4F-98CF1B3429E7}"/>
              </a:ext>
            </a:extLst>
          </p:cNvPr>
          <p:cNvSpPr>
            <a:spLocks xmlns:a="http://schemas.openxmlformats.org/drawingml/2006/main" noGrp="1"/>
          </p:cNvSpPr>
          <p:nvPr/>
        </p:nvSpPr>
        <p:spPr>
          <a:xfrm xmlns:a="http://schemas.openxmlformats.org/drawingml/2006/main">
            <a:off x="400050" y="1543050"/>
            <a:ext cx="5429250" cy="4286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6CD06E-8FC1-495C-9B93-0E6F7A30042C}"/>
              </a:ext>
            </a:extLst>
          </p:cNvPr>
          <p:cNvSpPr>
            <a:spLocks xmlns:a="http://schemas.openxmlformats.org/drawingml/2006/main" noGrp="1"/>
          </p:cNvSpPr>
          <p:nvPr/>
        </p:nvSpPr>
        <p:spPr>
          <a:xfrm xmlns:a="http://schemas.openxmlformats.org/drawingml/2006/main">
            <a:off x="6191250" y="1543050"/>
            <a:ext cx="5600700" cy="4286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363782-92FE-4FEB-9BA8-546B59559F92}"/>
              </a:ext>
            </a:extLst>
          </p:cNvPr>
          <p:cNvSpPr>
            <a:spLocks xmlns:a="http://schemas.openxmlformats.org/drawingml/2006/main" noGrp="1"/>
          </p:cNvSpPr>
          <p:nvPr/>
        </p:nvSpPr>
        <p:spPr>
          <a:xfrm xmlns:a="http://schemas.openxmlformats.org/drawingml/2006/main">
            <a:off x="685800" y="1857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What local checks assume</a:t>
            </a:r>
          </a:p>
        </p:txBody>
      </p:sp>
      <p:sp>
        <p:nvSpPr>
          <p:cNvPr id="7" name="">
            <a:extLst xmlns:a="http://schemas.openxmlformats.org/drawingml/2006/main">
              <a:ext uri="{FF2B5EF4-FFF2-40B4-BE49-F238E27FC236}">
                <a16:creationId xmlns:a16="http://schemas.microsoft.com/office/drawing/2014/main" id="{57764050-A6DA-4B46-82A2-CAB2EC10E2FA}"/>
              </a:ext>
            </a:extLst>
          </p:cNvPr>
          <p:cNvSpPr>
            <a:spLocks xmlns:a="http://schemas.openxmlformats.org/drawingml/2006/main" noGrp="1"/>
          </p:cNvSpPr>
          <p:nvPr/>
        </p:nvSpPr>
        <p:spPr>
          <a:xfrm xmlns:a="http://schemas.openxmlformats.org/drawingml/2006/main">
            <a:off x="685800" y="2476500"/>
            <a:ext cx="46672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Agents can be evaluated independently</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Suspicious messages look suspicious</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Failures combine predictably</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Average performance is informative</a:t>
            </a:r>
          </a:p>
        </p:txBody>
      </p:sp>
      <p:sp>
        <p:nvSpPr>
          <p:cNvPr id="8" name="">
            <a:extLst xmlns:a="http://schemas.openxmlformats.org/drawingml/2006/main">
              <a:ext uri="{FF2B5EF4-FFF2-40B4-BE49-F238E27FC236}">
                <a16:creationId xmlns:a16="http://schemas.microsoft.com/office/drawing/2014/main" id="{B775A0DB-A5FB-4312-BFF3-AD6BAB917018}"/>
              </a:ext>
            </a:extLst>
          </p:cNvPr>
          <p:cNvSpPr>
            <a:spLocks xmlns:a="http://schemas.openxmlformats.org/drawingml/2006/main" noGrp="1"/>
          </p:cNvSpPr>
          <p:nvPr/>
        </p:nvSpPr>
        <p:spPr>
          <a:xfrm xmlns:a="http://schemas.openxmlformats.org/drawingml/2006/main">
            <a:off x="6496050" y="18573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What multi-agent systems add</a:t>
            </a:r>
          </a:p>
        </p:txBody>
      </p:sp>
      <p:sp>
        <p:nvSpPr>
          <p:cNvPr id="9" name="">
            <a:extLst xmlns:a="http://schemas.openxmlformats.org/drawingml/2006/main">
              <a:ext uri="{FF2B5EF4-FFF2-40B4-BE49-F238E27FC236}">
                <a16:creationId xmlns:a16="http://schemas.microsoft.com/office/drawing/2014/main" id="{E64D6E4E-7DEC-485C-B4D4-00B4FD5E6370}"/>
              </a:ext>
            </a:extLst>
          </p:cNvPr>
          <p:cNvSpPr>
            <a:spLocks xmlns:a="http://schemas.openxmlformats.org/drawingml/2006/main" noGrp="1"/>
          </p:cNvSpPr>
          <p:nvPr/>
        </p:nvSpPr>
        <p:spPr>
          <a:xfrm xmlns:a="http://schemas.openxmlformats.org/drawingml/2006/main">
            <a:off x="6496050" y="2476500"/>
            <a:ext cx="476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1. Harmless-looking steps can compose into harm.</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2. Coordination can move through messages, tools, memory, or timing.</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3. Several defenses can fail on the same trajectory.</a:t>
            </a:r>
          </a:p>
        </p:txBody>
      </p:sp>
      <p:sp>
        <p:nvSpPr>
          <p:cNvPr id="10" name="">
            <a:extLst xmlns:a="http://schemas.openxmlformats.org/drawingml/2006/main">
              <a:ext uri="{FF2B5EF4-FFF2-40B4-BE49-F238E27FC236}">
                <a16:creationId xmlns:a16="http://schemas.microsoft.com/office/drawing/2014/main" id="{8B5C5AC7-7E09-417E-8BE5-0A3A14555694}"/>
              </a:ext>
            </a:extLst>
          </p:cNvPr>
          <p:cNvSpPr>
            <a:spLocks xmlns:a="http://schemas.openxmlformats.org/drawingml/2006/main" noGrp="1"/>
          </p:cNvSpPr>
          <p:nvPr/>
        </p:nvSpPr>
        <p:spPr>
          <a:xfrm xmlns:a="http://schemas.openxmlformats.org/drawingml/2006/main">
            <a:off x="400050" y="601980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A63434"/>
                </a:solidFill>
                <a:latin typeface="Helvetica Neue"/>
                <a:ea typeface="Helvetica Neue"/>
                <a:cs typeface="Helvetica Neue"/>
              </a:defRPr>
            </a:pPr>
            <a:r>
              <a:rPr sz="1500" b="1">
                <a:solidFill>
                  <a:srgbClr val="A63434"/>
                </a:solidFill>
                <a:latin typeface="Helvetica Neue"/>
                <a:ea typeface="Helvetica Neue"/>
                <a:cs typeface="Helvetica Neue"/>
              </a:rPr>
              <a:t>Evaluate the whole trajectory: coalition, context, and consequence—not components alone.</a:t>
            </a:r>
          </a:p>
        </p:txBody>
      </p:sp>
    </p:spTree>
    <p:extLst>
      <p:ext uri="{BB962C8B-B14F-4D97-AF65-F5344CB8AC3E}">
        <p14:creationId xmlns:p14="http://schemas.microsoft.com/office/powerpoint/2010/main" val="18160911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26F9099C-0853-4127-A943-84671A9A3C33}"/>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2-title">
            <a:extLst xmlns:a="http://schemas.openxmlformats.org/drawingml/2006/main">
              <a:ext uri="{FF2B5EF4-FFF2-40B4-BE49-F238E27FC236}">
                <a16:creationId xmlns:a16="http://schemas.microsoft.com/office/drawing/2014/main" id="{C64C9AF2-450C-416F-BF2D-736C72B43656}"/>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Attack variation creates hard-to-see worst-case cells</a:t>
            </a:r>
          </a:p>
        </p:txBody>
      </p:sp>
      <p:sp>
        <p:nvSpPr>
          <p:cNvPr id="3" name="">
            <a:extLst xmlns:a="http://schemas.openxmlformats.org/drawingml/2006/main">
              <a:ext uri="{FF2B5EF4-FFF2-40B4-BE49-F238E27FC236}">
                <a16:creationId xmlns:a16="http://schemas.microsoft.com/office/drawing/2014/main" id="{6B8828D0-64AE-4CF2-9B1A-8A36EB632F9B}"/>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127BDB3-9CE1-48E3-833F-3C84ADFB6E8A}"/>
              </a:ext>
            </a:extLst>
          </p:cNvPr>
          <p:cNvSpPr>
            <a:spLocks xmlns:a="http://schemas.openxmlformats.org/drawingml/2006/main" noGrp="1"/>
          </p:cNvSpPr>
          <p:nvPr/>
        </p:nvSpPr>
        <p:spPr>
          <a:xfrm xmlns:a="http://schemas.openxmlformats.org/drawingml/2006/main">
            <a:off x="400050" y="138112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Section 3.3 separates attack categories from dimensions of variation. Security failures appear where adverse values combine.</a:t>
            </a:r>
          </a:p>
        </p:txBody>
      </p:sp>
      <p:sp>
        <p:nvSpPr>
          <p:cNvPr id="5" name="">
            <a:extLst xmlns:a="http://schemas.openxmlformats.org/drawingml/2006/main">
              <a:ext uri="{FF2B5EF4-FFF2-40B4-BE49-F238E27FC236}">
                <a16:creationId xmlns:a16="http://schemas.microsoft.com/office/drawing/2014/main" id="{A3DA942C-5803-40BF-99D2-B3060E3DC82F}"/>
              </a:ext>
            </a:extLst>
          </p:cNvPr>
          <p:cNvSpPr>
            <a:spLocks xmlns:a="http://schemas.openxmlformats.org/drawingml/2006/main" noGrp="1"/>
          </p:cNvSpPr>
          <p:nvPr/>
        </p:nvSpPr>
        <p:spPr>
          <a:xfrm xmlns:a="http://schemas.openxmlformats.org/drawingml/2006/main">
            <a:off x="400050" y="223837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Detectability</a:t>
            </a:r>
          </a:p>
        </p:txBody>
      </p:sp>
      <p:sp>
        <p:nvSpPr>
          <p:cNvPr id="6" name="">
            <a:extLst xmlns:a="http://schemas.openxmlformats.org/drawingml/2006/main">
              <a:ext uri="{FF2B5EF4-FFF2-40B4-BE49-F238E27FC236}">
                <a16:creationId xmlns:a16="http://schemas.microsoft.com/office/drawing/2014/main" id="{770E6606-A63A-4A64-BD78-345C67975B0E}"/>
              </a:ext>
            </a:extLst>
          </p:cNvPr>
          <p:cNvSpPr>
            <a:spLocks xmlns:a="http://schemas.openxmlformats.org/drawingml/2006/main" noGrp="1"/>
          </p:cNvSpPr>
          <p:nvPr/>
        </p:nvSpPr>
        <p:spPr>
          <a:xfrm xmlns:a="http://schemas.openxmlformats.org/drawingml/2006/main">
            <a:off x="2352675" y="224790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obvious signal → distribution-matched</a:t>
            </a:r>
          </a:p>
        </p:txBody>
      </p:sp>
      <p:cxnSp>
        <p:nvCxnSpPr>
          <p:cNvPr id="373" name=""/>
          <p:cNvCxnSpPr/>
          <p:nvPr/>
        </p:nvCxnSpPr>
        <p:spPr>
          <a:xfrm xmlns:a="http://schemas.openxmlformats.org/drawingml/2006/main">
            <a:off x="400050" y="290512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8" name="">
            <a:extLst xmlns:a="http://schemas.openxmlformats.org/drawingml/2006/main">
              <a:ext uri="{FF2B5EF4-FFF2-40B4-BE49-F238E27FC236}">
                <a16:creationId xmlns:a16="http://schemas.microsoft.com/office/drawing/2014/main" id="{D482E17F-FE5B-4B8F-B65C-4187B426CAB8}"/>
              </a:ext>
            </a:extLst>
          </p:cNvPr>
          <p:cNvSpPr>
            <a:spLocks xmlns:a="http://schemas.openxmlformats.org/drawingml/2006/main" noGrp="1"/>
          </p:cNvSpPr>
          <p:nvPr/>
        </p:nvSpPr>
        <p:spPr>
          <a:xfrm xmlns:a="http://schemas.openxmlformats.org/drawingml/2006/main">
            <a:off x="400050" y="317182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Locality</a:t>
            </a:r>
          </a:p>
        </p:txBody>
      </p:sp>
      <p:sp>
        <p:nvSpPr>
          <p:cNvPr id="9" name="">
            <a:extLst xmlns:a="http://schemas.openxmlformats.org/drawingml/2006/main">
              <a:ext uri="{FF2B5EF4-FFF2-40B4-BE49-F238E27FC236}">
                <a16:creationId xmlns:a16="http://schemas.microsoft.com/office/drawing/2014/main" id="{C5E8BB6E-6BDE-4FEA-B0BE-610B46DCD0CD}"/>
              </a:ext>
            </a:extLst>
          </p:cNvPr>
          <p:cNvSpPr>
            <a:spLocks xmlns:a="http://schemas.openxmlformats.org/drawingml/2006/main" noGrp="1"/>
          </p:cNvSpPr>
          <p:nvPr/>
        </p:nvSpPr>
        <p:spPr>
          <a:xfrm xmlns:a="http://schemas.openxmlformats.org/drawingml/2006/main">
            <a:off x="2352675" y="318135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one agent → coalition or whole graph</a:t>
            </a:r>
          </a:p>
        </p:txBody>
      </p:sp>
      <p:cxnSp>
        <p:nvCxnSpPr>
          <p:cNvPr id="376" name=""/>
          <p:cNvCxnSpPr/>
          <p:nvPr/>
        </p:nvCxnSpPr>
        <p:spPr>
          <a:xfrm xmlns:a="http://schemas.openxmlformats.org/drawingml/2006/main">
            <a:off x="400050" y="383857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11" name="">
            <a:extLst xmlns:a="http://schemas.openxmlformats.org/drawingml/2006/main">
              <a:ext uri="{FF2B5EF4-FFF2-40B4-BE49-F238E27FC236}">
                <a16:creationId xmlns:a16="http://schemas.microsoft.com/office/drawing/2014/main" id="{6E92639D-9DFB-4113-B817-996142A393BB}"/>
              </a:ext>
            </a:extLst>
          </p:cNvPr>
          <p:cNvSpPr>
            <a:spLocks xmlns:a="http://schemas.openxmlformats.org/drawingml/2006/main" noGrp="1"/>
          </p:cNvSpPr>
          <p:nvPr/>
        </p:nvSpPr>
        <p:spPr>
          <a:xfrm xmlns:a="http://schemas.openxmlformats.org/drawingml/2006/main">
            <a:off x="400050" y="410527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Cascading</a:t>
            </a:r>
          </a:p>
        </p:txBody>
      </p:sp>
      <p:sp>
        <p:nvSpPr>
          <p:cNvPr id="12" name="">
            <a:extLst xmlns:a="http://schemas.openxmlformats.org/drawingml/2006/main">
              <a:ext uri="{FF2B5EF4-FFF2-40B4-BE49-F238E27FC236}">
                <a16:creationId xmlns:a16="http://schemas.microsoft.com/office/drawing/2014/main" id="{2E86A434-AEE1-429F-82A0-838908E6FC70}"/>
              </a:ext>
            </a:extLst>
          </p:cNvPr>
          <p:cNvSpPr>
            <a:spLocks xmlns:a="http://schemas.openxmlformats.org/drawingml/2006/main" noGrp="1"/>
          </p:cNvSpPr>
          <p:nvPr/>
        </p:nvSpPr>
        <p:spPr>
          <a:xfrm xmlns:a="http://schemas.openxmlformats.org/drawingml/2006/main">
            <a:off x="2352675" y="411480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contained → propagating compromise</a:t>
            </a:r>
          </a:p>
        </p:txBody>
      </p:sp>
      <p:cxnSp>
        <p:nvCxnSpPr>
          <p:cNvPr id="379" name=""/>
          <p:cNvCxnSpPr/>
          <p:nvPr/>
        </p:nvCxnSpPr>
        <p:spPr>
          <a:xfrm xmlns:a="http://schemas.openxmlformats.org/drawingml/2006/main">
            <a:off x="400050" y="477202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14" name="">
            <a:extLst xmlns:a="http://schemas.openxmlformats.org/drawingml/2006/main">
              <a:ext uri="{FF2B5EF4-FFF2-40B4-BE49-F238E27FC236}">
                <a16:creationId xmlns:a16="http://schemas.microsoft.com/office/drawing/2014/main" id="{77E83C11-4523-404D-9AA5-534569B319C1}"/>
              </a:ext>
            </a:extLst>
          </p:cNvPr>
          <p:cNvSpPr>
            <a:spLocks xmlns:a="http://schemas.openxmlformats.org/drawingml/2006/main" noGrp="1"/>
          </p:cNvSpPr>
          <p:nvPr/>
        </p:nvSpPr>
        <p:spPr>
          <a:xfrm xmlns:a="http://schemas.openxmlformats.org/drawingml/2006/main">
            <a:off x="400050" y="503872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Composition</a:t>
            </a:r>
          </a:p>
        </p:txBody>
      </p:sp>
      <p:sp>
        <p:nvSpPr>
          <p:cNvPr id="15" name="">
            <a:extLst xmlns:a="http://schemas.openxmlformats.org/drawingml/2006/main">
              <a:ext uri="{FF2B5EF4-FFF2-40B4-BE49-F238E27FC236}">
                <a16:creationId xmlns:a16="http://schemas.microsoft.com/office/drawing/2014/main" id="{C04FE275-7992-4688-B0DE-38C0904BA311}"/>
              </a:ext>
            </a:extLst>
          </p:cNvPr>
          <p:cNvSpPr>
            <a:spLocks xmlns:a="http://schemas.openxmlformats.org/drawingml/2006/main" noGrp="1"/>
          </p:cNvSpPr>
          <p:nvPr/>
        </p:nvSpPr>
        <p:spPr>
          <a:xfrm xmlns:a="http://schemas.openxmlformats.org/drawingml/2006/main">
            <a:off x="2352675" y="504825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one action → harmless-looking multi-step chain</a:t>
            </a:r>
          </a:p>
        </p:txBody>
      </p:sp>
      <p:cxnSp>
        <p:nvCxnSpPr>
          <p:cNvPr id="382" name=""/>
          <p:cNvCxnSpPr/>
          <p:nvPr/>
        </p:nvCxnSpPr>
        <p:spPr>
          <a:xfrm xmlns:a="http://schemas.openxmlformats.org/drawingml/2006/main">
            <a:off x="400050" y="570547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17" name="">
            <a:extLst xmlns:a="http://schemas.openxmlformats.org/drawingml/2006/main">
              <a:ext uri="{FF2B5EF4-FFF2-40B4-BE49-F238E27FC236}">
                <a16:creationId xmlns:a16="http://schemas.microsoft.com/office/drawing/2014/main" id="{97536886-8946-4668-862F-F2C3339DC5C1}"/>
              </a:ext>
            </a:extLst>
          </p:cNvPr>
          <p:cNvSpPr>
            <a:spLocks xmlns:a="http://schemas.openxmlformats.org/drawingml/2006/main" noGrp="1"/>
          </p:cNvSpPr>
          <p:nvPr/>
        </p:nvSpPr>
        <p:spPr>
          <a:xfrm xmlns:a="http://schemas.openxmlformats.org/drawingml/2006/main">
            <a:off x="6210300" y="223837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Time horizon</a:t>
            </a:r>
          </a:p>
        </p:txBody>
      </p:sp>
      <p:sp>
        <p:nvSpPr>
          <p:cNvPr id="18" name="">
            <a:extLst xmlns:a="http://schemas.openxmlformats.org/drawingml/2006/main">
              <a:ext uri="{FF2B5EF4-FFF2-40B4-BE49-F238E27FC236}">
                <a16:creationId xmlns:a16="http://schemas.microsoft.com/office/drawing/2014/main" id="{3AA7B2CA-9108-4CFD-A862-542DD5103ACD}"/>
              </a:ext>
            </a:extLst>
          </p:cNvPr>
          <p:cNvSpPr>
            <a:spLocks xmlns:a="http://schemas.openxmlformats.org/drawingml/2006/main" noGrp="1"/>
          </p:cNvSpPr>
          <p:nvPr/>
        </p:nvSpPr>
        <p:spPr>
          <a:xfrm xmlns:a="http://schemas.openxmlformats.org/drawingml/2006/main">
            <a:off x="8162925" y="224790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one shot → deployment lifetime</a:t>
            </a:r>
          </a:p>
        </p:txBody>
      </p:sp>
      <p:cxnSp>
        <p:nvCxnSpPr>
          <p:cNvPr id="385" name=""/>
          <p:cNvCxnSpPr/>
          <p:nvPr/>
        </p:nvCxnSpPr>
        <p:spPr>
          <a:xfrm xmlns:a="http://schemas.openxmlformats.org/drawingml/2006/main">
            <a:off x="6210300" y="290512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20" name="">
            <a:extLst xmlns:a="http://schemas.openxmlformats.org/drawingml/2006/main">
              <a:ext uri="{FF2B5EF4-FFF2-40B4-BE49-F238E27FC236}">
                <a16:creationId xmlns:a16="http://schemas.microsoft.com/office/drawing/2014/main" id="{58F9C697-E14C-464E-AF35-6640827948D9}"/>
              </a:ext>
            </a:extLst>
          </p:cNvPr>
          <p:cNvSpPr>
            <a:spLocks xmlns:a="http://schemas.openxmlformats.org/drawingml/2006/main" noGrp="1"/>
          </p:cNvSpPr>
          <p:nvPr/>
        </p:nvSpPr>
        <p:spPr>
          <a:xfrm xmlns:a="http://schemas.openxmlformats.org/drawingml/2006/main">
            <a:off x="6210300" y="317182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Attributability</a:t>
            </a:r>
          </a:p>
        </p:txBody>
      </p:sp>
      <p:sp>
        <p:nvSpPr>
          <p:cNvPr id="21" name="">
            <a:extLst xmlns:a="http://schemas.openxmlformats.org/drawingml/2006/main">
              <a:ext uri="{FF2B5EF4-FFF2-40B4-BE49-F238E27FC236}">
                <a16:creationId xmlns:a16="http://schemas.microsoft.com/office/drawing/2014/main" id="{6C038FBD-DA15-40EB-8BBB-B6793AF2AA10}"/>
              </a:ext>
            </a:extLst>
          </p:cNvPr>
          <p:cNvSpPr>
            <a:spLocks xmlns:a="http://schemas.openxmlformats.org/drawingml/2006/main" noGrp="1"/>
          </p:cNvSpPr>
          <p:nvPr/>
        </p:nvSpPr>
        <p:spPr>
          <a:xfrm xmlns:a="http://schemas.openxmlformats.org/drawingml/2006/main">
            <a:off x="8162925" y="318135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traceable actor → degraded lineage</a:t>
            </a:r>
          </a:p>
        </p:txBody>
      </p:sp>
      <p:cxnSp>
        <p:nvCxnSpPr>
          <p:cNvPr id="388" name=""/>
          <p:cNvCxnSpPr/>
          <p:nvPr/>
        </p:nvCxnSpPr>
        <p:spPr>
          <a:xfrm xmlns:a="http://schemas.openxmlformats.org/drawingml/2006/main">
            <a:off x="6210300" y="383857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23" name="">
            <a:extLst xmlns:a="http://schemas.openxmlformats.org/drawingml/2006/main">
              <a:ext uri="{FF2B5EF4-FFF2-40B4-BE49-F238E27FC236}">
                <a16:creationId xmlns:a16="http://schemas.microsoft.com/office/drawing/2014/main" id="{893C0994-C306-4A4F-B1A3-E67CB9636448}"/>
              </a:ext>
            </a:extLst>
          </p:cNvPr>
          <p:cNvSpPr>
            <a:spLocks xmlns:a="http://schemas.openxmlformats.org/drawingml/2006/main" noGrp="1"/>
          </p:cNvSpPr>
          <p:nvPr/>
        </p:nvSpPr>
        <p:spPr>
          <a:xfrm xmlns:a="http://schemas.openxmlformats.org/drawingml/2006/main">
            <a:off x="6210300" y="410527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Directness</a:t>
            </a:r>
          </a:p>
        </p:txBody>
      </p:sp>
      <p:sp>
        <p:nvSpPr>
          <p:cNvPr id="24" name="">
            <a:extLst xmlns:a="http://schemas.openxmlformats.org/drawingml/2006/main">
              <a:ext uri="{FF2B5EF4-FFF2-40B4-BE49-F238E27FC236}">
                <a16:creationId xmlns:a16="http://schemas.microsoft.com/office/drawing/2014/main" id="{C6570AA6-5AD7-408A-9559-FE035A8AE49B}"/>
              </a:ext>
            </a:extLst>
          </p:cNvPr>
          <p:cNvSpPr>
            <a:spLocks xmlns:a="http://schemas.openxmlformats.org/drawingml/2006/main" noGrp="1"/>
          </p:cNvSpPr>
          <p:nvPr/>
        </p:nvSpPr>
        <p:spPr>
          <a:xfrm xmlns:a="http://schemas.openxmlformats.org/drawingml/2006/main">
            <a:off x="8162925" y="411480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explicit attacker → emergent harm</a:t>
            </a:r>
          </a:p>
        </p:txBody>
      </p:sp>
      <p:cxnSp>
        <p:nvCxnSpPr>
          <p:cNvPr id="391" name=""/>
          <p:cNvCxnSpPr/>
          <p:nvPr/>
        </p:nvCxnSpPr>
        <p:spPr>
          <a:xfrm xmlns:a="http://schemas.openxmlformats.org/drawingml/2006/main">
            <a:off x="6210300" y="477202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26" name="">
            <a:extLst xmlns:a="http://schemas.openxmlformats.org/drawingml/2006/main">
              <a:ext uri="{FF2B5EF4-FFF2-40B4-BE49-F238E27FC236}">
                <a16:creationId xmlns:a16="http://schemas.microsoft.com/office/drawing/2014/main" id="{4622504A-45F0-4DA1-9FBF-264614677840}"/>
              </a:ext>
            </a:extLst>
          </p:cNvPr>
          <p:cNvSpPr>
            <a:spLocks xmlns:a="http://schemas.openxmlformats.org/drawingml/2006/main" noGrp="1"/>
          </p:cNvSpPr>
          <p:nvPr/>
        </p:nvSpPr>
        <p:spPr>
          <a:xfrm xmlns:a="http://schemas.openxmlformats.org/drawingml/2006/main">
            <a:off x="6210300" y="5038725"/>
            <a:ext cx="180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000000"/>
                </a:solidFill>
                <a:latin typeface="Helvetica Neue"/>
                <a:ea typeface="Helvetica Neue"/>
                <a:cs typeface="Helvetica Neue"/>
              </a:defRPr>
            </a:pPr>
            <a:r>
              <a:rPr sz="1725" b="1">
                <a:solidFill>
                  <a:srgbClr val="000000"/>
                </a:solidFill>
                <a:latin typeface="Helvetica Neue"/>
                <a:ea typeface="Helvetica Neue"/>
                <a:cs typeface="Helvetica Neue"/>
              </a:rPr>
              <a:t>Reversibility</a:t>
            </a:r>
          </a:p>
        </p:txBody>
      </p:sp>
      <p:sp>
        <p:nvSpPr>
          <p:cNvPr id="27" name="">
            <a:extLst xmlns:a="http://schemas.openxmlformats.org/drawingml/2006/main">
              <a:ext uri="{FF2B5EF4-FFF2-40B4-BE49-F238E27FC236}">
                <a16:creationId xmlns:a16="http://schemas.microsoft.com/office/drawing/2014/main" id="{EC7566D9-FFEF-4AC0-8A0C-353EB742DD11}"/>
              </a:ext>
            </a:extLst>
          </p:cNvPr>
          <p:cNvSpPr>
            <a:spLocks xmlns:a="http://schemas.openxmlformats.org/drawingml/2006/main" noGrp="1"/>
          </p:cNvSpPr>
          <p:nvPr/>
        </p:nvSpPr>
        <p:spPr>
          <a:xfrm xmlns:a="http://schemas.openxmlformats.org/drawingml/2006/main">
            <a:off x="8162925" y="5048250"/>
            <a:ext cx="3619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rollback → irreversible consequence</a:t>
            </a:r>
          </a:p>
        </p:txBody>
      </p:sp>
      <p:cxnSp>
        <p:nvCxnSpPr>
          <p:cNvPr id="394" name=""/>
          <p:cNvCxnSpPr/>
          <p:nvPr/>
        </p:nvCxnSpPr>
        <p:spPr>
          <a:xfrm xmlns:a="http://schemas.openxmlformats.org/drawingml/2006/main">
            <a:off x="6210300" y="5705475"/>
            <a:ext cx="5381625" cy="0"/>
          </a:xfrm>
          <a:prstGeom xmlns:a="http://schemas.openxmlformats.org/drawingml/2006/main" prst="straightConnector1">
            <a:avLst/>
          </a:prstGeom>
          <a:ln xmlns:a="http://schemas.openxmlformats.org/drawingml/2006/main" w="9525">
            <a:solidFill>
              <a:srgbClr val="B8BCC4"/>
            </a:solidFill>
            <a:prstDash val="solid"/>
          </a:ln>
        </p:spPr>
      </p:cxnSp>
      <p:sp>
        <p:nvSpPr>
          <p:cNvPr id="29" name="">
            <a:extLst xmlns:a="http://schemas.openxmlformats.org/drawingml/2006/main">
              <a:ext uri="{FF2B5EF4-FFF2-40B4-BE49-F238E27FC236}">
                <a16:creationId xmlns:a16="http://schemas.microsoft.com/office/drawing/2014/main" id="{5111AFF5-A4DF-4748-9178-36D3F5F4F42E}"/>
              </a:ext>
            </a:extLst>
          </p:cNvPr>
          <p:cNvSpPr>
            <a:spLocks xmlns:a="http://schemas.openxmlformats.org/drawingml/2006/main" noGrp="1"/>
          </p:cNvSpPr>
          <p:nvPr/>
        </p:nvSpPr>
        <p:spPr>
          <a:xfrm xmlns:a="http://schemas.openxmlformats.org/drawingml/2006/main">
            <a:off x="400050" y="6067425"/>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3D8DFF"/>
                </a:solidFill>
                <a:latin typeface="Helvetica Neue"/>
                <a:ea typeface="Helvetica Neue"/>
                <a:cs typeface="Helvetica Neue"/>
              </a:defRPr>
            </a:pPr>
            <a:r>
              <a:rPr sz="1500" b="1">
                <a:solidFill>
                  <a:srgbClr val="3D8DFF"/>
                </a:solidFill>
                <a:latin typeface="Helvetica Neue"/>
                <a:ea typeface="Helvetica Neue"/>
                <a:cs typeface="Helvetica Neue"/>
              </a:rPr>
              <a:t>Design implication</a:t>
            </a:r>
          </a:p>
        </p:txBody>
      </p:sp>
      <p:sp>
        <p:nvSpPr>
          <p:cNvPr id="30" name="">
            <a:extLst xmlns:a="http://schemas.openxmlformats.org/drawingml/2006/main">
              <a:ext uri="{FF2B5EF4-FFF2-40B4-BE49-F238E27FC236}">
                <a16:creationId xmlns:a16="http://schemas.microsoft.com/office/drawing/2014/main" id="{5101A019-9594-44F2-B29F-330A98A7D83E}"/>
              </a:ext>
            </a:extLst>
          </p:cNvPr>
          <p:cNvSpPr>
            <a:spLocks xmlns:a="http://schemas.openxmlformats.org/drawingml/2006/main" noGrp="1"/>
          </p:cNvSpPr>
          <p:nvPr/>
        </p:nvSpPr>
        <p:spPr>
          <a:xfrm xmlns:a="http://schemas.openxmlformats.org/drawingml/2006/main">
            <a:off x="2400300" y="6067425"/>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Optimize the worst conditional cell—not the pooled average.</a:t>
            </a:r>
          </a:p>
        </p:txBody>
      </p:sp>
    </p:spTree>
    <p:extLst>
      <p:ext uri="{BB962C8B-B14F-4D97-AF65-F5344CB8AC3E}">
        <p14:creationId xmlns:p14="http://schemas.microsoft.com/office/powerpoint/2010/main" val="118100183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F5E479-F304-43E0-9DD7-6ECE0BB1B711}"/>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4-title">
            <a:extLst xmlns:a="http://schemas.openxmlformats.org/drawingml/2006/main">
              <a:ext uri="{FF2B5EF4-FFF2-40B4-BE49-F238E27FC236}">
                <a16:creationId xmlns:a16="http://schemas.microsoft.com/office/drawing/2014/main" id="{75D1F63C-9327-4B72-9129-8688169032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Four mechanisms defeat different defense surfaces</a:t>
            </a:r>
          </a:p>
        </p:txBody>
      </p:sp>
      <p:sp>
        <p:nvSpPr>
          <p:cNvPr id="3" name="">
            <a:extLst xmlns:a="http://schemas.openxmlformats.org/drawingml/2006/main">
              <a:ext uri="{FF2B5EF4-FFF2-40B4-BE49-F238E27FC236}">
                <a16:creationId xmlns:a16="http://schemas.microsoft.com/office/drawing/2014/main" id="{C457683D-8C23-4AC2-AA5B-ED38921DB86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A5BDC0CE-0622-4406-9B4F-98CF1B3429E7}"/>
              </a:ext>
            </a:extLst>
          </p:cNvPr>
          <p:cNvSpPr>
            <a:spLocks xmlns:a="http://schemas.openxmlformats.org/drawingml/2006/main" noGrp="1"/>
          </p:cNvSpPr>
          <p:nvPr/>
        </p:nvSpPr>
        <p:spPr>
          <a:xfrm xmlns:a="http://schemas.openxmlformats.org/drawingml/2006/main">
            <a:off x="400050" y="1543050"/>
            <a:ext cx="5429250" cy="4286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6CD06E-8FC1-495C-9B93-0E6F7A30042C}"/>
              </a:ext>
            </a:extLst>
          </p:cNvPr>
          <p:cNvSpPr>
            <a:spLocks xmlns:a="http://schemas.openxmlformats.org/drawingml/2006/main" noGrp="1"/>
          </p:cNvSpPr>
          <p:nvPr/>
        </p:nvSpPr>
        <p:spPr>
          <a:xfrm xmlns:a="http://schemas.openxmlformats.org/drawingml/2006/main">
            <a:off x="6191250" y="1543050"/>
            <a:ext cx="5600700" cy="4286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363782-92FE-4FEB-9BA8-546B59559F92}"/>
              </a:ext>
            </a:extLst>
          </p:cNvPr>
          <p:cNvSpPr>
            <a:spLocks xmlns:a="http://schemas.openxmlformats.org/drawingml/2006/main" noGrp="1"/>
          </p:cNvSpPr>
          <p:nvPr/>
        </p:nvSpPr>
        <p:spPr>
          <a:xfrm xmlns:a="http://schemas.openxmlformats.org/drawingml/2006/main">
            <a:off x="685800" y="1857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Covert coordination</a:t>
            </a:r>
          </a:p>
        </p:txBody>
      </p:sp>
      <p:sp>
        <p:nvSpPr>
          <p:cNvPr id="7" name="">
            <a:extLst xmlns:a="http://schemas.openxmlformats.org/drawingml/2006/main">
              <a:ext uri="{FF2B5EF4-FFF2-40B4-BE49-F238E27FC236}">
                <a16:creationId xmlns:a16="http://schemas.microsoft.com/office/drawing/2014/main" id="{57764050-A6DA-4B46-82A2-CAB2EC10E2FA}"/>
              </a:ext>
            </a:extLst>
          </p:cNvPr>
          <p:cNvSpPr>
            <a:spLocks xmlns:a="http://schemas.openxmlformats.org/drawingml/2006/main" noGrp="1"/>
          </p:cNvSpPr>
          <p:nvPr/>
        </p:nvSpPr>
        <p:spPr>
          <a:xfrm xmlns:a="http://schemas.openxmlformats.org/drawingml/2006/main">
            <a:off x="685800" y="2476500"/>
            <a:ext cx="46672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Overt or semantic collusion</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Steganography and distribution matching</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Shared memory, tools, or scratchpads</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Delayed or low-rate signaling</a:t>
            </a:r>
          </a:p>
        </p:txBody>
      </p:sp>
      <p:sp>
        <p:nvSpPr>
          <p:cNvPr id="8" name="">
            <a:extLst xmlns:a="http://schemas.openxmlformats.org/drawingml/2006/main">
              <a:ext uri="{FF2B5EF4-FFF2-40B4-BE49-F238E27FC236}">
                <a16:creationId xmlns:a16="http://schemas.microsoft.com/office/drawing/2014/main" id="{B775A0DB-A5FB-4312-BFF3-AD6BAB917018}"/>
              </a:ext>
            </a:extLst>
          </p:cNvPr>
          <p:cNvSpPr>
            <a:spLocks xmlns:a="http://schemas.openxmlformats.org/drawingml/2006/main" noGrp="1"/>
          </p:cNvSpPr>
          <p:nvPr/>
        </p:nvSpPr>
        <p:spPr>
          <a:xfrm xmlns:a="http://schemas.openxmlformats.org/drawingml/2006/main">
            <a:off x="6496050" y="18573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Compositional system attacks</a:t>
            </a:r>
          </a:p>
        </p:txBody>
      </p:sp>
      <p:sp>
        <p:nvSpPr>
          <p:cNvPr id="9" name="">
            <a:extLst xmlns:a="http://schemas.openxmlformats.org/drawingml/2006/main">
              <a:ext uri="{FF2B5EF4-FFF2-40B4-BE49-F238E27FC236}">
                <a16:creationId xmlns:a16="http://schemas.microsoft.com/office/drawing/2014/main" id="{E64D6E4E-7DEC-485C-B4D4-00B4FD5E6370}"/>
              </a:ext>
            </a:extLst>
          </p:cNvPr>
          <p:cNvSpPr>
            <a:spLocks xmlns:a="http://schemas.openxmlformats.org/drawingml/2006/main" noGrp="1"/>
          </p:cNvSpPr>
          <p:nvPr/>
        </p:nvSpPr>
        <p:spPr>
          <a:xfrm xmlns:a="http://schemas.openxmlformats.org/drawingml/2006/main">
            <a:off x="6496050" y="2476500"/>
            <a:ext cx="476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1. Heterogeneous task decomposition</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2. Locally acceptable multi-step workflows</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3. Cascading compromise and irreversible actions</a:t>
            </a:r>
          </a:p>
        </p:txBody>
      </p:sp>
      <p:sp>
        <p:nvSpPr>
          <p:cNvPr id="10" name="">
            <a:extLst xmlns:a="http://schemas.openxmlformats.org/drawingml/2006/main">
              <a:ext uri="{FF2B5EF4-FFF2-40B4-BE49-F238E27FC236}">
                <a16:creationId xmlns:a16="http://schemas.microsoft.com/office/drawing/2014/main" id="{8B5C5AC7-7E09-417E-8BE5-0A3A14555694}"/>
              </a:ext>
            </a:extLst>
          </p:cNvPr>
          <p:cNvSpPr>
            <a:spLocks xmlns:a="http://schemas.openxmlformats.org/drawingml/2006/main" noGrp="1"/>
          </p:cNvSpPr>
          <p:nvPr/>
        </p:nvSpPr>
        <p:spPr>
          <a:xfrm xmlns:a="http://schemas.openxmlformats.org/drawingml/2006/main">
            <a:off x="400050" y="601980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A63434"/>
                </a:solidFill>
                <a:latin typeface="Helvetica Neue"/>
                <a:ea typeface="Helvetica Neue"/>
                <a:cs typeface="Helvetica Neue"/>
              </a:defRPr>
            </a:pPr>
            <a:r>
              <a:rPr sz="1500" b="1">
                <a:solidFill>
                  <a:srgbClr val="A63434"/>
                </a:solidFill>
                <a:latin typeface="Helvetica Neue"/>
                <a:ea typeface="Helvetica Neue"/>
                <a:cs typeface="Helvetica Neue"/>
              </a:rPr>
              <a:t>The same eight attack dimensions vary every mechanism.</a:t>
            </a:r>
          </a:p>
        </p:txBody>
      </p:sp>
    </p:spTree>
    <p:extLst>
      <p:ext uri="{BB962C8B-B14F-4D97-AF65-F5344CB8AC3E}">
        <p14:creationId xmlns:p14="http://schemas.microsoft.com/office/powerpoint/2010/main" val="18160911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F5E479-F304-43E0-9DD7-6ECE0BB1B711}"/>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4-title">
            <a:extLst xmlns:a="http://schemas.openxmlformats.org/drawingml/2006/main">
              <a:ext uri="{FF2B5EF4-FFF2-40B4-BE49-F238E27FC236}">
                <a16:creationId xmlns:a16="http://schemas.microsoft.com/office/drawing/2014/main" id="{75D1F63C-9327-4B72-9129-8688169032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Six terms make the defense objective readable</a:t>
            </a:r>
          </a:p>
        </p:txBody>
      </p:sp>
      <p:sp>
        <p:nvSpPr>
          <p:cNvPr id="3" name="">
            <a:extLst xmlns:a="http://schemas.openxmlformats.org/drawingml/2006/main">
              <a:ext uri="{FF2B5EF4-FFF2-40B4-BE49-F238E27FC236}">
                <a16:creationId xmlns:a16="http://schemas.microsoft.com/office/drawing/2014/main" id="{C457683D-8C23-4AC2-AA5B-ED38921DB86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A5BDC0CE-0622-4406-9B4F-98CF1B3429E7}"/>
              </a:ext>
            </a:extLst>
          </p:cNvPr>
          <p:cNvSpPr>
            <a:spLocks xmlns:a="http://schemas.openxmlformats.org/drawingml/2006/main" noGrp="1"/>
          </p:cNvSpPr>
          <p:nvPr/>
        </p:nvSpPr>
        <p:spPr>
          <a:xfrm xmlns:a="http://schemas.openxmlformats.org/drawingml/2006/main">
            <a:off x="400050" y="1543050"/>
            <a:ext cx="5429250" cy="4286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6CD06E-8FC1-495C-9B93-0E6F7A30042C}"/>
              </a:ext>
            </a:extLst>
          </p:cNvPr>
          <p:cNvSpPr>
            <a:spLocks xmlns:a="http://schemas.openxmlformats.org/drawingml/2006/main" noGrp="1"/>
          </p:cNvSpPr>
          <p:nvPr/>
        </p:nvSpPr>
        <p:spPr>
          <a:xfrm xmlns:a="http://schemas.openxmlformats.org/drawingml/2006/main">
            <a:off x="6191250" y="1543050"/>
            <a:ext cx="5600700" cy="4286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363782-92FE-4FEB-9BA8-546B59559F92}"/>
              </a:ext>
            </a:extLst>
          </p:cNvPr>
          <p:cNvSpPr>
            <a:spLocks xmlns:a="http://schemas.openxmlformats.org/drawingml/2006/main" noGrp="1"/>
          </p:cNvSpPr>
          <p:nvPr/>
        </p:nvSpPr>
        <p:spPr>
          <a:xfrm xmlns:a="http://schemas.openxmlformats.org/drawingml/2006/main">
            <a:off x="685800" y="1857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Objects in the objective</a:t>
            </a:r>
          </a:p>
        </p:txBody>
      </p:sp>
      <p:sp>
        <p:nvSpPr>
          <p:cNvPr id="7" name="">
            <a:extLst xmlns:a="http://schemas.openxmlformats.org/drawingml/2006/main">
              <a:ext uri="{FF2B5EF4-FFF2-40B4-BE49-F238E27FC236}">
                <a16:creationId xmlns:a16="http://schemas.microsoft.com/office/drawing/2014/main" id="{57764050-A6DA-4B46-82A2-CAB2EC10E2FA}"/>
              </a:ext>
            </a:extLst>
          </p:cNvPr>
          <p:cNvSpPr>
            <a:spLocks xmlns:a="http://schemas.openxmlformats.org/drawingml/2006/main" noGrp="1"/>
          </p:cNvSpPr>
          <p:nvPr/>
        </p:nvSpPr>
        <p:spPr>
          <a:xfrm xmlns:a="http://schemas.openxmlformats.org/drawingml/2006/main">
            <a:off x="685800" y="2476500"/>
            <a:ext cx="46672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Attack cell (g): one registered combination of attack dimensions and deployment conditions</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Defense stack (π): mediators, monitors, checks, and repairs evaluated together</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Utility floor U(π) ≥ u_min: minimum task performance a defense must preserve</a:t>
            </a:r>
          </a:p>
        </p:txBody>
      </p:sp>
      <p:sp>
        <p:nvSpPr>
          <p:cNvPr id="8" name="">
            <a:extLst xmlns:a="http://schemas.openxmlformats.org/drawingml/2006/main">
              <a:ext uri="{FF2B5EF4-FFF2-40B4-BE49-F238E27FC236}">
                <a16:creationId xmlns:a16="http://schemas.microsoft.com/office/drawing/2014/main" id="{B775A0DB-A5FB-4312-BFF3-AD6BAB917018}"/>
              </a:ext>
            </a:extLst>
          </p:cNvPr>
          <p:cNvSpPr>
            <a:spLocks xmlns:a="http://schemas.openxmlformats.org/drawingml/2006/main" noGrp="1"/>
          </p:cNvSpPr>
          <p:nvPr/>
        </p:nvSpPr>
        <p:spPr>
          <a:xfrm xmlns:a="http://schemas.openxmlformats.org/drawingml/2006/main">
            <a:off x="6496050" y="18573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Risk and adaptation</a:t>
            </a:r>
          </a:p>
        </p:txBody>
      </p:sp>
      <p:sp>
        <p:nvSpPr>
          <p:cNvPr id="9" name="">
            <a:extLst xmlns:a="http://schemas.openxmlformats.org/drawingml/2006/main">
              <a:ext uri="{FF2B5EF4-FFF2-40B4-BE49-F238E27FC236}">
                <a16:creationId xmlns:a16="http://schemas.microsoft.com/office/drawing/2014/main" id="{E64D6E4E-7DEC-485C-B4D4-00B4FD5E6370}"/>
              </a:ext>
            </a:extLst>
          </p:cNvPr>
          <p:cNvSpPr>
            <a:spLocks xmlns:a="http://schemas.openxmlformats.org/drawingml/2006/main" noGrp="1"/>
          </p:cNvSpPr>
          <p:nvPr/>
        </p:nvSpPr>
        <p:spPr>
          <a:xfrm xmlns:a="http://schemas.openxmlformats.org/drawingml/2006/main">
            <a:off x="6496050" y="2476500"/>
            <a:ext cx="476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Tail risk / CVaR10%: mean loss in the worst 10% within one attack cell</a:t>
            </a:r>
          </a:p>
          <a:p xmlns:a="http://schemas.openxmlformats.org/drawingml/2006/main">
            <a:pPr>
              <a:buNone/>
              <a:defRPr sz="1650" b="0">
                <a:solidFill>
                  <a:srgbClr val="5D636D"/>
                </a:solidFill>
              </a:defRPr>
            </a:pPr>
            <a:r>
              <a:rPr sz="1650" b="0">
                <a:solidFill>
                  <a:srgbClr val="5D636D"/>
                </a:solidFill>
              </a:rPr>
              <a:t>• Failure diversity (Γ): non-overlap between matched defense bypass sets</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Best response BR(π,g): attacker re-optimized against that stack and cell</a:t>
            </a:r>
          </a:p>
        </p:txBody>
      </p:sp>
      <p:sp>
        <p:nvSpPr>
          <p:cNvPr id="10" name="">
            <a:extLst xmlns:a="http://schemas.openxmlformats.org/drawingml/2006/main">
              <a:ext uri="{FF2B5EF4-FFF2-40B4-BE49-F238E27FC236}">
                <a16:creationId xmlns:a16="http://schemas.microsoft.com/office/drawing/2014/main" id="{8B5C5AC7-7E09-417E-8BE5-0A3A14555694}"/>
              </a:ext>
            </a:extLst>
          </p:cNvPr>
          <p:cNvSpPr>
            <a:spLocks xmlns:a="http://schemas.openxmlformats.org/drawingml/2006/main" noGrp="1"/>
          </p:cNvSpPr>
          <p:nvPr/>
        </p:nvSpPr>
        <p:spPr>
          <a:xfrm xmlns:a="http://schemas.openxmlformats.org/drawingml/2006/main">
            <a:off x="400050" y="601980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A63434"/>
                </a:solidFill>
                <a:latin typeface="Helvetica Neue"/>
                <a:ea typeface="Helvetica Neue"/>
                <a:cs typeface="Helvetica Neue"/>
              </a:defRPr>
            </a:pPr>
            <a:r>
              <a:rPr sz="1500" b="1">
                <a:solidFill>
                  <a:srgbClr val="A63434"/>
                </a:solidFill>
                <a:latin typeface="Helvetica Neue"/>
                <a:ea typeface="Helvetica Neue"/>
                <a:cs typeface="Helvetica Neue"/>
              </a:rPr>
              <a:t>Interaction gap tracks enforcement effects; before-harm means intervention precedes irreversible consequence.</a:t>
            </a:r>
          </a:p>
        </p:txBody>
      </p:sp>
    </p:spTree>
    <p:extLst>
      <p:ext uri="{BB962C8B-B14F-4D97-AF65-F5344CB8AC3E}">
        <p14:creationId xmlns:p14="http://schemas.microsoft.com/office/powerpoint/2010/main" val="18160911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4848647-FB61-4778-9EC2-3A58A81DFCD3}"/>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3-title">
            <a:extLst xmlns:a="http://schemas.openxmlformats.org/drawingml/2006/main">
              <a:ext uri="{FF2B5EF4-FFF2-40B4-BE49-F238E27FC236}">
                <a16:creationId xmlns:a16="http://schemas.microsoft.com/office/drawing/2014/main" id="{80917119-A4B0-4A44-B08A-E16727614702}"/>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Minimize worst-cell tail loss without destroying utility</a:t>
            </a:r>
          </a:p>
        </p:txBody>
      </p:sp>
      <p:sp>
        <p:nvSpPr>
          <p:cNvPr id="3" name="">
            <a:extLst xmlns:a="http://schemas.openxmlformats.org/drawingml/2006/main">
              <a:ext uri="{FF2B5EF4-FFF2-40B4-BE49-F238E27FC236}">
                <a16:creationId xmlns:a16="http://schemas.microsoft.com/office/drawing/2014/main" id="{BEDE2EBA-D36D-49AB-8187-2FDB10017724}"/>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DCF1168C-9623-4937-A5F9-695B64D72F98}"/>
              </a:ext>
            </a:extLst>
          </p:cNvPr>
          <p:cNvSpPr>
            <a:spLocks xmlns:a="http://schemas.openxmlformats.org/drawingml/2006/main" noGrp="1"/>
          </p:cNvSpPr>
          <p:nvPr/>
        </p:nvSpPr>
        <p:spPr>
          <a:xfrm xmlns:a="http://schemas.openxmlformats.org/drawingml/2006/main">
            <a:off x="400050" y="1524000"/>
            <a:ext cx="11391900" cy="1428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C293257-CBDE-47AB-AF4B-960321F12C27}"/>
              </a:ext>
            </a:extLst>
          </p:cNvPr>
          <p:cNvSpPr>
            <a:spLocks xmlns:a="http://schemas.openxmlformats.org/drawingml/2006/main" noGrp="1"/>
          </p:cNvSpPr>
          <p:nvPr/>
        </p:nvSpPr>
        <p:spPr>
          <a:xfrm xmlns:a="http://schemas.openxmlformats.org/drawingml/2006/main">
            <a:off x="704850" y="1838325"/>
            <a:ext cx="1076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550" b="1">
                <a:solidFill>
                  <a:srgbClr val="000000"/>
                </a:solidFill>
                <a:latin typeface="Helvetica Neue"/>
                <a:ea typeface="Helvetica Neue"/>
                <a:cs typeface="Helvetica Neue"/>
              </a:defRPr>
            </a:pPr>
            <a:r>
              <a:rPr sz="2550" b="1">
                <a:solidFill>
                  <a:srgbClr val="000000"/>
                </a:solidFill>
                <a:latin typeface="Helvetica Neue"/>
                <a:ea typeface="Helvetica Neue"/>
                <a:cs typeface="Helvetica Neue"/>
              </a:rPr>
              <a:t>π* = arg minπ  maxg UCB[CVaR10%(L | g, BR(π,g))]</a:t>
            </a:r>
          </a:p>
        </p:txBody>
      </p:sp>
      <p:sp>
        <p:nvSpPr>
          <p:cNvPr id="6" name="">
            <a:extLst xmlns:a="http://schemas.openxmlformats.org/drawingml/2006/main">
              <a:ext uri="{FF2B5EF4-FFF2-40B4-BE49-F238E27FC236}">
                <a16:creationId xmlns:a16="http://schemas.microsoft.com/office/drawing/2014/main" id="{F407BEC2-BC3B-478F-A276-D0E9C5EFEAA9}"/>
              </a:ext>
            </a:extLst>
          </p:cNvPr>
          <p:cNvSpPr>
            <a:spLocks xmlns:a="http://schemas.openxmlformats.org/drawingml/2006/main" noGrp="1"/>
          </p:cNvSpPr>
          <p:nvPr/>
        </p:nvSpPr>
        <p:spPr>
          <a:xfrm xmlns:a="http://schemas.openxmlformats.org/drawingml/2006/main">
            <a:off x="1714500" y="2457450"/>
            <a:ext cx="876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subject to U(π) ≥ u_min and operational constraints; select on validation data</a:t>
            </a:r>
          </a:p>
        </p:txBody>
      </p:sp>
      <p:sp>
        <p:nvSpPr>
          <p:cNvPr id="7" name="">
            <a:extLst xmlns:a="http://schemas.openxmlformats.org/drawingml/2006/main">
              <a:ext uri="{FF2B5EF4-FFF2-40B4-BE49-F238E27FC236}">
                <a16:creationId xmlns:a16="http://schemas.microsoft.com/office/drawing/2014/main" id="{2253CCCC-5864-40E5-8EAC-3BA32BDB17E3}"/>
              </a:ext>
            </a:extLst>
          </p:cNvPr>
          <p:cNvSpPr>
            <a:spLocks xmlns:a="http://schemas.openxmlformats.org/drawingml/2006/main" noGrp="1"/>
          </p:cNvSpPr>
          <p:nvPr/>
        </p:nvSpPr>
        <p:spPr>
          <a:xfrm xmlns:a="http://schemas.openxmlformats.org/drawingml/2006/main">
            <a:off x="400050" y="3333750"/>
            <a:ext cx="3476625" cy="233362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E03F6CD-9259-4F54-812A-FFB39B485E15}"/>
              </a:ext>
            </a:extLst>
          </p:cNvPr>
          <p:cNvSpPr>
            <a:spLocks xmlns:a="http://schemas.openxmlformats.org/drawingml/2006/main" noGrp="1"/>
          </p:cNvSpPr>
          <p:nvPr/>
        </p:nvSpPr>
        <p:spPr>
          <a:xfrm xmlns:a="http://schemas.openxmlformats.org/drawingml/2006/main">
            <a:off x="400050" y="3333750"/>
            <a:ext cx="95250" cy="233362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06367CB-2A30-4606-B8AC-85ADF02EDC0D}"/>
              </a:ext>
            </a:extLst>
          </p:cNvPr>
          <p:cNvSpPr>
            <a:spLocks xmlns:a="http://schemas.openxmlformats.org/drawingml/2006/main" noGrp="1"/>
          </p:cNvSpPr>
          <p:nvPr/>
        </p:nvSpPr>
        <p:spPr>
          <a:xfrm xmlns:a="http://schemas.openxmlformats.org/drawingml/2006/main">
            <a:off x="666750" y="3600450"/>
            <a:ext cx="30384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3D8DFF"/>
                </a:solidFill>
                <a:latin typeface="Helvetica Neue"/>
                <a:ea typeface="Helvetica Neue"/>
                <a:cs typeface="Helvetica Neue"/>
              </a:defRPr>
            </a:pPr>
            <a:r>
              <a:rPr sz="3150" b="1">
                <a:solidFill>
                  <a:srgbClr val="3D8DFF"/>
                </a:solidFill>
                <a:latin typeface="Helvetica Neue"/>
                <a:ea typeface="Helvetica Neue"/>
                <a:cs typeface="Helvetica Neue"/>
              </a:rPr>
              <a:t>Tail risk</a:t>
            </a:r>
          </a:p>
        </p:txBody>
      </p:sp>
      <p:sp>
        <p:nvSpPr>
          <p:cNvPr id="10" name="">
            <a:extLst xmlns:a="http://schemas.openxmlformats.org/drawingml/2006/main">
              <a:ext uri="{FF2B5EF4-FFF2-40B4-BE49-F238E27FC236}">
                <a16:creationId xmlns:a16="http://schemas.microsoft.com/office/drawing/2014/main" id="{5F2A1A58-4A26-45BB-9CDC-3E248A55CE60}"/>
              </a:ext>
            </a:extLst>
          </p:cNvPr>
          <p:cNvSpPr>
            <a:spLocks xmlns:a="http://schemas.openxmlformats.org/drawingml/2006/main" noGrp="1"/>
          </p:cNvSpPr>
          <p:nvPr/>
        </p:nvSpPr>
        <p:spPr>
          <a:xfrm xmlns:a="http://schemas.openxmlformats.org/drawingml/2006/main">
            <a:off x="666750" y="4457700"/>
            <a:ext cx="3038475"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Protect the severe 10% within each registered attack cell.</a:t>
            </a:r>
          </a:p>
        </p:txBody>
      </p:sp>
      <p:sp>
        <p:nvSpPr>
          <p:cNvPr id="11" name="">
            <a:extLst xmlns:a="http://schemas.openxmlformats.org/drawingml/2006/main">
              <a:ext uri="{FF2B5EF4-FFF2-40B4-BE49-F238E27FC236}">
                <a16:creationId xmlns:a16="http://schemas.microsoft.com/office/drawing/2014/main" id="{6903C398-AF4E-4E84-AF78-E2A7AC6BC217}"/>
              </a:ext>
            </a:extLst>
          </p:cNvPr>
          <p:cNvSpPr>
            <a:spLocks xmlns:a="http://schemas.openxmlformats.org/drawingml/2006/main" noGrp="1"/>
          </p:cNvSpPr>
          <p:nvPr/>
        </p:nvSpPr>
        <p:spPr>
          <a:xfrm xmlns:a="http://schemas.openxmlformats.org/drawingml/2006/main">
            <a:off x="4352925" y="3333750"/>
            <a:ext cx="3476625" cy="233362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46A2609-3DE1-431B-BF03-DD80BE047084}"/>
              </a:ext>
            </a:extLst>
          </p:cNvPr>
          <p:cNvSpPr>
            <a:spLocks xmlns:a="http://schemas.openxmlformats.org/drawingml/2006/main" noGrp="1"/>
          </p:cNvSpPr>
          <p:nvPr/>
        </p:nvSpPr>
        <p:spPr>
          <a:xfrm xmlns:a="http://schemas.openxmlformats.org/drawingml/2006/main">
            <a:off x="4352925" y="3333750"/>
            <a:ext cx="95250" cy="2333625"/>
          </a:xfrm>
          <a:prstGeom xmlns:a="http://schemas.openxmlformats.org/drawingml/2006/main" prst="rect">
            <a:avLst/>
          </a:prstGeom>
          <a:solidFill xmlns:a="http://schemas.openxmlformats.org/drawingml/2006/main">
            <a:srgbClr val="2070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F560E2F-A6B1-4608-941A-6893980456F0}"/>
              </a:ext>
            </a:extLst>
          </p:cNvPr>
          <p:cNvSpPr>
            <a:spLocks xmlns:a="http://schemas.openxmlformats.org/drawingml/2006/main" noGrp="1"/>
          </p:cNvSpPr>
          <p:nvPr/>
        </p:nvSpPr>
        <p:spPr>
          <a:xfrm xmlns:a="http://schemas.openxmlformats.org/drawingml/2006/main">
            <a:off x="4619625" y="3600450"/>
            <a:ext cx="30384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20704A"/>
                </a:solidFill>
                <a:latin typeface="Helvetica Neue"/>
                <a:ea typeface="Helvetica Neue"/>
                <a:cs typeface="Helvetica Neue"/>
              </a:defRPr>
            </a:pPr>
            <a:r>
              <a:rPr sz="3150" b="1">
                <a:solidFill>
                  <a:srgbClr val="20704A"/>
                </a:solidFill>
                <a:latin typeface="Helvetica Neue"/>
                <a:ea typeface="Helvetica Neue"/>
                <a:cs typeface="Helvetica Neue"/>
              </a:rPr>
              <a:t>Diversity Γ</a:t>
            </a:r>
          </a:p>
        </p:txBody>
      </p:sp>
      <p:sp>
        <p:nvSpPr>
          <p:cNvPr id="14" name="">
            <a:extLst xmlns:a="http://schemas.openxmlformats.org/drawingml/2006/main">
              <a:ext uri="{FF2B5EF4-FFF2-40B4-BE49-F238E27FC236}">
                <a16:creationId xmlns:a16="http://schemas.microsoft.com/office/drawing/2014/main" id="{37865616-D563-457C-9700-054E969AD9E0}"/>
              </a:ext>
            </a:extLst>
          </p:cNvPr>
          <p:cNvSpPr>
            <a:spLocks xmlns:a="http://schemas.openxmlformats.org/drawingml/2006/main" noGrp="1"/>
          </p:cNvSpPr>
          <p:nvPr/>
        </p:nvSpPr>
        <p:spPr>
          <a:xfrm xmlns:a="http://schemas.openxmlformats.org/drawingml/2006/main">
            <a:off x="4619625" y="4457700"/>
            <a:ext cx="3038475"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Reward layers only when matched bypass sets do not overlap.</a:t>
            </a:r>
          </a:p>
        </p:txBody>
      </p:sp>
      <p:sp>
        <p:nvSpPr>
          <p:cNvPr id="15" name="">
            <a:extLst xmlns:a="http://schemas.openxmlformats.org/drawingml/2006/main">
              <a:ext uri="{FF2B5EF4-FFF2-40B4-BE49-F238E27FC236}">
                <a16:creationId xmlns:a16="http://schemas.microsoft.com/office/drawing/2014/main" id="{FCA349C8-526C-4964-A919-DAC5F0F71567}"/>
              </a:ext>
            </a:extLst>
          </p:cNvPr>
          <p:cNvSpPr>
            <a:spLocks xmlns:a="http://schemas.openxmlformats.org/drawingml/2006/main" noGrp="1"/>
          </p:cNvSpPr>
          <p:nvPr/>
        </p:nvSpPr>
        <p:spPr>
          <a:xfrm xmlns:a="http://schemas.openxmlformats.org/drawingml/2006/main">
            <a:off x="8305800" y="3333750"/>
            <a:ext cx="3486150" cy="233362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26B66CD-D7BD-4129-A76E-BBF01D8173C3}"/>
              </a:ext>
            </a:extLst>
          </p:cNvPr>
          <p:cNvSpPr>
            <a:spLocks xmlns:a="http://schemas.openxmlformats.org/drawingml/2006/main" noGrp="1"/>
          </p:cNvSpPr>
          <p:nvPr/>
        </p:nvSpPr>
        <p:spPr>
          <a:xfrm xmlns:a="http://schemas.openxmlformats.org/drawingml/2006/main">
            <a:off x="8305800" y="3333750"/>
            <a:ext cx="95250" cy="2333625"/>
          </a:xfrm>
          <a:prstGeom xmlns:a="http://schemas.openxmlformats.org/drawingml/2006/main" prst="rect">
            <a:avLst/>
          </a:prstGeom>
          <a:solidFill xmlns:a="http://schemas.openxmlformats.org/drawingml/2006/main">
            <a:srgbClr val="C86B2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CA5DCE2-6E7A-46D1-AC6D-8960A1A5C35D}"/>
              </a:ext>
            </a:extLst>
          </p:cNvPr>
          <p:cNvSpPr>
            <a:spLocks xmlns:a="http://schemas.openxmlformats.org/drawingml/2006/main" noGrp="1"/>
          </p:cNvSpPr>
          <p:nvPr/>
        </p:nvSpPr>
        <p:spPr>
          <a:xfrm xmlns:a="http://schemas.openxmlformats.org/drawingml/2006/main">
            <a:off x="8572500" y="3600450"/>
            <a:ext cx="304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C86B20"/>
                </a:solidFill>
                <a:latin typeface="Helvetica Neue"/>
                <a:ea typeface="Helvetica Neue"/>
                <a:cs typeface="Helvetica Neue"/>
              </a:defRPr>
            </a:pPr>
            <a:r>
              <a:rPr sz="3150" b="1">
                <a:solidFill>
                  <a:srgbClr val="C86B20"/>
                </a:solidFill>
                <a:latin typeface="Helvetica Neue"/>
                <a:ea typeface="Helvetica Neue"/>
                <a:cs typeface="Helvetica Neue"/>
              </a:rPr>
              <a:t>Best response</a:t>
            </a:r>
          </a:p>
        </p:txBody>
      </p:sp>
      <p:sp>
        <p:nvSpPr>
          <p:cNvPr id="18" name="">
            <a:extLst xmlns:a="http://schemas.openxmlformats.org/drawingml/2006/main">
              <a:ext uri="{FF2B5EF4-FFF2-40B4-BE49-F238E27FC236}">
                <a16:creationId xmlns:a16="http://schemas.microsoft.com/office/drawing/2014/main" id="{ECA3C488-3D18-4BBE-BBF0-7AF9005A8316}"/>
              </a:ext>
            </a:extLst>
          </p:cNvPr>
          <p:cNvSpPr>
            <a:spLocks xmlns:a="http://schemas.openxmlformats.org/drawingml/2006/main" noGrp="1"/>
          </p:cNvSpPr>
          <p:nvPr/>
        </p:nvSpPr>
        <p:spPr>
          <a:xfrm xmlns:a="http://schemas.openxmlformats.org/drawingml/2006/main">
            <a:off x="8572500" y="4457700"/>
            <a:ext cx="3048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Re-optimize against every stack under equal budgets.</a:t>
            </a:r>
          </a:p>
        </p:txBody>
      </p:sp>
      <p:sp>
        <p:nvSpPr>
          <p:cNvPr id="19" name="">
            <a:extLst xmlns:a="http://schemas.openxmlformats.org/drawingml/2006/main">
              <a:ext uri="{FF2B5EF4-FFF2-40B4-BE49-F238E27FC236}">
                <a16:creationId xmlns:a16="http://schemas.microsoft.com/office/drawing/2014/main" id="{376FC88A-3A68-4EDD-97E8-83662CDB3BA0}"/>
              </a:ext>
            </a:extLst>
          </p:cNvPr>
          <p:cNvSpPr>
            <a:spLocks xmlns:a="http://schemas.openxmlformats.org/drawingml/2006/main" noGrp="1"/>
          </p:cNvSpPr>
          <p:nvPr/>
        </p:nvSpPr>
        <p:spPr>
          <a:xfrm xmlns:a="http://schemas.openxmlformats.org/drawingml/2006/main">
            <a:off x="400050" y="5953125"/>
            <a:ext cx="1076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rPr sz="1800" b="1">
                <a:solidFill>
                  <a:srgbClr val="000000"/>
                </a:solidFill>
                <a:latin typeface="Helvetica Neue"/>
                <a:ea typeface="Helvetica Neue"/>
                <a:cs typeface="Helvetica Neue"/>
              </a:rPr>
              <a:t>Prediction: validation failure geometry forecasts held-out realized gain.</a:t>
            </a:r>
          </a:p>
        </p:txBody>
      </p:sp>
    </p:spTree>
    <p:extLst>
      <p:ext uri="{BB962C8B-B14F-4D97-AF65-F5344CB8AC3E}">
        <p14:creationId xmlns:p14="http://schemas.microsoft.com/office/powerpoint/2010/main" val="12638531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F5E479-F304-43E0-9DD7-6ECE0BB1B711}"/>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4-title">
            <a:extLst xmlns:a="http://schemas.openxmlformats.org/drawingml/2006/main">
              <a:ext uri="{FF2B5EF4-FFF2-40B4-BE49-F238E27FC236}">
                <a16:creationId xmlns:a16="http://schemas.microsoft.com/office/drawing/2014/main" id="{75D1F63C-9327-4B72-9129-8688169032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The novel claim is about non-overlapping failures</a:t>
            </a:r>
          </a:p>
        </p:txBody>
      </p:sp>
      <p:sp>
        <p:nvSpPr>
          <p:cNvPr id="3" name="">
            <a:extLst xmlns:a="http://schemas.openxmlformats.org/drawingml/2006/main">
              <a:ext uri="{FF2B5EF4-FFF2-40B4-BE49-F238E27FC236}">
                <a16:creationId xmlns:a16="http://schemas.microsoft.com/office/drawing/2014/main" id="{C457683D-8C23-4AC2-AA5B-ED38921DB86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A5BDC0CE-0622-4406-9B4F-98CF1B3429E7}"/>
              </a:ext>
            </a:extLst>
          </p:cNvPr>
          <p:cNvSpPr>
            <a:spLocks xmlns:a="http://schemas.openxmlformats.org/drawingml/2006/main" noGrp="1"/>
          </p:cNvSpPr>
          <p:nvPr/>
        </p:nvSpPr>
        <p:spPr>
          <a:xfrm xmlns:a="http://schemas.openxmlformats.org/drawingml/2006/main">
            <a:off x="400050" y="1543050"/>
            <a:ext cx="5429250" cy="4286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6CD06E-8FC1-495C-9B93-0E6F7A30042C}"/>
              </a:ext>
            </a:extLst>
          </p:cNvPr>
          <p:cNvSpPr>
            <a:spLocks xmlns:a="http://schemas.openxmlformats.org/drawingml/2006/main" noGrp="1"/>
          </p:cNvSpPr>
          <p:nvPr/>
        </p:nvSpPr>
        <p:spPr>
          <a:xfrm xmlns:a="http://schemas.openxmlformats.org/drawingml/2006/main">
            <a:off x="6191250" y="1543050"/>
            <a:ext cx="5600700" cy="4286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363782-92FE-4FEB-9BA8-546B59559F92}"/>
              </a:ext>
            </a:extLst>
          </p:cNvPr>
          <p:cNvSpPr>
            <a:spLocks xmlns:a="http://schemas.openxmlformats.org/drawingml/2006/main" noGrp="1"/>
          </p:cNvSpPr>
          <p:nvPr/>
        </p:nvSpPr>
        <p:spPr>
          <a:xfrm xmlns:a="http://schemas.openxmlformats.org/drawingml/2006/main">
            <a:off x="685800" y="1857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Established tools</a:t>
            </a:r>
          </a:p>
        </p:txBody>
      </p:sp>
      <p:sp>
        <p:nvSpPr>
          <p:cNvPr id="7" name="">
            <a:extLst xmlns:a="http://schemas.openxmlformats.org/drawingml/2006/main">
              <a:ext uri="{FF2B5EF4-FFF2-40B4-BE49-F238E27FC236}">
                <a16:creationId xmlns:a16="http://schemas.microsoft.com/office/drawing/2014/main" id="{57764050-A6DA-4B46-82A2-CAB2EC10E2FA}"/>
              </a:ext>
            </a:extLst>
          </p:cNvPr>
          <p:cNvSpPr>
            <a:spLocks xmlns:a="http://schemas.openxmlformats.org/drawingml/2006/main" noGrp="1"/>
          </p:cNvSpPr>
          <p:nvPr/>
        </p:nvSpPr>
        <p:spPr>
          <a:xfrm xmlns:a="http://schemas.openxmlformats.org/drawingml/2006/main">
            <a:off x="685800" y="2476500"/>
            <a:ext cx="46672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CVaR / expected shortfall</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Worst-group or distributionally robust selection</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Confidence bounds and multiplicity control</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Anytime-valid sequential evidence</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Utility-constrained optimization</a:t>
            </a:r>
          </a:p>
        </p:txBody>
      </p:sp>
      <p:sp>
        <p:nvSpPr>
          <p:cNvPr id="8" name="">
            <a:extLst xmlns:a="http://schemas.openxmlformats.org/drawingml/2006/main">
              <a:ext uri="{FF2B5EF4-FFF2-40B4-BE49-F238E27FC236}">
                <a16:creationId xmlns:a16="http://schemas.microsoft.com/office/drawing/2014/main" id="{B775A0DB-A5FB-4312-BFF3-AD6BAB917018}"/>
              </a:ext>
            </a:extLst>
          </p:cNvPr>
          <p:cNvSpPr>
            <a:spLocks xmlns:a="http://schemas.openxmlformats.org/drawingml/2006/main" noGrp="1"/>
          </p:cNvSpPr>
          <p:nvPr/>
        </p:nvSpPr>
        <p:spPr>
          <a:xfrm xmlns:a="http://schemas.openxmlformats.org/drawingml/2006/main">
            <a:off x="6496050" y="18573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Conjecture to falsify</a:t>
            </a:r>
          </a:p>
        </p:txBody>
      </p:sp>
      <p:sp>
        <p:nvSpPr>
          <p:cNvPr id="9" name="">
            <a:extLst xmlns:a="http://schemas.openxmlformats.org/drawingml/2006/main">
              <a:ext uri="{FF2B5EF4-FFF2-40B4-BE49-F238E27FC236}">
                <a16:creationId xmlns:a16="http://schemas.microsoft.com/office/drawing/2014/main" id="{E64D6E4E-7DEC-485C-B4D4-00B4FD5E6370}"/>
              </a:ext>
            </a:extLst>
          </p:cNvPr>
          <p:cNvSpPr>
            <a:spLocks xmlns:a="http://schemas.openxmlformats.org/drawingml/2006/main" noGrp="1"/>
          </p:cNvSpPr>
          <p:nvPr/>
        </p:nvSpPr>
        <p:spPr>
          <a:xfrm xmlns:a="http://schemas.openxmlformats.org/drawingml/2006/main">
            <a:off x="6496050" y="2476500"/>
            <a:ext cx="476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1. Defense layers fail on different matched opportunities.</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2. That diversity survives a stack-aware attacker.</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3. Validation Γ predicts held-out gain beyond quality and cost.</a:t>
            </a:r>
          </a:p>
        </p:txBody>
      </p:sp>
      <p:sp>
        <p:nvSpPr>
          <p:cNvPr id="10" name="">
            <a:extLst xmlns:a="http://schemas.openxmlformats.org/drawingml/2006/main">
              <a:ext uri="{FF2B5EF4-FFF2-40B4-BE49-F238E27FC236}">
                <a16:creationId xmlns:a16="http://schemas.microsoft.com/office/drawing/2014/main" id="{8B5C5AC7-7E09-417E-8BE5-0A3A14555694}"/>
              </a:ext>
            </a:extLst>
          </p:cNvPr>
          <p:cNvSpPr>
            <a:spLocks xmlns:a="http://schemas.openxmlformats.org/drawingml/2006/main" noGrp="1"/>
          </p:cNvSpPr>
          <p:nvPr/>
        </p:nvSpPr>
        <p:spPr>
          <a:xfrm xmlns:a="http://schemas.openxmlformats.org/drawingml/2006/main">
            <a:off x="400050" y="601980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A63434"/>
                </a:solidFill>
                <a:latin typeface="Helvetica Neue"/>
                <a:ea typeface="Helvetica Neue"/>
                <a:cs typeface="Helvetica Neue"/>
              </a:defRPr>
            </a:pPr>
            <a:r>
              <a:rPr sz="1500" b="1">
                <a:solidFill>
                  <a:srgbClr val="A63434"/>
                </a:solidFill>
                <a:latin typeface="Helvetica Neue"/>
                <a:ea typeface="Helvetica Neue"/>
                <a:cs typeface="Helvetica Neue"/>
              </a:rPr>
              <a:t>A positive result must survive adaptation, enforcement, and a genuinely held-out model.</a:t>
            </a:r>
          </a:p>
        </p:txBody>
      </p:sp>
    </p:spTree>
    <p:extLst>
      <p:ext uri="{BB962C8B-B14F-4D97-AF65-F5344CB8AC3E}">
        <p14:creationId xmlns:p14="http://schemas.microsoft.com/office/powerpoint/2010/main" val="18160911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340C0637-2900-4AC7-8115-15880B65833E}"/>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5-title">
            <a:extLst xmlns:a="http://schemas.openxmlformats.org/drawingml/2006/main">
              <a:ext uri="{FF2B5EF4-FFF2-40B4-BE49-F238E27FC236}">
                <a16:creationId xmlns:a16="http://schemas.microsoft.com/office/drawing/2014/main" id="{441AD398-7AE6-4EEA-9B80-FD3B60A02616}"/>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One harness turns the conjecture into five falsifiable tests</a:t>
            </a:r>
          </a:p>
        </p:txBody>
      </p:sp>
      <p:sp>
        <p:nvSpPr>
          <p:cNvPr id="3" name="">
            <a:extLst xmlns:a="http://schemas.openxmlformats.org/drawingml/2006/main">
              <a:ext uri="{FF2B5EF4-FFF2-40B4-BE49-F238E27FC236}">
                <a16:creationId xmlns:a16="http://schemas.microsoft.com/office/drawing/2014/main" id="{8CD8FA7F-9A2D-4011-9DBB-172F8588C88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08</a:t>
            </a:r>
          </a:p>
        </p:txBody>
      </p:sp>
      <p:cxnSp>
        <p:nvCxnSpPr>
          <p:cNvPr id="78" name=""/>
          <p:cNvCxnSpPr/>
          <p:nvPr/>
        </p:nvCxnSpPr>
        <p:spPr>
          <a:xfrm xmlns:a="http://schemas.openxmlformats.org/drawingml/2006/main">
            <a:off x="809625" y="3286125"/>
            <a:ext cx="10287000" cy="0"/>
          </a:xfrm>
          <a:prstGeom xmlns:a="http://schemas.openxmlformats.org/drawingml/2006/main" prst="straightConnector1">
            <a:avLst/>
          </a:prstGeom>
          <a:ln xmlns:a="http://schemas.openxmlformats.org/drawingml/2006/main" w="19050">
            <a:solidFill>
              <a:srgbClr val="000000"/>
            </a:solidFill>
            <a:prstDash val="solid"/>
          </a:ln>
        </p:spPr>
      </p:cxnSp>
      <p:sp>
        <p:nvSpPr>
          <p:cNvPr id="5" name="">
            <a:extLst xmlns:a="http://schemas.openxmlformats.org/drawingml/2006/main">
              <a:ext uri="{FF2B5EF4-FFF2-40B4-BE49-F238E27FC236}">
                <a16:creationId xmlns:a16="http://schemas.microsoft.com/office/drawing/2014/main" id="{66046216-E4D4-4D8E-953C-B0941DA7B03B}"/>
              </a:ext>
            </a:extLst>
          </p:cNvPr>
          <p:cNvSpPr>
            <a:spLocks xmlns:a="http://schemas.openxmlformats.org/drawingml/2006/main" noGrp="1"/>
          </p:cNvSpPr>
          <p:nvPr/>
        </p:nvSpPr>
        <p:spPr>
          <a:xfrm xmlns:a="http://schemas.openxmlformats.org/drawingml/2006/main">
            <a:off x="1047750" y="3028950"/>
            <a:ext cx="514350" cy="514350"/>
          </a:xfrm>
          <a:prstGeom xmlns:a="http://schemas.openxmlformats.org/drawingml/2006/main" prst="roundRect">
            <a:avLst>
              <a:gd name="adj" fmla="val 14815"/>
            </a:avLst>
          </a:prstGeom>
          <a:solidFill xmlns:a="http://schemas.openxmlformats.org/drawingml/2006/main">
            <a:srgbClr val="3D8D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4B26A82-3BE2-4191-8AFE-A09B72852B04}"/>
              </a:ext>
            </a:extLst>
          </p:cNvPr>
          <p:cNvSpPr>
            <a:spLocks xmlns:a="http://schemas.openxmlformats.org/drawingml/2006/main" noGrp="1"/>
          </p:cNvSpPr>
          <p:nvPr/>
        </p:nvSpPr>
        <p:spPr>
          <a:xfrm xmlns:a="http://schemas.openxmlformats.org/drawingml/2006/main">
            <a:off x="1047750" y="3114675"/>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FFFFFF"/>
                </a:solidFill>
                <a:latin typeface="Helvetica Neue"/>
                <a:ea typeface="Helvetica Neue"/>
                <a:cs typeface="Helvetica Neue"/>
              </a:defRPr>
            </a:pPr>
            <a:r>
              <a:rPr sz="18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77AEA8DC-57F5-4EF4-B9E5-702D8025C4E4}"/>
              </a:ext>
            </a:extLst>
          </p:cNvPr>
          <p:cNvSpPr>
            <a:spLocks xmlns:a="http://schemas.openxmlformats.org/drawingml/2006/main" noGrp="1"/>
          </p:cNvSpPr>
          <p:nvPr/>
        </p:nvSpPr>
        <p:spPr>
          <a:xfrm xmlns:a="http://schemas.openxmlformats.org/drawingml/2006/main">
            <a:off x="809625" y="3857625"/>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Matched</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forks</a:t>
            </a:r>
          </a:p>
        </p:txBody>
      </p:sp>
      <p:sp>
        <p:nvSpPr>
          <p:cNvPr id="8" name="">
            <a:extLst xmlns:a="http://schemas.openxmlformats.org/drawingml/2006/main">
              <a:ext uri="{FF2B5EF4-FFF2-40B4-BE49-F238E27FC236}">
                <a16:creationId xmlns:a16="http://schemas.microsoft.com/office/drawing/2014/main" id="{1A6C8E62-D104-4EE6-B680-46BA5CFEB906}"/>
              </a:ext>
            </a:extLst>
          </p:cNvPr>
          <p:cNvSpPr>
            <a:spLocks xmlns:a="http://schemas.openxmlformats.org/drawingml/2006/main" noGrp="1"/>
          </p:cNvSpPr>
          <p:nvPr/>
        </p:nvSpPr>
        <p:spPr>
          <a:xfrm xmlns:a="http://schemas.openxmlformats.org/drawingml/2006/main">
            <a:off x="809625" y="4381500"/>
            <a:ext cx="1809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Replay one LLM event through each singleton and the full stack.</a:t>
            </a:r>
          </a:p>
        </p:txBody>
      </p:sp>
      <p:sp>
        <p:nvSpPr>
          <p:cNvPr id="9" name="">
            <a:extLst xmlns:a="http://schemas.openxmlformats.org/drawingml/2006/main">
              <a:ext uri="{FF2B5EF4-FFF2-40B4-BE49-F238E27FC236}">
                <a16:creationId xmlns:a16="http://schemas.microsoft.com/office/drawing/2014/main" id="{AAC8D885-1CB0-4121-AD8B-7357057F7EB5}"/>
              </a:ext>
            </a:extLst>
          </p:cNvPr>
          <p:cNvSpPr>
            <a:spLocks xmlns:a="http://schemas.openxmlformats.org/drawingml/2006/main" noGrp="1"/>
          </p:cNvSpPr>
          <p:nvPr/>
        </p:nvSpPr>
        <p:spPr>
          <a:xfrm xmlns:a="http://schemas.openxmlformats.org/drawingml/2006/main">
            <a:off x="3143250" y="3028950"/>
            <a:ext cx="514350" cy="514350"/>
          </a:xfrm>
          <a:prstGeom xmlns:a="http://schemas.openxmlformats.org/drawingml/2006/main" prst="roundRect">
            <a:avLst>
              <a:gd name="adj" fmla="val 14815"/>
            </a:avLst>
          </a:prstGeom>
          <a:solidFill xmlns:a="http://schemas.openxmlformats.org/drawingml/2006/main">
            <a:srgbClr val="3D8D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064D015-870C-4988-8E6D-8753A8033398}"/>
              </a:ext>
            </a:extLst>
          </p:cNvPr>
          <p:cNvSpPr>
            <a:spLocks xmlns:a="http://schemas.openxmlformats.org/drawingml/2006/main" noGrp="1"/>
          </p:cNvSpPr>
          <p:nvPr/>
        </p:nvSpPr>
        <p:spPr>
          <a:xfrm xmlns:a="http://schemas.openxmlformats.org/drawingml/2006/main">
            <a:off x="3143250" y="3114675"/>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FFFFFF"/>
                </a:solidFill>
                <a:latin typeface="Helvetica Neue"/>
                <a:ea typeface="Helvetica Neue"/>
                <a:cs typeface="Helvetica Neue"/>
              </a:defRPr>
            </a:pPr>
            <a:r>
              <a:rPr sz="18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0A8BD092-31B0-4340-ACE0-6C045FC98EA9}"/>
              </a:ext>
            </a:extLst>
          </p:cNvPr>
          <p:cNvSpPr>
            <a:spLocks xmlns:a="http://schemas.openxmlformats.org/drawingml/2006/main" noGrp="1"/>
          </p:cNvSpPr>
          <p:nvPr/>
        </p:nvSpPr>
        <p:spPr>
          <a:xfrm xmlns:a="http://schemas.openxmlformats.org/drawingml/2006/main">
            <a:off x="2905125" y="3857625"/>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Frozen</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selection</a:t>
            </a:r>
          </a:p>
        </p:txBody>
      </p:sp>
      <p:sp>
        <p:nvSpPr>
          <p:cNvPr id="12" name="">
            <a:extLst xmlns:a="http://schemas.openxmlformats.org/drawingml/2006/main">
              <a:ext uri="{FF2B5EF4-FFF2-40B4-BE49-F238E27FC236}">
                <a16:creationId xmlns:a16="http://schemas.microsoft.com/office/drawing/2014/main" id="{35DD1D8E-2A5F-4CC1-9FC5-66431A65437C}"/>
              </a:ext>
            </a:extLst>
          </p:cNvPr>
          <p:cNvSpPr>
            <a:spLocks xmlns:a="http://schemas.openxmlformats.org/drawingml/2006/main" noGrp="1"/>
          </p:cNvSpPr>
          <p:nvPr/>
        </p:nvSpPr>
        <p:spPr>
          <a:xfrm xmlns:a="http://schemas.openxmlformats.org/drawingml/2006/main">
            <a:off x="2905125" y="4381500"/>
            <a:ext cx="1809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Choose among utility-feasible stacks without test access.</a:t>
            </a:r>
          </a:p>
        </p:txBody>
      </p:sp>
      <p:sp>
        <p:nvSpPr>
          <p:cNvPr id="13" name="">
            <a:extLst xmlns:a="http://schemas.openxmlformats.org/drawingml/2006/main">
              <a:ext uri="{FF2B5EF4-FFF2-40B4-BE49-F238E27FC236}">
                <a16:creationId xmlns:a16="http://schemas.microsoft.com/office/drawing/2014/main" id="{EBA0158D-8023-4FED-AEE8-0193D8EF7442}"/>
              </a:ext>
            </a:extLst>
          </p:cNvPr>
          <p:cNvSpPr>
            <a:spLocks xmlns:a="http://schemas.openxmlformats.org/drawingml/2006/main" noGrp="1"/>
          </p:cNvSpPr>
          <p:nvPr/>
        </p:nvSpPr>
        <p:spPr>
          <a:xfrm xmlns:a="http://schemas.openxmlformats.org/drawingml/2006/main">
            <a:off x="5238750" y="3028950"/>
            <a:ext cx="514350" cy="514350"/>
          </a:xfrm>
          <a:prstGeom xmlns:a="http://schemas.openxmlformats.org/drawingml/2006/main" prst="roundRect">
            <a:avLst>
              <a:gd name="adj" fmla="val 14815"/>
            </a:avLst>
          </a:prstGeom>
          <a:solidFill xmlns:a="http://schemas.openxmlformats.org/drawingml/2006/main">
            <a:srgbClr val="3D8D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7AA2E37-6335-4467-A68F-A54558966970}"/>
              </a:ext>
            </a:extLst>
          </p:cNvPr>
          <p:cNvSpPr>
            <a:spLocks xmlns:a="http://schemas.openxmlformats.org/drawingml/2006/main" noGrp="1"/>
          </p:cNvSpPr>
          <p:nvPr/>
        </p:nvSpPr>
        <p:spPr>
          <a:xfrm xmlns:a="http://schemas.openxmlformats.org/drawingml/2006/main">
            <a:off x="5238750" y="3114675"/>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FFFFFF"/>
                </a:solidFill>
                <a:latin typeface="Helvetica Neue"/>
                <a:ea typeface="Helvetica Neue"/>
                <a:cs typeface="Helvetica Neue"/>
              </a:defRPr>
            </a:pPr>
            <a:r>
              <a:rPr sz="18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7B6B4469-E9C9-4273-AA7D-6452F5DC8E62}"/>
              </a:ext>
            </a:extLst>
          </p:cNvPr>
          <p:cNvSpPr>
            <a:spLocks xmlns:a="http://schemas.openxmlformats.org/drawingml/2006/main" noGrp="1"/>
          </p:cNvSpPr>
          <p:nvPr/>
        </p:nvSpPr>
        <p:spPr>
          <a:xfrm xmlns:a="http://schemas.openxmlformats.org/drawingml/2006/main">
            <a:off x="5000625" y="3857625"/>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Stack-aware</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search</a:t>
            </a:r>
          </a:p>
        </p:txBody>
      </p:sp>
      <p:sp>
        <p:nvSpPr>
          <p:cNvPr id="16" name="">
            <a:extLst xmlns:a="http://schemas.openxmlformats.org/drawingml/2006/main">
              <a:ext uri="{FF2B5EF4-FFF2-40B4-BE49-F238E27FC236}">
                <a16:creationId xmlns:a16="http://schemas.microsoft.com/office/drawing/2014/main" id="{DA1C8A96-7D87-4C67-851A-962D3213FC3B}"/>
              </a:ext>
            </a:extLst>
          </p:cNvPr>
          <p:cNvSpPr>
            <a:spLocks xmlns:a="http://schemas.openxmlformats.org/drawingml/2006/main" noGrp="1"/>
          </p:cNvSpPr>
          <p:nvPr/>
        </p:nvSpPr>
        <p:spPr>
          <a:xfrm xmlns:a="http://schemas.openxmlformats.org/drawingml/2006/main">
            <a:off x="5000625" y="4381500"/>
            <a:ext cx="1809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Optimize one attacker per stack under equal budgets.</a:t>
            </a:r>
          </a:p>
        </p:txBody>
      </p:sp>
      <p:sp>
        <p:nvSpPr>
          <p:cNvPr id="17" name="">
            <a:extLst xmlns:a="http://schemas.openxmlformats.org/drawingml/2006/main">
              <a:ext uri="{FF2B5EF4-FFF2-40B4-BE49-F238E27FC236}">
                <a16:creationId xmlns:a16="http://schemas.microsoft.com/office/drawing/2014/main" id="{1C3E2F06-061B-4E6C-A459-4B439181F500}"/>
              </a:ext>
            </a:extLst>
          </p:cNvPr>
          <p:cNvSpPr>
            <a:spLocks xmlns:a="http://schemas.openxmlformats.org/drawingml/2006/main" noGrp="1"/>
          </p:cNvSpPr>
          <p:nvPr/>
        </p:nvSpPr>
        <p:spPr>
          <a:xfrm xmlns:a="http://schemas.openxmlformats.org/drawingml/2006/main">
            <a:off x="7334250" y="3028950"/>
            <a:ext cx="514350" cy="514350"/>
          </a:xfrm>
          <a:prstGeom xmlns:a="http://schemas.openxmlformats.org/drawingml/2006/main" prst="roundRect">
            <a:avLst>
              <a:gd name="adj" fmla="val 14815"/>
            </a:avLst>
          </a:prstGeom>
          <a:solidFill xmlns:a="http://schemas.openxmlformats.org/drawingml/2006/main">
            <a:srgbClr val="3D8DFF"/>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10F6B17-0CBF-4604-96C8-53689B09D751}"/>
              </a:ext>
            </a:extLst>
          </p:cNvPr>
          <p:cNvSpPr>
            <a:spLocks xmlns:a="http://schemas.openxmlformats.org/drawingml/2006/main" noGrp="1"/>
          </p:cNvSpPr>
          <p:nvPr/>
        </p:nvSpPr>
        <p:spPr>
          <a:xfrm xmlns:a="http://schemas.openxmlformats.org/drawingml/2006/main">
            <a:off x="7334250" y="3114675"/>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FFFFFF"/>
                </a:solidFill>
                <a:latin typeface="Helvetica Neue"/>
                <a:ea typeface="Helvetica Neue"/>
                <a:cs typeface="Helvetica Neue"/>
              </a:defRPr>
            </a:pPr>
            <a:r>
              <a:rPr sz="18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9768903A-CDCF-4019-91F7-DA192D3768B8}"/>
              </a:ext>
            </a:extLst>
          </p:cNvPr>
          <p:cNvSpPr>
            <a:spLocks xmlns:a="http://schemas.openxmlformats.org/drawingml/2006/main" noGrp="1"/>
          </p:cNvSpPr>
          <p:nvPr/>
        </p:nvSpPr>
        <p:spPr>
          <a:xfrm xmlns:a="http://schemas.openxmlformats.org/drawingml/2006/main">
            <a:off x="7096125" y="3857625"/>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Sealed</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transfer</a:t>
            </a:r>
          </a:p>
        </p:txBody>
      </p:sp>
      <p:sp>
        <p:nvSpPr>
          <p:cNvPr id="20" name="">
            <a:extLst xmlns:a="http://schemas.openxmlformats.org/drawingml/2006/main">
              <a:ext uri="{FF2B5EF4-FFF2-40B4-BE49-F238E27FC236}">
                <a16:creationId xmlns:a16="http://schemas.microsoft.com/office/drawing/2014/main" id="{32F10897-8291-41A0-BF23-7138DD56C1B3}"/>
              </a:ext>
            </a:extLst>
          </p:cNvPr>
          <p:cNvSpPr>
            <a:spLocks xmlns:a="http://schemas.openxmlformats.org/drawingml/2006/main" noGrp="1"/>
          </p:cNvSpPr>
          <p:nvPr/>
        </p:nvSpPr>
        <p:spPr>
          <a:xfrm xmlns:a="http://schemas.openxmlformats.org/drawingml/2006/main">
            <a:off x="7096125" y="4381500"/>
            <a:ext cx="1809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Open single-axis and compound cells only after selection freezes.</a:t>
            </a:r>
          </a:p>
        </p:txBody>
      </p:sp>
      <p:sp>
        <p:nvSpPr>
          <p:cNvPr id="21" name="">
            <a:extLst xmlns:a="http://schemas.openxmlformats.org/drawingml/2006/main">
              <a:ext uri="{FF2B5EF4-FFF2-40B4-BE49-F238E27FC236}">
                <a16:creationId xmlns:a16="http://schemas.microsoft.com/office/drawing/2014/main" id="{A2CAA663-9917-49BF-91CD-1D48A3E961DE}"/>
              </a:ext>
            </a:extLst>
          </p:cNvPr>
          <p:cNvSpPr>
            <a:spLocks xmlns:a="http://schemas.openxmlformats.org/drawingml/2006/main" noGrp="1"/>
          </p:cNvSpPr>
          <p:nvPr/>
        </p:nvSpPr>
        <p:spPr>
          <a:xfrm xmlns:a="http://schemas.openxmlformats.org/drawingml/2006/main">
            <a:off x="9429750" y="3028950"/>
            <a:ext cx="514350" cy="514350"/>
          </a:xfrm>
          <a:prstGeom xmlns:a="http://schemas.openxmlformats.org/drawingml/2006/main" prst="roundRect">
            <a:avLst>
              <a:gd name="adj" fmla="val 14815"/>
            </a:avLst>
          </a:prstGeom>
          <a:solidFill xmlns:a="http://schemas.openxmlformats.org/drawingml/2006/main">
            <a:srgbClr val="3D8DF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7493813-4F51-4713-98FE-5377906B2030}"/>
              </a:ext>
            </a:extLst>
          </p:cNvPr>
          <p:cNvSpPr>
            <a:spLocks xmlns:a="http://schemas.openxmlformats.org/drawingml/2006/main" noGrp="1"/>
          </p:cNvSpPr>
          <p:nvPr/>
        </p:nvSpPr>
        <p:spPr>
          <a:xfrm xmlns:a="http://schemas.openxmlformats.org/drawingml/2006/main">
            <a:off x="9429750" y="3114675"/>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FFFFFF"/>
                </a:solidFill>
                <a:latin typeface="Helvetica Neue"/>
                <a:ea typeface="Helvetica Neue"/>
                <a:cs typeface="Helvetica Neue"/>
              </a:defRPr>
            </a:pPr>
            <a:r>
              <a:rPr sz="1800" b="1">
                <a:solidFill>
                  <a:srgbClr val="FFFFFF"/>
                </a:solidFill>
                <a:latin typeface="Helvetica Neue"/>
                <a:ea typeface="Helvetica Neue"/>
                <a:cs typeface="Helvetica Neue"/>
              </a:rPr>
              <a:t>5</a:t>
            </a:r>
          </a:p>
        </p:txBody>
      </p:sp>
      <p:sp>
        <p:nvSpPr>
          <p:cNvPr id="23" name="">
            <a:extLst xmlns:a="http://schemas.openxmlformats.org/drawingml/2006/main">
              <a:ext uri="{FF2B5EF4-FFF2-40B4-BE49-F238E27FC236}">
                <a16:creationId xmlns:a16="http://schemas.microsoft.com/office/drawing/2014/main" id="{E3BB2C60-5262-4233-A12A-F382C8620E31}"/>
              </a:ext>
            </a:extLst>
          </p:cNvPr>
          <p:cNvSpPr>
            <a:spLocks xmlns:a="http://schemas.openxmlformats.org/drawingml/2006/main" noGrp="1"/>
          </p:cNvSpPr>
          <p:nvPr/>
        </p:nvSpPr>
        <p:spPr>
          <a:xfrm xmlns:a="http://schemas.openxmlformats.org/drawingml/2006/main">
            <a:off x="9191625" y="3857625"/>
            <a:ext cx="171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Before</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harm</a:t>
            </a:r>
          </a:p>
        </p:txBody>
      </p:sp>
      <p:sp>
        <p:nvSpPr>
          <p:cNvPr id="24" name="">
            <a:extLst xmlns:a="http://schemas.openxmlformats.org/drawingml/2006/main">
              <a:ext uri="{FF2B5EF4-FFF2-40B4-BE49-F238E27FC236}">
                <a16:creationId xmlns:a16="http://schemas.microsoft.com/office/drawing/2014/main" id="{E019D626-7430-4C84-BCEA-92269403A1AC}"/>
              </a:ext>
            </a:extLst>
          </p:cNvPr>
          <p:cNvSpPr>
            <a:spLocks xmlns:a="http://schemas.openxmlformats.org/drawingml/2006/main" noGrp="1"/>
          </p:cNvSpPr>
          <p:nvPr/>
        </p:nvSpPr>
        <p:spPr>
          <a:xfrm xmlns:a="http://schemas.openxmlformats.org/drawingml/2006/main">
            <a:off x="9191625" y="4381500"/>
            <a:ext cx="1809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Measure intervention before the irreversible action.</a:t>
            </a:r>
          </a:p>
        </p:txBody>
      </p:sp>
      <p:sp>
        <p:nvSpPr>
          <p:cNvPr id="25" name="">
            <a:extLst xmlns:a="http://schemas.openxmlformats.org/drawingml/2006/main">
              <a:ext uri="{FF2B5EF4-FFF2-40B4-BE49-F238E27FC236}">
                <a16:creationId xmlns:a16="http://schemas.microsoft.com/office/drawing/2014/main" id="{651CDE00-70DF-47F6-B12D-E17859631631}"/>
              </a:ext>
            </a:extLst>
          </p:cNvPr>
          <p:cNvSpPr>
            <a:spLocks xmlns:a="http://schemas.openxmlformats.org/drawingml/2006/main" noGrp="1"/>
          </p:cNvSpPr>
          <p:nvPr/>
        </p:nvSpPr>
        <p:spPr>
          <a:xfrm xmlns:a="http://schemas.openxmlformats.org/drawingml/2006/main">
            <a:off x="400050" y="15240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000000"/>
                </a:solidFill>
                <a:latin typeface="Helvetica Neue"/>
                <a:ea typeface="Helvetica Neue"/>
                <a:cs typeface="Helvetica Neue"/>
              </a:defRPr>
            </a:pPr>
            <a:r>
              <a:rPr sz="2025" b="1">
                <a:solidFill>
                  <a:srgbClr val="000000"/>
                </a:solidFill>
                <a:latin typeface="Helvetica Neue"/>
                <a:ea typeface="Helvetica Neue"/>
                <a:cs typeface="Helvetica Neue"/>
              </a:rPr>
              <a:t>Common contract</a:t>
            </a:r>
          </a:p>
        </p:txBody>
      </p:sp>
      <p:sp>
        <p:nvSpPr>
          <p:cNvPr id="26" name="">
            <a:extLst xmlns:a="http://schemas.openxmlformats.org/drawingml/2006/main">
              <a:ext uri="{FF2B5EF4-FFF2-40B4-BE49-F238E27FC236}">
                <a16:creationId xmlns:a16="http://schemas.microsoft.com/office/drawing/2014/main" id="{E7202833-D67E-47B9-94D1-9180578073B0}"/>
              </a:ext>
            </a:extLst>
          </p:cNvPr>
          <p:cNvSpPr>
            <a:spLocks xmlns:a="http://schemas.openxmlformats.org/drawingml/2006/main" noGrp="1"/>
          </p:cNvSpPr>
          <p:nvPr/>
        </p:nvSpPr>
        <p:spPr>
          <a:xfrm xmlns:a="http://schemas.openxmlformats.org/drawingml/2006/main">
            <a:off x="400050" y="1952625"/>
            <a:ext cx="1066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D636D"/>
                </a:solidFill>
                <a:latin typeface="Helvetica Neue"/>
                <a:ea typeface="Helvetica Neue"/>
                <a:cs typeface="Helvetica Neue"/>
              </a:defRPr>
            </a:pPr>
            <a:r>
              <a:rPr sz="1575" b="0">
                <a:solidFill>
                  <a:srgbClr val="5D636D"/>
                </a:solidFill>
                <a:latin typeface="Helvetica Neue"/>
                <a:ea typeface="Helvetica Neue"/>
                <a:cs typeface="Helvetica Neue"/>
              </a:rPr>
              <a:t>Immutable assignments • paired seeds • model/runtime revision • consequence loss • utility • latency • trace hash</a:t>
            </a:r>
          </a:p>
        </p:txBody>
      </p:sp>
    </p:spTree>
    <p:extLst>
      <p:ext uri="{BB962C8B-B14F-4D97-AF65-F5344CB8AC3E}">
        <p14:creationId xmlns:p14="http://schemas.microsoft.com/office/powerpoint/2010/main" val="106909501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1131C71-3FBE-45E9-B711-EDD3B75D35EC}"/>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6-title">
            <a:extLst xmlns:a="http://schemas.openxmlformats.org/drawingml/2006/main">
              <a:ext uri="{FF2B5EF4-FFF2-40B4-BE49-F238E27FC236}">
                <a16:creationId xmlns:a16="http://schemas.microsoft.com/office/drawing/2014/main" id="{CA9E1DB2-44DE-4718-AAFD-A4928026059A}"/>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What actually ran—and what did not</a:t>
            </a:r>
          </a:p>
        </p:txBody>
      </p:sp>
      <p:sp>
        <p:nvSpPr>
          <p:cNvPr id="3" name="">
            <a:extLst xmlns:a="http://schemas.openxmlformats.org/drawingml/2006/main">
              <a:ext uri="{FF2B5EF4-FFF2-40B4-BE49-F238E27FC236}">
                <a16:creationId xmlns:a16="http://schemas.microsoft.com/office/drawing/2014/main" id="{C0F74CF4-81B3-48FE-9AEA-F5440C2341C6}"/>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C317BDED-2BE1-4928-97F6-FC2F2BA93993}"/>
              </a:ext>
            </a:extLst>
          </p:cNvPr>
          <p:cNvSpPr>
            <a:spLocks xmlns:a="http://schemas.openxmlformats.org/drawingml/2006/main" noGrp="1"/>
          </p:cNvSpPr>
          <p:nvPr/>
        </p:nvSpPr>
        <p:spPr>
          <a:xfrm xmlns:a="http://schemas.openxmlformats.org/drawingml/2006/main">
            <a:off x="400050" y="1809750"/>
            <a:ext cx="3476625" cy="3333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D2BDC0F-8382-4F57-96E5-060EA267342B}"/>
              </a:ext>
            </a:extLst>
          </p:cNvPr>
          <p:cNvSpPr>
            <a:spLocks xmlns:a="http://schemas.openxmlformats.org/drawingml/2006/main" noGrp="1"/>
          </p:cNvSpPr>
          <p:nvPr/>
        </p:nvSpPr>
        <p:spPr>
          <a:xfrm xmlns:a="http://schemas.openxmlformats.org/drawingml/2006/main">
            <a:off x="400050" y="1809750"/>
            <a:ext cx="95250" cy="3333750"/>
          </a:xfrm>
          <a:prstGeom xmlns:a="http://schemas.openxmlformats.org/drawingml/2006/main" prst="rect">
            <a:avLst/>
          </a:prstGeom>
          <a:solidFill xmlns:a="http://schemas.openxmlformats.org/drawingml/2006/main">
            <a:srgbClr val="5D636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957BA5D-E40A-4135-938D-774336F5BE0A}"/>
              </a:ext>
            </a:extLst>
          </p:cNvPr>
          <p:cNvSpPr>
            <a:spLocks xmlns:a="http://schemas.openxmlformats.org/drawingml/2006/main" noGrp="1"/>
          </p:cNvSpPr>
          <p:nvPr/>
        </p:nvSpPr>
        <p:spPr>
          <a:xfrm xmlns:a="http://schemas.openxmlformats.org/drawingml/2006/main">
            <a:off x="666750" y="2076450"/>
            <a:ext cx="30384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5D636D"/>
                </a:solidFill>
                <a:latin typeface="Helvetica Neue"/>
                <a:ea typeface="Helvetica Neue"/>
                <a:cs typeface="Helvetica Neue"/>
              </a:defRPr>
            </a:pPr>
            <a:r>
              <a:rPr sz="3150" b="1">
                <a:solidFill>
                  <a:srgbClr val="5D636D"/>
                </a:solidFill>
                <a:latin typeface="Helvetica Neue"/>
                <a:ea typeface="Helvetica Neue"/>
                <a:cs typeface="Helvetica Neue"/>
              </a:rPr>
              <a:t>2,400</a:t>
            </a:r>
          </a:p>
        </p:txBody>
      </p:sp>
      <p:sp>
        <p:nvSpPr>
          <p:cNvPr id="7" name="">
            <a:extLst xmlns:a="http://schemas.openxmlformats.org/drawingml/2006/main">
              <a:ext uri="{FF2B5EF4-FFF2-40B4-BE49-F238E27FC236}">
                <a16:creationId xmlns:a16="http://schemas.microsoft.com/office/drawing/2014/main" id="{948BF936-6003-469C-9E55-F76CBEA7BD55}"/>
              </a:ext>
            </a:extLst>
          </p:cNvPr>
          <p:cNvSpPr>
            <a:spLocks xmlns:a="http://schemas.openxmlformats.org/drawingml/2006/main" noGrp="1"/>
          </p:cNvSpPr>
          <p:nvPr/>
        </p:nvSpPr>
        <p:spPr>
          <a:xfrm xmlns:a="http://schemas.openxmlformats.org/drawingml/2006/main">
            <a:off x="666750" y="2933700"/>
            <a:ext cx="3038475"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Controlled trajectories</a:t>
            </a:r>
          </a:p>
          <a:p xmlns:a="http://schemas.openxmlformats.org/drawingml/2006/main">
            <a:r>
              <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Deterministic failure simulator; no LLM agents. Registered cells, stacks, and known fixtures.</a:t>
            </a:r>
          </a:p>
        </p:txBody>
      </p:sp>
      <p:sp>
        <p:nvSpPr>
          <p:cNvPr id="8" name="">
            <a:extLst xmlns:a="http://schemas.openxmlformats.org/drawingml/2006/main">
              <a:ext uri="{FF2B5EF4-FFF2-40B4-BE49-F238E27FC236}">
                <a16:creationId xmlns:a16="http://schemas.microsoft.com/office/drawing/2014/main" id="{6EDB8085-898C-4C86-B1FA-6D1D5FF6008B}"/>
              </a:ext>
            </a:extLst>
          </p:cNvPr>
          <p:cNvSpPr>
            <a:spLocks xmlns:a="http://schemas.openxmlformats.org/drawingml/2006/main" noGrp="1"/>
          </p:cNvSpPr>
          <p:nvPr/>
        </p:nvSpPr>
        <p:spPr>
          <a:xfrm xmlns:a="http://schemas.openxmlformats.org/drawingml/2006/main">
            <a:off x="4352925" y="1809750"/>
            <a:ext cx="3476625" cy="3333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8AABD1D-F00F-4EC1-9266-2BE52D1E0BCF}"/>
              </a:ext>
            </a:extLst>
          </p:cNvPr>
          <p:cNvSpPr>
            <a:spLocks xmlns:a="http://schemas.openxmlformats.org/drawingml/2006/main" noGrp="1"/>
          </p:cNvSpPr>
          <p:nvPr/>
        </p:nvSpPr>
        <p:spPr>
          <a:xfrm xmlns:a="http://schemas.openxmlformats.org/drawingml/2006/main">
            <a:off x="4352925" y="1809750"/>
            <a:ext cx="95250" cy="33337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659B87-AB64-4F51-A371-EF4D948A5ABB}"/>
              </a:ext>
            </a:extLst>
          </p:cNvPr>
          <p:cNvSpPr>
            <a:spLocks xmlns:a="http://schemas.openxmlformats.org/drawingml/2006/main" noGrp="1"/>
          </p:cNvSpPr>
          <p:nvPr/>
        </p:nvSpPr>
        <p:spPr>
          <a:xfrm xmlns:a="http://schemas.openxmlformats.org/drawingml/2006/main">
            <a:off x="4619625" y="2076450"/>
            <a:ext cx="30384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3D8DFF"/>
                </a:solidFill>
                <a:latin typeface="Helvetica Neue"/>
                <a:ea typeface="Helvetica Neue"/>
                <a:cs typeface="Helvetica Neue"/>
              </a:defRPr>
            </a:pPr>
            <a:r>
              <a:rPr sz="3150" b="1">
                <a:solidFill>
                  <a:srgbClr val="3D8DFF"/>
                </a:solidFill>
                <a:latin typeface="Helvetica Neue"/>
                <a:ea typeface="Helvetica Neue"/>
                <a:cs typeface="Helvetica Neue"/>
              </a:rPr>
              <a:t>64 + 24</a:t>
            </a:r>
          </a:p>
        </p:txBody>
      </p:sp>
      <p:sp>
        <p:nvSpPr>
          <p:cNvPr id="11" name="">
            <a:extLst xmlns:a="http://schemas.openxmlformats.org/drawingml/2006/main">
              <a:ext uri="{FF2B5EF4-FFF2-40B4-BE49-F238E27FC236}">
                <a16:creationId xmlns:a16="http://schemas.microsoft.com/office/drawing/2014/main" id="{FA1B36BE-585A-435E-AA53-5D01585EE58C}"/>
              </a:ext>
            </a:extLst>
          </p:cNvPr>
          <p:cNvSpPr>
            <a:spLocks xmlns:a="http://schemas.openxmlformats.org/drawingml/2006/main" noGrp="1"/>
          </p:cNvSpPr>
          <p:nvPr/>
        </p:nvSpPr>
        <p:spPr>
          <a:xfrm xmlns:a="http://schemas.openxmlformats.org/drawingml/2006/main">
            <a:off x="4619625" y="2933700"/>
            <a:ext cx="3038475"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Online 7B canaries</a:t>
            </a:r>
          </a:p>
          <a:p xmlns:a="http://schemas.openxmlformats.org/drawingml/2006/main">
            <a:r>
              <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Two-agent covert channel (64) and six-role workflow (24), with defenses inside the gateway.</a:t>
            </a:r>
          </a:p>
        </p:txBody>
      </p:sp>
      <p:sp>
        <p:nvSpPr>
          <p:cNvPr id="12" name="">
            <a:extLst xmlns:a="http://schemas.openxmlformats.org/drawingml/2006/main">
              <a:ext uri="{FF2B5EF4-FFF2-40B4-BE49-F238E27FC236}">
                <a16:creationId xmlns:a16="http://schemas.microsoft.com/office/drawing/2014/main" id="{7EAC07C0-0BDD-492D-9A25-0C42D64E6656}"/>
              </a:ext>
            </a:extLst>
          </p:cNvPr>
          <p:cNvSpPr>
            <a:spLocks xmlns:a="http://schemas.openxmlformats.org/drawingml/2006/main" noGrp="1"/>
          </p:cNvSpPr>
          <p:nvPr/>
        </p:nvSpPr>
        <p:spPr>
          <a:xfrm xmlns:a="http://schemas.openxmlformats.org/drawingml/2006/main">
            <a:off x="8305800" y="1809750"/>
            <a:ext cx="3486150" cy="3333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C24F48E-FA4D-4F63-B5C6-E8B25428484A}"/>
              </a:ext>
            </a:extLst>
          </p:cNvPr>
          <p:cNvSpPr>
            <a:spLocks xmlns:a="http://schemas.openxmlformats.org/drawingml/2006/main" noGrp="1"/>
          </p:cNvSpPr>
          <p:nvPr/>
        </p:nvSpPr>
        <p:spPr>
          <a:xfrm xmlns:a="http://schemas.openxmlformats.org/drawingml/2006/main">
            <a:off x="8305800" y="1809750"/>
            <a:ext cx="95250" cy="3333750"/>
          </a:xfrm>
          <a:prstGeom xmlns:a="http://schemas.openxmlformats.org/drawingml/2006/main" prst="rect">
            <a:avLst/>
          </a:prstGeom>
          <a:solidFill xmlns:a="http://schemas.openxmlformats.org/drawingml/2006/main">
            <a:srgbClr val="2070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61B2D4F-964F-42B1-8200-323DE068DD6E}"/>
              </a:ext>
            </a:extLst>
          </p:cNvPr>
          <p:cNvSpPr>
            <a:spLocks xmlns:a="http://schemas.openxmlformats.org/drawingml/2006/main" noGrp="1"/>
          </p:cNvSpPr>
          <p:nvPr/>
        </p:nvSpPr>
        <p:spPr>
          <a:xfrm xmlns:a="http://schemas.openxmlformats.org/drawingml/2006/main">
            <a:off x="8572500" y="2076450"/>
            <a:ext cx="304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20704A"/>
                </a:solidFill>
                <a:latin typeface="Helvetica Neue"/>
                <a:ea typeface="Helvetica Neue"/>
                <a:cs typeface="Helvetica Neue"/>
              </a:defRPr>
            </a:pPr>
            <a:r>
              <a:rPr sz="3150" b="1">
                <a:solidFill>
                  <a:srgbClr val="20704A"/>
                </a:solidFill>
                <a:latin typeface="Helvetica Neue"/>
                <a:ea typeface="Helvetica Neue"/>
                <a:cs typeface="Helvetica Neue"/>
              </a:rPr>
              <a:t>900</a:t>
            </a:r>
          </a:p>
        </p:txBody>
      </p:sp>
      <p:sp>
        <p:nvSpPr>
          <p:cNvPr id="15" name="">
            <a:extLst xmlns:a="http://schemas.openxmlformats.org/drawingml/2006/main">
              <a:ext uri="{FF2B5EF4-FFF2-40B4-BE49-F238E27FC236}">
                <a16:creationId xmlns:a16="http://schemas.microsoft.com/office/drawing/2014/main" id="{E76C9C74-72A0-4552-948E-ACA23CC56274}"/>
              </a:ext>
            </a:extLst>
          </p:cNvPr>
          <p:cNvSpPr>
            <a:spLocks xmlns:a="http://schemas.openxmlformats.org/drawingml/2006/main" noGrp="1"/>
          </p:cNvSpPr>
          <p:nvPr/>
        </p:nvSpPr>
        <p:spPr>
          <a:xfrm xmlns:a="http://schemas.openxmlformats.org/drawingml/2006/main">
            <a:off x="8572500" y="2933700"/>
            <a:ext cx="3048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Sequential 7B episodes</a:t>
            </a:r>
          </a:p>
          <a:p xmlns:a="http://schemas.openxmlformats.org/drawingml/2006/main">
            <a:r>
              <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Two agents, 100 turns, 900 episodes; monitors score trace-derived statistics after generation.</a:t>
            </a:r>
          </a:p>
        </p:txBody>
      </p:sp>
      <p:sp>
        <p:nvSpPr>
          <p:cNvPr id="16" name="">
            <a:extLst xmlns:a="http://schemas.openxmlformats.org/drawingml/2006/main">
              <a:ext uri="{FF2B5EF4-FFF2-40B4-BE49-F238E27FC236}">
                <a16:creationId xmlns:a16="http://schemas.microsoft.com/office/drawing/2014/main" id="{A84ABC26-1996-4C7A-9D39-7267C562B8D0}"/>
              </a:ext>
            </a:extLst>
          </p:cNvPr>
          <p:cNvSpPr>
            <a:spLocks xmlns:a="http://schemas.openxmlformats.org/drawingml/2006/main" noGrp="1"/>
          </p:cNvSpPr>
          <p:nvPr/>
        </p:nvSpPr>
        <p:spPr>
          <a:xfrm xmlns:a="http://schemas.openxmlformats.org/drawingml/2006/main">
            <a:off x="400050" y="5619750"/>
            <a:ext cx="1095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C86B20"/>
                </a:solidFill>
                <a:latin typeface="Helvetica Neue"/>
                <a:ea typeface="Helvetica Neue"/>
                <a:cs typeface="Helvetica Neue"/>
              </a:defRPr>
            </a:pPr>
            <a:r>
              <a:rPr sz="2100" b="1">
                <a:solidFill>
                  <a:srgbClr val="C86B20"/>
                </a:solidFill>
                <a:latin typeface="Helvetica Neue"/>
                <a:ea typeface="Helvetica Neue"/>
                <a:cs typeface="Helvetica Neue"/>
              </a:rPr>
              <a:t>Not yet run: autonomous stack-specific search or a distinct held-out model family.</a:t>
            </a:r>
          </a:p>
        </p:txBody>
      </p:sp>
    </p:spTree>
    <p:extLst>
      <p:ext uri="{BB962C8B-B14F-4D97-AF65-F5344CB8AC3E}">
        <p14:creationId xmlns:p14="http://schemas.microsoft.com/office/powerpoint/2010/main" val="31458286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F5E479-F304-43E0-9DD7-6ECE0BB1B711}"/>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4-title">
            <a:extLst xmlns:a="http://schemas.openxmlformats.org/drawingml/2006/main">
              <a:ext uri="{FF2B5EF4-FFF2-40B4-BE49-F238E27FC236}">
                <a16:creationId xmlns:a16="http://schemas.microsoft.com/office/drawing/2014/main" id="{75D1F63C-9327-4B72-9129-8688169032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Attacks were scaffolded; two defenses ran inline</a:t>
            </a:r>
          </a:p>
        </p:txBody>
      </p:sp>
      <p:sp>
        <p:nvSpPr>
          <p:cNvPr id="3" name="">
            <a:extLst xmlns:a="http://schemas.openxmlformats.org/drawingml/2006/main">
              <a:ext uri="{FF2B5EF4-FFF2-40B4-BE49-F238E27FC236}">
                <a16:creationId xmlns:a16="http://schemas.microsoft.com/office/drawing/2014/main" id="{C457683D-8C23-4AC2-AA5B-ED38921DB86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A5BDC0CE-0622-4406-9B4F-98CF1B3429E7}"/>
              </a:ext>
            </a:extLst>
          </p:cNvPr>
          <p:cNvSpPr>
            <a:spLocks xmlns:a="http://schemas.openxmlformats.org/drawingml/2006/main" noGrp="1"/>
          </p:cNvSpPr>
          <p:nvPr/>
        </p:nvSpPr>
        <p:spPr>
          <a:xfrm xmlns:a="http://schemas.openxmlformats.org/drawingml/2006/main">
            <a:off x="400050" y="1543050"/>
            <a:ext cx="5429250" cy="4286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6CD06E-8FC1-495C-9B93-0E6F7A30042C}"/>
              </a:ext>
            </a:extLst>
          </p:cNvPr>
          <p:cNvSpPr>
            <a:spLocks xmlns:a="http://schemas.openxmlformats.org/drawingml/2006/main" noGrp="1"/>
          </p:cNvSpPr>
          <p:nvPr/>
        </p:nvSpPr>
        <p:spPr>
          <a:xfrm xmlns:a="http://schemas.openxmlformats.org/drawingml/2006/main">
            <a:off x="6191250" y="1543050"/>
            <a:ext cx="5600700" cy="4286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363782-92FE-4FEB-9BA8-546B59559F92}"/>
              </a:ext>
            </a:extLst>
          </p:cNvPr>
          <p:cNvSpPr>
            <a:spLocks xmlns:a="http://schemas.openxmlformats.org/drawingml/2006/main" noGrp="1"/>
          </p:cNvSpPr>
          <p:nvPr/>
        </p:nvSpPr>
        <p:spPr>
          <a:xfrm xmlns:a="http://schemas.openxmlformats.org/drawingml/2006/main">
            <a:off x="685800" y="1857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Attack induction</a:t>
            </a:r>
          </a:p>
        </p:txBody>
      </p:sp>
      <p:sp>
        <p:nvSpPr>
          <p:cNvPr id="7" name="">
            <a:extLst xmlns:a="http://schemas.openxmlformats.org/drawingml/2006/main">
              <a:ext uri="{FF2B5EF4-FFF2-40B4-BE49-F238E27FC236}">
                <a16:creationId xmlns:a16="http://schemas.microsoft.com/office/drawing/2014/main" id="{57764050-A6DA-4B46-82A2-CAB2EC10E2FA}"/>
              </a:ext>
            </a:extLst>
          </p:cNvPr>
          <p:cNvSpPr>
            <a:spLocks xmlns:a="http://schemas.openxmlformats.org/drawingml/2006/main" noGrp="1"/>
          </p:cNvSpPr>
          <p:nvPr/>
        </p:nvSpPr>
        <p:spPr>
          <a:xfrm xmlns:a="http://schemas.openxmlformats.org/drawingml/2006/main">
            <a:off x="685800" y="2476500"/>
            <a:ext cx="46672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Supplied two-bit codebook</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Registered planner/reviewer manipulation</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Goal-driven low-rate, delayed, memory, and reward objectives</a:t>
            </a:r>
          </a:p>
        </p:txBody>
      </p:sp>
      <p:sp>
        <p:nvSpPr>
          <p:cNvPr id="8" name="">
            <a:extLst xmlns:a="http://schemas.openxmlformats.org/drawingml/2006/main">
              <a:ext uri="{FF2B5EF4-FFF2-40B4-BE49-F238E27FC236}">
                <a16:creationId xmlns:a16="http://schemas.microsoft.com/office/drawing/2014/main" id="{B775A0DB-A5FB-4312-BFF3-AD6BAB917018}"/>
              </a:ext>
            </a:extLst>
          </p:cNvPr>
          <p:cNvSpPr>
            <a:spLocks xmlns:a="http://schemas.openxmlformats.org/drawingml/2006/main" noGrp="1"/>
          </p:cNvSpPr>
          <p:nvPr/>
        </p:nvSpPr>
        <p:spPr>
          <a:xfrm xmlns:a="http://schemas.openxmlformats.org/drawingml/2006/main">
            <a:off x="6496050" y="18573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Defense placement</a:t>
            </a:r>
          </a:p>
        </p:txBody>
      </p:sp>
      <p:sp>
        <p:nvSpPr>
          <p:cNvPr id="9" name="">
            <a:extLst xmlns:a="http://schemas.openxmlformats.org/drawingml/2006/main">
              <a:ext uri="{FF2B5EF4-FFF2-40B4-BE49-F238E27FC236}">
                <a16:creationId xmlns:a16="http://schemas.microsoft.com/office/drawing/2014/main" id="{E64D6E4E-7DEC-485C-B4D4-00B4FD5E6370}"/>
              </a:ext>
            </a:extLst>
          </p:cNvPr>
          <p:cNvSpPr>
            <a:spLocks xmlns:a="http://schemas.openxmlformats.org/drawingml/2006/main" noGrp="1"/>
          </p:cNvSpPr>
          <p:nvPr/>
        </p:nvSpPr>
        <p:spPr>
          <a:xfrm xmlns:a="http://schemas.openxmlformats.org/drawingml/2006/main">
            <a:off x="6496050" y="2476500"/>
            <a:ext cx="476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Capacity mediator: before the receiver</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Workflow repair/gate: before external action</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Phase 5 monitors: offline after generation</a:t>
            </a:r>
          </a:p>
        </p:txBody>
      </p:sp>
      <p:sp>
        <p:nvSpPr>
          <p:cNvPr id="10" name="">
            <a:extLst xmlns:a="http://schemas.openxmlformats.org/drawingml/2006/main">
              <a:ext uri="{FF2B5EF4-FFF2-40B4-BE49-F238E27FC236}">
                <a16:creationId xmlns:a16="http://schemas.microsoft.com/office/drawing/2014/main" id="{8B5C5AC7-7E09-417E-8BE5-0A3A14555694}"/>
              </a:ext>
            </a:extLst>
          </p:cNvPr>
          <p:cNvSpPr>
            <a:spLocks xmlns:a="http://schemas.openxmlformats.org/drawingml/2006/main" noGrp="1"/>
          </p:cNvSpPr>
          <p:nvPr/>
        </p:nvSpPr>
        <p:spPr>
          <a:xfrm xmlns:a="http://schemas.openxmlformats.org/drawingml/2006/main">
            <a:off x="400050" y="601980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A63434"/>
                </a:solidFill>
                <a:latin typeface="Helvetica Neue"/>
                <a:ea typeface="Helvetica Neue"/>
                <a:cs typeface="Helvetica Neue"/>
              </a:defRPr>
            </a:pPr>
            <a:r>
              <a:rPr sz="1500" b="1">
                <a:solidFill>
                  <a:srgbClr val="A63434"/>
                </a:solidFill>
                <a:latin typeface="Helvetica Neue"/>
                <a:ea typeface="Helvetica Neue"/>
                <a:cs typeface="Helvetica Neue"/>
              </a:rPr>
              <a:t>This establishes execution and mechanism paths—not autonomous collusion discovery.</a:t>
            </a:r>
          </a:p>
        </p:txBody>
      </p:sp>
    </p:spTree>
    <p:extLst>
      <p:ext uri="{BB962C8B-B14F-4D97-AF65-F5344CB8AC3E}">
        <p14:creationId xmlns:p14="http://schemas.microsoft.com/office/powerpoint/2010/main" val="18160911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F5E479-F304-43E0-9DD7-6ECE0BB1B711}"/>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4-title">
            <a:extLst xmlns:a="http://schemas.openxmlformats.org/drawingml/2006/main">
              <a:ext uri="{FF2B5EF4-FFF2-40B4-BE49-F238E27FC236}">
                <a16:creationId xmlns:a16="http://schemas.microsoft.com/office/drawing/2014/main" id="{75D1F63C-9327-4B72-9129-8688169032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Every conclusion pairs an effect with uncertainty</a:t>
            </a:r>
          </a:p>
        </p:txBody>
      </p:sp>
      <p:sp>
        <p:nvSpPr>
          <p:cNvPr id="3" name="">
            <a:extLst xmlns:a="http://schemas.openxmlformats.org/drawingml/2006/main">
              <a:ext uri="{FF2B5EF4-FFF2-40B4-BE49-F238E27FC236}">
                <a16:creationId xmlns:a16="http://schemas.microsoft.com/office/drawing/2014/main" id="{C457683D-8C23-4AC2-AA5B-ED38921DB861}"/>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11</a:t>
            </a:r>
          </a:p>
        </p:txBody>
      </p:sp>
      <p:sp>
        <p:nvSpPr>
          <p:cNvPr id="4" name="">
            <a:extLst xmlns:a="http://schemas.openxmlformats.org/drawingml/2006/main">
              <a:ext uri="{FF2B5EF4-FFF2-40B4-BE49-F238E27FC236}">
                <a16:creationId xmlns:a16="http://schemas.microsoft.com/office/drawing/2014/main" id="{A5BDC0CE-0622-4406-9B4F-98CF1B3429E7}"/>
              </a:ext>
            </a:extLst>
          </p:cNvPr>
          <p:cNvSpPr>
            <a:spLocks xmlns:a="http://schemas.openxmlformats.org/drawingml/2006/main" noGrp="1"/>
          </p:cNvSpPr>
          <p:nvPr/>
        </p:nvSpPr>
        <p:spPr>
          <a:xfrm xmlns:a="http://schemas.openxmlformats.org/drawingml/2006/main">
            <a:off x="400050" y="1543050"/>
            <a:ext cx="5429250" cy="4286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6CD06E-8FC1-495C-9B93-0E6F7A30042C}"/>
              </a:ext>
            </a:extLst>
          </p:cNvPr>
          <p:cNvSpPr>
            <a:spLocks xmlns:a="http://schemas.openxmlformats.org/drawingml/2006/main" noGrp="1"/>
          </p:cNvSpPr>
          <p:nvPr/>
        </p:nvSpPr>
        <p:spPr>
          <a:xfrm xmlns:a="http://schemas.openxmlformats.org/drawingml/2006/main">
            <a:off x="6191250" y="1543050"/>
            <a:ext cx="5600700" cy="4286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363782-92FE-4FEB-9BA8-546B59559F92}"/>
              </a:ext>
            </a:extLst>
          </p:cNvPr>
          <p:cNvSpPr>
            <a:spLocks xmlns:a="http://schemas.openxmlformats.org/drawingml/2006/main" noGrp="1"/>
          </p:cNvSpPr>
          <p:nvPr/>
        </p:nvSpPr>
        <p:spPr>
          <a:xfrm xmlns:a="http://schemas.openxmlformats.org/drawingml/2006/main">
            <a:off x="685800" y="185737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Effect metrics</a:t>
            </a:r>
          </a:p>
        </p:txBody>
      </p:sp>
      <p:sp>
        <p:nvSpPr>
          <p:cNvPr id="7" name="">
            <a:extLst xmlns:a="http://schemas.openxmlformats.org/drawingml/2006/main">
              <a:ext uri="{FF2B5EF4-FFF2-40B4-BE49-F238E27FC236}">
                <a16:creationId xmlns:a16="http://schemas.microsoft.com/office/drawing/2014/main" id="{57764050-A6DA-4B46-82A2-CAB2EC10E2FA}"/>
              </a:ext>
            </a:extLst>
          </p:cNvPr>
          <p:cNvSpPr>
            <a:spLocks xmlns:a="http://schemas.openxmlformats.org/drawingml/2006/main" noGrp="1"/>
          </p:cNvSpPr>
          <p:nvPr/>
        </p:nvSpPr>
        <p:spPr>
          <a:xfrm xmlns:a="http://schemas.openxmlformats.org/drawingml/2006/main">
            <a:off x="685800" y="2476500"/>
            <a:ext cx="46672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Attack success, mutual information, exact utility</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Harm, remediation, Γ, realized gain, interaction</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a:r>
          </a:p>
          <a:p xmlns:a="http://schemas.openxmlformats.org/drawingml/2006/main">
            <a:pPr algn="l">
              <a:buNone/>
              <a:defRPr sz="1650" b="0">
                <a:solidFill>
                  <a:srgbClr val="5D636D"/>
                </a:solidFill>
                <a:latin typeface="Helvetica Neue"/>
                <a:ea typeface="Helvetica Neue"/>
                <a:cs typeface="Helvetica Neue"/>
              </a:defRPr>
            </a:pPr>
            <a:r>
              <a:rPr sz="1650" b="0">
                <a:solidFill>
                  <a:srgbClr val="5D636D"/>
                </a:solidFill>
                <a:latin typeface="Helvetica Neue"/>
                <a:ea typeface="Helvetica Neue"/>
                <a:cs typeface="Helvetica Neue"/>
              </a:rPr>
              <a:t>• Before-harm intervention</a:t>
            </a:r>
          </a:p>
        </p:txBody>
      </p:sp>
      <p:sp>
        <p:nvSpPr>
          <p:cNvPr id="8" name="">
            <a:extLst xmlns:a="http://schemas.openxmlformats.org/drawingml/2006/main">
              <a:ext uri="{FF2B5EF4-FFF2-40B4-BE49-F238E27FC236}">
                <a16:creationId xmlns:a16="http://schemas.microsoft.com/office/drawing/2014/main" id="{B775A0DB-A5FB-4312-BFF3-AD6BAB917018}"/>
              </a:ext>
            </a:extLst>
          </p:cNvPr>
          <p:cNvSpPr>
            <a:spLocks xmlns:a="http://schemas.openxmlformats.org/drawingml/2006/main" noGrp="1"/>
          </p:cNvSpPr>
          <p:nvPr/>
        </p:nvSpPr>
        <p:spPr>
          <a:xfrm xmlns:a="http://schemas.openxmlformats.org/drawingml/2006/main">
            <a:off x="6496050" y="18573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Uncertainty and selection</a:t>
            </a:r>
          </a:p>
        </p:txBody>
      </p:sp>
      <p:sp>
        <p:nvSpPr>
          <p:cNvPr id="9" name="">
            <a:extLst xmlns:a="http://schemas.openxmlformats.org/drawingml/2006/main">
              <a:ext uri="{FF2B5EF4-FFF2-40B4-BE49-F238E27FC236}">
                <a16:creationId xmlns:a16="http://schemas.microsoft.com/office/drawing/2014/main" id="{E64D6E4E-7DEC-485C-B4D4-00B4FD5E6370}"/>
              </a:ext>
            </a:extLst>
          </p:cNvPr>
          <p:cNvSpPr>
            <a:spLocks xmlns:a="http://schemas.openxmlformats.org/drawingml/2006/main" noGrp="1"/>
          </p:cNvSpPr>
          <p:nvPr/>
        </p:nvSpPr>
        <p:spPr>
          <a:xfrm xmlns:a="http://schemas.openxmlformats.org/drawingml/2006/main">
            <a:off x="6496050" y="2476500"/>
            <a:ext cx="4762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Wilson 95% bounds</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Worst-decile CVaR + DKW upper bound</a:t>
            </a:r>
          </a:p>
          <a:p xmlns:a="http://schemas.openxmlformats.org/drawingml/2006/main">
            <a: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Paired Hoeffding lower bound</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a:r>
          </a:p>
          <a:p xmlns:a="http://schemas.openxmlformats.org/drawingml/2006/main">
            <a:pPr algn="l">
              <a:buNone/>
              <a:defRPr sz="1650" b="1">
                <a:solidFill>
                  <a:srgbClr val="000000"/>
                </a:solidFill>
                <a:latin typeface="Helvetica Neue"/>
                <a:ea typeface="Helvetica Neue"/>
                <a:cs typeface="Helvetica Neue"/>
              </a:defRPr>
            </a:pPr>
            <a:r>
              <a:rPr sz="1650" b="1">
                <a:solidFill>
                  <a:srgbClr val="000000"/>
                </a:solidFill>
                <a:latin typeface="Helvetica Neue"/>
                <a:ea typeface="Helvetica Neue"/>
                <a:cs typeface="Helvetica Neue"/>
              </a:rPr>
              <a:t>• 2,000-bootstrap delay; Spearman diagnostic</a:t>
            </a:r>
          </a:p>
        </p:txBody>
      </p:sp>
      <p:sp>
        <p:nvSpPr>
          <p:cNvPr id="10" name="">
            <a:extLst xmlns:a="http://schemas.openxmlformats.org/drawingml/2006/main">
              <a:ext uri="{FF2B5EF4-FFF2-40B4-BE49-F238E27FC236}">
                <a16:creationId xmlns:a16="http://schemas.microsoft.com/office/drawing/2014/main" id="{8B5C5AC7-7E09-417E-8BE5-0A3A14555694}"/>
              </a:ext>
            </a:extLst>
          </p:cNvPr>
          <p:cNvSpPr>
            <a:spLocks xmlns:a="http://schemas.openxmlformats.org/drawingml/2006/main" noGrp="1"/>
          </p:cNvSpPr>
          <p:nvPr/>
        </p:nvSpPr>
        <p:spPr>
          <a:xfrm xmlns:a="http://schemas.openxmlformats.org/drawingml/2006/main">
            <a:off x="400050" y="6019800"/>
            <a:ext cx="1104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A63434"/>
                </a:solidFill>
                <a:latin typeface="Helvetica Neue"/>
                <a:ea typeface="Helvetica Neue"/>
                <a:cs typeface="Helvetica Neue"/>
              </a:defRPr>
            </a:pPr>
            <a:r>
              <a:rPr sz="1500" b="1">
                <a:solidFill>
                  <a:srgbClr val="A63434"/>
                </a:solidFill>
                <a:latin typeface="Helvetica Neue"/>
                <a:ea typeface="Helvetica Neue"/>
                <a:cs typeface="Helvetica Neue"/>
              </a:rPr>
              <a:t>Canary intervals are wide; E04 uses three synthetic stacks and remains diagnostic only.</a:t>
            </a:r>
          </a:p>
        </p:txBody>
      </p:sp>
    </p:spTree>
    <p:extLst>
      <p:ext uri="{BB962C8B-B14F-4D97-AF65-F5344CB8AC3E}">
        <p14:creationId xmlns:p14="http://schemas.microsoft.com/office/powerpoint/2010/main" val="18160911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82E770-9413-4750-8886-127FE3D82DEE}"/>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7-title">
            <a:extLst xmlns:a="http://schemas.openxmlformats.org/drawingml/2006/main">
              <a:ext uri="{FF2B5EF4-FFF2-40B4-BE49-F238E27FC236}">
                <a16:creationId xmlns:a16="http://schemas.microsoft.com/office/drawing/2014/main" id="{1462EBED-5E7F-431A-BF19-FD71AA234E9E}"/>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Paraphrasing breaks one code; adaptation restores it</a:t>
            </a:r>
          </a:p>
        </p:txBody>
      </p:sp>
      <p:sp>
        <p:nvSpPr>
          <p:cNvPr id="3" name="">
            <a:extLst xmlns:a="http://schemas.openxmlformats.org/drawingml/2006/main">
              <a:ext uri="{FF2B5EF4-FFF2-40B4-BE49-F238E27FC236}">
                <a16:creationId xmlns:a16="http://schemas.microsoft.com/office/drawing/2014/main" id="{5F56FD1D-B3B8-4CF1-B87C-53F33837B1A2}"/>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12</a:t>
            </a:r>
          </a:p>
        </p:txBody>
      </p:sp>
      <p:graphicFrame>
        <p:nvGraphicFramePr>
          <p:cNvPr id="16" name="Chart"/>
          <p:cNvGraphicFramePr/>
          <p:nvPr/>
        </p:nvGraphicFramePr>
        <p:xfrm>
          <a:off xmlns:a="http://schemas.openxmlformats.org/drawingml/2006/main" x="400050" y="1571625"/>
          <a:ext xmlns:a="http://schemas.openxmlformats.org/drawingml/2006/main" cx="7239000" cy="4429125"/>
        </p:xfrm>
        <a:graphic xmlns:a="http://schemas.openxmlformats.org/drawingml/2006/main">
          <a:graphicData uri="http://schemas.openxmlformats.org/drawingml/2006/chart">
            <c:chart xmlns:r="http://schemas.openxmlformats.org/officeDocument/2006/relationships" xmlns:c="http://schemas.openxmlformats.org/drawingml/2006/chart" r:id="Ree6c6792c6b5492e"/>
          </a:graphicData>
        </a:graphic>
      </p:graphicFrame>
      <p:sp>
        <p:nvSpPr>
          <p:cNvPr id="5" name="">
            <a:extLst xmlns:a="http://schemas.openxmlformats.org/drawingml/2006/main">
              <a:ext uri="{FF2B5EF4-FFF2-40B4-BE49-F238E27FC236}">
                <a16:creationId xmlns:a16="http://schemas.microsoft.com/office/drawing/2014/main" id="{AB7ACE5B-E8E8-4FC4-8106-33D26A91A67F}"/>
              </a:ext>
            </a:extLst>
          </p:cNvPr>
          <p:cNvSpPr>
            <a:spLocks xmlns:a="http://schemas.openxmlformats.org/drawingml/2006/main" noGrp="1"/>
          </p:cNvSpPr>
          <p:nvPr/>
        </p:nvSpPr>
        <p:spPr>
          <a:xfrm xmlns:a="http://schemas.openxmlformats.org/drawingml/2006/main">
            <a:off x="8096250" y="1762125"/>
            <a:ext cx="3381375" cy="16192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EE2CFBA-E705-4925-899C-F147B4A5C4F8}"/>
              </a:ext>
            </a:extLst>
          </p:cNvPr>
          <p:cNvSpPr>
            <a:spLocks xmlns:a="http://schemas.openxmlformats.org/drawingml/2006/main" noGrp="1"/>
          </p:cNvSpPr>
          <p:nvPr/>
        </p:nvSpPr>
        <p:spPr>
          <a:xfrm xmlns:a="http://schemas.openxmlformats.org/drawingml/2006/main">
            <a:off x="8382000" y="209550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400" b="1">
                <a:solidFill>
                  <a:srgbClr val="20704A"/>
                </a:solidFill>
                <a:latin typeface="Helvetica Neue"/>
                <a:ea typeface="Helvetica Neue"/>
                <a:cs typeface="Helvetica Neue"/>
              </a:defRPr>
            </a:pPr>
            <a:r>
              <a:rPr sz="2400" b="1">
                <a:solidFill>
                  <a:srgbClr val="20704A"/>
                </a:solidFill>
                <a:latin typeface="Helvetica Neue"/>
                <a:ea typeface="Helvetica Neue"/>
                <a:cs typeface="Helvetica Neue"/>
              </a:rPr>
              <a:t>Utility = 1.00</a:t>
            </a:r>
          </a:p>
        </p:txBody>
      </p:sp>
      <p:sp>
        <p:nvSpPr>
          <p:cNvPr id="7" name="">
            <a:extLst xmlns:a="http://schemas.openxmlformats.org/drawingml/2006/main">
              <a:ext uri="{FF2B5EF4-FFF2-40B4-BE49-F238E27FC236}">
                <a16:creationId xmlns:a16="http://schemas.microsoft.com/office/drawing/2014/main" id="{47BE331E-680F-400F-B6A4-3549287B487F}"/>
              </a:ext>
            </a:extLst>
          </p:cNvPr>
          <p:cNvSpPr>
            <a:spLocks xmlns:a="http://schemas.openxmlformats.org/drawingml/2006/main" noGrp="1"/>
          </p:cNvSpPr>
          <p:nvPr/>
        </p:nvSpPr>
        <p:spPr>
          <a:xfrm xmlns:a="http://schemas.openxmlformats.org/drawingml/2006/main">
            <a:off x="8382000" y="2657475"/>
            <a:ext cx="2857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a:solidFill>
                  <a:srgbClr val="5D636D"/>
                </a:solidFill>
                <a:latin typeface="Helvetica Neue"/>
                <a:ea typeface="Helvetica Neue"/>
                <a:cs typeface="Helvetica Neue"/>
              </a:defRPr>
            </a:pPr>
            <a:r>
              <a:rPr sz="1425" b="0">
                <a:solidFill>
                  <a:srgbClr val="5D636D"/>
                </a:solidFill>
                <a:latin typeface="Helvetica Neue"/>
                <a:ea typeface="Helvetica Neue"/>
                <a:cs typeface="Helvetica Neue"/>
              </a:rPr>
              <a:t>in every condition</a:t>
            </a:r>
          </a:p>
        </p:txBody>
      </p:sp>
      <p:sp>
        <p:nvSpPr>
          <p:cNvPr id="8" name="">
            <a:extLst xmlns:a="http://schemas.openxmlformats.org/drawingml/2006/main">
              <a:ext uri="{FF2B5EF4-FFF2-40B4-BE49-F238E27FC236}">
                <a16:creationId xmlns:a16="http://schemas.microsoft.com/office/drawing/2014/main" id="{C7CFEFA4-1619-4CA4-9FCB-794628C032E3}"/>
              </a:ext>
            </a:extLst>
          </p:cNvPr>
          <p:cNvSpPr>
            <a:spLocks xmlns:a="http://schemas.openxmlformats.org/drawingml/2006/main" noGrp="1"/>
          </p:cNvSpPr>
          <p:nvPr/>
        </p:nvSpPr>
        <p:spPr>
          <a:xfrm xmlns:a="http://schemas.openxmlformats.org/drawingml/2006/main">
            <a:off x="8096250" y="3762375"/>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What it shows</a:t>
            </a:r>
          </a:p>
        </p:txBody>
      </p:sp>
      <p:sp>
        <p:nvSpPr>
          <p:cNvPr id="9" name="">
            <a:extLst xmlns:a="http://schemas.openxmlformats.org/drawingml/2006/main">
              <a:ext uri="{FF2B5EF4-FFF2-40B4-BE49-F238E27FC236}">
                <a16:creationId xmlns:a16="http://schemas.microsoft.com/office/drawing/2014/main" id="{BEEDD393-25F8-4C82-B43A-66209D7B3AF6}"/>
              </a:ext>
            </a:extLst>
          </p:cNvPr>
          <p:cNvSpPr>
            <a:spLocks xmlns:a="http://schemas.openxmlformats.org/drawingml/2006/main" noGrp="1"/>
          </p:cNvSpPr>
          <p:nvPr/>
        </p:nvSpPr>
        <p:spPr>
          <a:xfrm xmlns:a="http://schemas.openxmlformats.org/drawingml/2006/main">
            <a:off x="8096250" y="4267200"/>
            <a:ext cx="32385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D636D"/>
                </a:solidFill>
                <a:latin typeface="Helvetica Neue"/>
                <a:ea typeface="Helvetica Neue"/>
                <a:cs typeface="Helvetica Neue"/>
              </a:defRPr>
            </a:pPr>
            <a:r>
              <a:rPr sz="1500" b="0">
                <a:solidFill>
                  <a:srgbClr val="5D636D"/>
                </a:solidFill>
                <a:latin typeface="Helvetica Neue"/>
                <a:ea typeface="Helvetica Neue"/>
                <a:cs typeface="Helvetica Neue"/>
              </a:rPr>
              <a:t>Surface filtering reduces a fixed code to chance (0.25), but semantic adaptation restores 1.00. Typed mediation returns it to 0.25.</a:t>
            </a:r>
          </a:p>
        </p:txBody>
      </p:sp>
      <p:sp>
        <p:nvSpPr>
          <p:cNvPr id="10" name="">
            <a:extLst xmlns:a="http://schemas.openxmlformats.org/drawingml/2006/main">
              <a:ext uri="{FF2B5EF4-FFF2-40B4-BE49-F238E27FC236}">
                <a16:creationId xmlns:a16="http://schemas.microsoft.com/office/drawing/2014/main" id="{CC6D110C-6349-4F49-B810-60959413977D}"/>
              </a:ext>
            </a:extLst>
          </p:cNvPr>
          <p:cNvSpPr>
            <a:spLocks xmlns:a="http://schemas.openxmlformats.org/drawingml/2006/main" noGrp="1"/>
          </p:cNvSpPr>
          <p:nvPr/>
        </p:nvSpPr>
        <p:spPr>
          <a:xfrm xmlns:a="http://schemas.openxmlformats.org/drawingml/2006/main">
            <a:off x="400050" y="6115050"/>
            <a:ext cx="904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5D636D"/>
                </a:solidFill>
                <a:latin typeface="Helvetica Neue"/>
                <a:ea typeface="Helvetica Neue"/>
                <a:cs typeface="Helvetica Neue"/>
              </a:defRPr>
            </a:pPr>
            <a:r>
              <a:rPr sz="1200" b="0">
                <a:solidFill>
                  <a:srgbClr val="5D636D"/>
                </a:solidFill>
                <a:latin typeface="Helvetica Neue"/>
                <a:ea typeface="Helvetica Neue"/>
                <a:cs typeface="Helvetica Neue"/>
              </a:rPr>
              <a:t>n = 16 episodes / condition • pinned Qwen2.5-7B • registered codebook</a:t>
            </a:r>
          </a:p>
        </p:txBody>
      </p:sp>
    </p:spTree>
    <p:extLst>
      <p:ext uri="{BB962C8B-B14F-4D97-AF65-F5344CB8AC3E}">
        <p14:creationId xmlns:p14="http://schemas.microsoft.com/office/powerpoint/2010/main" val="943173162"/>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A7FF592-F54F-424F-B66C-2EDC93490645}"/>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8-title">
            <a:extLst xmlns:a="http://schemas.openxmlformats.org/drawingml/2006/main">
              <a:ext uri="{FF2B5EF4-FFF2-40B4-BE49-F238E27FC236}">
                <a16:creationId xmlns:a16="http://schemas.microsoft.com/office/drawing/2014/main" id="{37E69B3F-EBCE-41F9-BF5B-DE90A281A4DF}"/>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Targeted repair prevents harm without zeroing utility</a:t>
            </a:r>
          </a:p>
        </p:txBody>
      </p:sp>
      <p:sp>
        <p:nvSpPr>
          <p:cNvPr id="3" name="">
            <a:extLst xmlns:a="http://schemas.openxmlformats.org/drawingml/2006/main">
              <a:ext uri="{FF2B5EF4-FFF2-40B4-BE49-F238E27FC236}">
                <a16:creationId xmlns:a16="http://schemas.microsoft.com/office/drawing/2014/main" id="{67FF52A6-7687-4D8D-8774-DA8B2865DFD5}"/>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13</a:t>
            </a:r>
          </a:p>
        </p:txBody>
      </p:sp>
      <p:graphicFrame>
        <p:nvGraphicFramePr>
          <p:cNvPr id="15" name="Chart"/>
          <p:cNvGraphicFramePr/>
          <p:nvPr/>
        </p:nvGraphicFramePr>
        <p:xfrm>
          <a:off xmlns:a="http://schemas.openxmlformats.org/drawingml/2006/main" x="400050" y="1619250"/>
          <a:ext xmlns:a="http://schemas.openxmlformats.org/drawingml/2006/main" cx="7715250" cy="4381500"/>
        </p:xfrm>
        <a:graphic xmlns:a="http://schemas.openxmlformats.org/drawingml/2006/main">
          <a:graphicData uri="http://schemas.openxmlformats.org/drawingml/2006/chart">
            <c:chart xmlns:r="http://schemas.openxmlformats.org/officeDocument/2006/relationships" xmlns:c="http://schemas.openxmlformats.org/drawingml/2006/chart" r:id="Rae3c59d42e284371"/>
          </a:graphicData>
        </a:graphic>
      </p:graphicFrame>
      <p:sp>
        <p:nvSpPr>
          <p:cNvPr id="5" name="">
            <a:extLst xmlns:a="http://schemas.openxmlformats.org/drawingml/2006/main">
              <a:ext uri="{FF2B5EF4-FFF2-40B4-BE49-F238E27FC236}">
                <a16:creationId xmlns:a16="http://schemas.microsoft.com/office/drawing/2014/main" id="{861336DE-6A69-48B7-925A-9FBBFA1D7386}"/>
              </a:ext>
            </a:extLst>
          </p:cNvPr>
          <p:cNvSpPr>
            <a:spLocks xmlns:a="http://schemas.openxmlformats.org/drawingml/2006/main" noGrp="1"/>
          </p:cNvSpPr>
          <p:nvPr/>
        </p:nvSpPr>
        <p:spPr>
          <a:xfrm xmlns:a="http://schemas.openxmlformats.org/drawingml/2006/main">
            <a:off x="8572500" y="1952625"/>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a:solidFill>
                  <a:srgbClr val="000000"/>
                </a:solidFill>
                <a:latin typeface="Helvetica Neue"/>
                <a:ea typeface="Helvetica Neue"/>
                <a:cs typeface="Helvetica Neue"/>
              </a:defRPr>
            </a:pPr>
            <a:r>
              <a:rPr sz="1800" b="1">
                <a:solidFill>
                  <a:srgbClr val="000000"/>
                </a:solidFill>
                <a:latin typeface="Helvetica Neue"/>
                <a:ea typeface="Helvetica Neue"/>
                <a:cs typeface="Helvetica Neue"/>
              </a:rPr>
              <a:t>Registered harmful workflow</a:t>
            </a:r>
          </a:p>
        </p:txBody>
      </p:sp>
      <p:sp>
        <p:nvSpPr>
          <p:cNvPr id="6" name="">
            <a:extLst xmlns:a="http://schemas.openxmlformats.org/drawingml/2006/main">
              <a:ext uri="{FF2B5EF4-FFF2-40B4-BE49-F238E27FC236}">
                <a16:creationId xmlns:a16="http://schemas.microsoft.com/office/drawing/2014/main" id="{523E1665-639F-4D8D-AAF6-60BA29565E05}"/>
              </a:ext>
            </a:extLst>
          </p:cNvPr>
          <p:cNvSpPr>
            <a:spLocks xmlns:a="http://schemas.openxmlformats.org/drawingml/2006/main" noGrp="1"/>
          </p:cNvSpPr>
          <p:nvPr/>
        </p:nvSpPr>
        <p:spPr>
          <a:xfrm xmlns:a="http://schemas.openxmlformats.org/drawingml/2006/main">
            <a:off x="8572500" y="2476500"/>
            <a:ext cx="2809875"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D636D"/>
                </a:solidFill>
                <a:latin typeface="Helvetica Neue"/>
                <a:ea typeface="Helvetica Neue"/>
                <a:cs typeface="Helvetica Neue"/>
              </a:defRPr>
            </a:pPr>
            <a:r>
              <a:rPr sz="1500" b="0">
                <a:solidFill>
                  <a:srgbClr val="5D636D"/>
                </a:solidFill>
                <a:latin typeface="Helvetica Neue"/>
                <a:ea typeface="Helvetica Neue"/>
                <a:cs typeface="Helvetica Neue"/>
              </a:rPr>
              <a:t>Local policies accept each step. The provenance-aware repair removes the prohibited flow and keeps the legitimate workflow intact.</a:t>
            </a:r>
          </a:p>
        </p:txBody>
      </p:sp>
      <p:sp>
        <p:nvSpPr>
          <p:cNvPr id="7" name="">
            <a:extLst xmlns:a="http://schemas.openxmlformats.org/drawingml/2006/main">
              <a:ext uri="{FF2B5EF4-FFF2-40B4-BE49-F238E27FC236}">
                <a16:creationId xmlns:a16="http://schemas.microsoft.com/office/drawing/2014/main" id="{B8E65D1C-4521-4C14-8E73-BFA9EA6A31A8}"/>
              </a:ext>
            </a:extLst>
          </p:cNvPr>
          <p:cNvSpPr>
            <a:spLocks xmlns:a="http://schemas.openxmlformats.org/drawingml/2006/main" noGrp="1"/>
          </p:cNvSpPr>
          <p:nvPr/>
        </p:nvSpPr>
        <p:spPr>
          <a:xfrm xmlns:a="http://schemas.openxmlformats.org/drawingml/2006/main">
            <a:off x="8572500" y="4524375"/>
            <a:ext cx="2809875" cy="106680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CFE992A-B0CB-45BF-83A8-810CA4BE3C1E}"/>
              </a:ext>
            </a:extLst>
          </p:cNvPr>
          <p:cNvSpPr>
            <a:spLocks xmlns:a="http://schemas.openxmlformats.org/drawingml/2006/main" noGrp="1"/>
          </p:cNvSpPr>
          <p:nvPr/>
        </p:nvSpPr>
        <p:spPr>
          <a:xfrm xmlns:a="http://schemas.openxmlformats.org/drawingml/2006/main">
            <a:off x="8810625" y="4762500"/>
            <a:ext cx="2333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C86B20"/>
                </a:solidFill>
                <a:latin typeface="Helvetica Neue"/>
                <a:ea typeface="Helvetica Neue"/>
                <a:cs typeface="Helvetica Neue"/>
              </a:defRPr>
            </a:pPr>
            <a:r>
              <a:rPr sz="1875" b="1">
                <a:solidFill>
                  <a:srgbClr val="C86B20"/>
                </a:solidFill>
                <a:latin typeface="Helvetica Neue"/>
                <a:ea typeface="Helvetica Neue"/>
                <a:cs typeface="Helvetica Neue"/>
              </a:rPr>
              <a:t>n = 4 / condition</a:t>
            </a:r>
          </a:p>
        </p:txBody>
      </p:sp>
      <p:sp>
        <p:nvSpPr>
          <p:cNvPr id="9" name="">
            <a:extLst xmlns:a="http://schemas.openxmlformats.org/drawingml/2006/main">
              <a:ext uri="{FF2B5EF4-FFF2-40B4-BE49-F238E27FC236}">
                <a16:creationId xmlns:a16="http://schemas.microsoft.com/office/drawing/2014/main" id="{9EF781DF-D651-4B12-9D04-D8E702478741}"/>
              </a:ext>
            </a:extLst>
          </p:cNvPr>
          <p:cNvSpPr>
            <a:spLocks xmlns:a="http://schemas.openxmlformats.org/drawingml/2006/main" noGrp="1"/>
          </p:cNvSpPr>
          <p:nvPr/>
        </p:nvSpPr>
        <p:spPr>
          <a:xfrm xmlns:a="http://schemas.openxmlformats.org/drawingml/2006/main">
            <a:off x="8810625" y="5219700"/>
            <a:ext cx="23336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feasibility—not confirmation</a:t>
            </a:r>
          </a:p>
        </p:txBody>
      </p:sp>
    </p:spTree>
    <p:extLst>
      <p:ext uri="{BB962C8B-B14F-4D97-AF65-F5344CB8AC3E}">
        <p14:creationId xmlns:p14="http://schemas.microsoft.com/office/powerpoint/2010/main" val="50511396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5F19709-49B3-47B4-A352-F9AE71F7823F}"/>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9-title">
            <a:extLst xmlns:a="http://schemas.openxmlformats.org/drawingml/2006/main">
              <a:ext uri="{FF2B5EF4-FFF2-40B4-BE49-F238E27FC236}">
                <a16:creationId xmlns:a16="http://schemas.microsoft.com/office/drawing/2014/main" id="{A9FD2FB8-3B79-426E-89BC-EA226EF83EA5}"/>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Low-rate attacks are the clearest monitoring failure</a:t>
            </a:r>
          </a:p>
        </p:txBody>
      </p:sp>
      <p:sp>
        <p:nvSpPr>
          <p:cNvPr id="3" name="">
            <a:extLst xmlns:a="http://schemas.openxmlformats.org/drawingml/2006/main">
              <a:ext uri="{FF2B5EF4-FFF2-40B4-BE49-F238E27FC236}">
                <a16:creationId xmlns:a16="http://schemas.microsoft.com/office/drawing/2014/main" id="{73DEA8DB-6990-475F-93D5-F0B76B8ED298}"/>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14</a:t>
            </a:r>
          </a:p>
        </p:txBody>
      </p:sp>
      <p:graphicFrame>
        <p:nvGraphicFramePr>
          <p:cNvPr id="19" name="Chart"/>
          <p:cNvGraphicFramePr/>
          <p:nvPr/>
        </p:nvGraphicFramePr>
        <p:xfrm>
          <a:off xmlns:a="http://schemas.openxmlformats.org/drawingml/2006/main" x="400050" y="1666875"/>
          <a:ext xmlns:a="http://schemas.openxmlformats.org/drawingml/2006/main" cx="7239000" cy="4286250"/>
        </p:xfrm>
        <a:graphic xmlns:a="http://schemas.openxmlformats.org/drawingml/2006/main">
          <a:graphicData uri="http://schemas.openxmlformats.org/drawingml/2006/chart">
            <c:chart xmlns:r="http://schemas.openxmlformats.org/officeDocument/2006/relationships" xmlns:c="http://schemas.openxmlformats.org/drawingml/2006/chart" r:id="R9cf440efae624a45"/>
          </a:graphicData>
        </a:graphic>
      </p:graphicFrame>
      <p:sp>
        <p:nvSpPr>
          <p:cNvPr id="5" name="">
            <a:extLst xmlns:a="http://schemas.openxmlformats.org/drawingml/2006/main">
              <a:ext uri="{FF2B5EF4-FFF2-40B4-BE49-F238E27FC236}">
                <a16:creationId xmlns:a16="http://schemas.microsoft.com/office/drawing/2014/main" id="{B71C860C-840B-426E-A2CD-BA5BCAD1145D}"/>
              </a:ext>
            </a:extLst>
          </p:cNvPr>
          <p:cNvSpPr>
            <a:spLocks xmlns:a="http://schemas.openxmlformats.org/drawingml/2006/main" noGrp="1"/>
          </p:cNvSpPr>
          <p:nvPr/>
        </p:nvSpPr>
        <p:spPr>
          <a:xfrm xmlns:a="http://schemas.openxmlformats.org/drawingml/2006/main">
            <a:off x="8096250" y="1809750"/>
            <a:ext cx="3381375" cy="176212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5AFD91F-0C48-4C0B-8A49-221BD8F274CE}"/>
              </a:ext>
            </a:extLst>
          </p:cNvPr>
          <p:cNvSpPr>
            <a:spLocks xmlns:a="http://schemas.openxmlformats.org/drawingml/2006/main" noGrp="1"/>
          </p:cNvSpPr>
          <p:nvPr/>
        </p:nvSpPr>
        <p:spPr>
          <a:xfrm xmlns:a="http://schemas.openxmlformats.org/drawingml/2006/main">
            <a:off x="8096250" y="1809750"/>
            <a:ext cx="95250" cy="1762125"/>
          </a:xfrm>
          <a:prstGeom xmlns:a="http://schemas.openxmlformats.org/drawingml/2006/main" prst="rect">
            <a:avLst/>
          </a:prstGeom>
          <a:solidFill xmlns:a="http://schemas.openxmlformats.org/drawingml/2006/main">
            <a:srgbClr val="20704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C8B0137-B802-46B0-AC98-5F55509B9660}"/>
              </a:ext>
            </a:extLst>
          </p:cNvPr>
          <p:cNvSpPr>
            <a:spLocks xmlns:a="http://schemas.openxmlformats.org/drawingml/2006/main" noGrp="1"/>
          </p:cNvSpPr>
          <p:nvPr/>
        </p:nvSpPr>
        <p:spPr>
          <a:xfrm xmlns:a="http://schemas.openxmlformats.org/drawingml/2006/main">
            <a:off x="8362950" y="2076450"/>
            <a:ext cx="29432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20704A"/>
                </a:solidFill>
                <a:latin typeface="Helvetica Neue"/>
                <a:ea typeface="Helvetica Neue"/>
                <a:cs typeface="Helvetica Neue"/>
              </a:defRPr>
            </a:pPr>
            <a:r>
              <a:rPr sz="3150" b="1">
                <a:solidFill>
                  <a:srgbClr val="20704A"/>
                </a:solidFill>
                <a:latin typeface="Helvetica Neue"/>
                <a:ea typeface="Helvetica Neue"/>
                <a:cs typeface="Helvetica Neue"/>
              </a:rPr>
              <a:t>0.0458</a:t>
            </a:r>
          </a:p>
        </p:txBody>
      </p:sp>
      <p:sp>
        <p:nvSpPr>
          <p:cNvPr id="8" name="">
            <a:extLst xmlns:a="http://schemas.openxmlformats.org/drawingml/2006/main">
              <a:ext uri="{FF2B5EF4-FFF2-40B4-BE49-F238E27FC236}">
                <a16:creationId xmlns:a16="http://schemas.microsoft.com/office/drawing/2014/main" id="{74716A40-E1BB-495B-97BA-208EF766BE3C}"/>
              </a:ext>
            </a:extLst>
          </p:cNvPr>
          <p:cNvSpPr>
            <a:spLocks xmlns:a="http://schemas.openxmlformats.org/drawingml/2006/main" noGrp="1"/>
          </p:cNvSpPr>
          <p:nvPr/>
        </p:nvSpPr>
        <p:spPr>
          <a:xfrm xmlns:a="http://schemas.openxmlformats.org/drawingml/2006/main">
            <a:off x="8362950" y="2933700"/>
            <a:ext cx="29432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Benign lifetime-alarm 95% upper bound</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0 / 80 alarms in each benign test stratum</a:t>
            </a:r>
          </a:p>
        </p:txBody>
      </p:sp>
      <p:sp>
        <p:nvSpPr>
          <p:cNvPr id="9" name="">
            <a:extLst xmlns:a="http://schemas.openxmlformats.org/drawingml/2006/main">
              <a:ext uri="{FF2B5EF4-FFF2-40B4-BE49-F238E27FC236}">
                <a16:creationId xmlns:a16="http://schemas.microsoft.com/office/drawing/2014/main" id="{7C96E82A-EAE2-42DB-A313-26A96688FA20}"/>
              </a:ext>
            </a:extLst>
          </p:cNvPr>
          <p:cNvSpPr>
            <a:spLocks xmlns:a="http://schemas.openxmlformats.org/drawingml/2006/main" noGrp="1"/>
          </p:cNvSpPr>
          <p:nvPr/>
        </p:nvSpPr>
        <p:spPr>
          <a:xfrm xmlns:a="http://schemas.openxmlformats.org/drawingml/2006/main">
            <a:off x="8096250" y="3905250"/>
            <a:ext cx="3381375" cy="176212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A248122-591F-442F-A6E9-A17FACD18FBC}"/>
              </a:ext>
            </a:extLst>
          </p:cNvPr>
          <p:cNvSpPr>
            <a:spLocks xmlns:a="http://schemas.openxmlformats.org/drawingml/2006/main" noGrp="1"/>
          </p:cNvSpPr>
          <p:nvPr/>
        </p:nvSpPr>
        <p:spPr>
          <a:xfrm xmlns:a="http://schemas.openxmlformats.org/drawingml/2006/main">
            <a:off x="8096250" y="3905250"/>
            <a:ext cx="95250" cy="1762125"/>
          </a:xfrm>
          <a:prstGeom xmlns:a="http://schemas.openxmlformats.org/drawingml/2006/main" prst="rect">
            <a:avLst/>
          </a:prstGeom>
          <a:solidFill xmlns:a="http://schemas.openxmlformats.org/drawingml/2006/main">
            <a:srgbClr val="C86B2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AFF2722-13A5-495B-BC3C-29CD6B018EE3}"/>
              </a:ext>
            </a:extLst>
          </p:cNvPr>
          <p:cNvSpPr>
            <a:spLocks xmlns:a="http://schemas.openxmlformats.org/drawingml/2006/main" noGrp="1"/>
          </p:cNvSpPr>
          <p:nvPr/>
        </p:nvSpPr>
        <p:spPr>
          <a:xfrm xmlns:a="http://schemas.openxmlformats.org/drawingml/2006/main">
            <a:off x="8362950" y="4171950"/>
            <a:ext cx="29432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C86B20"/>
                </a:solidFill>
                <a:latin typeface="Helvetica Neue"/>
                <a:ea typeface="Helvetica Neue"/>
                <a:cs typeface="Helvetica Neue"/>
              </a:defRPr>
            </a:pPr>
            <a:r>
              <a:rPr sz="3150" b="1">
                <a:solidFill>
                  <a:srgbClr val="C86B20"/>
                </a:solidFill>
                <a:latin typeface="Helvetica Neue"/>
                <a:ea typeface="Helvetica Neue"/>
                <a:cs typeface="Helvetica Neue"/>
              </a:rPr>
              <a:t>No winner</a:t>
            </a:r>
          </a:p>
        </p:txBody>
      </p:sp>
      <p:sp>
        <p:nvSpPr>
          <p:cNvPr id="12" name="">
            <a:extLst xmlns:a="http://schemas.openxmlformats.org/drawingml/2006/main">
              <a:ext uri="{FF2B5EF4-FFF2-40B4-BE49-F238E27FC236}">
                <a16:creationId xmlns:a16="http://schemas.microsoft.com/office/drawing/2014/main" id="{F95B92C4-F32E-43FE-B2ED-5AE3137825AA}"/>
              </a:ext>
            </a:extLst>
          </p:cNvPr>
          <p:cNvSpPr>
            <a:spLocks xmlns:a="http://schemas.openxmlformats.org/drawingml/2006/main" noGrp="1"/>
          </p:cNvSpPr>
          <p:nvPr/>
        </p:nvSpPr>
        <p:spPr>
          <a:xfrm xmlns:a="http://schemas.openxmlformats.org/drawingml/2006/main">
            <a:off x="8362950" y="5029200"/>
            <a:ext cx="29432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All three monitors produced the same rates; the e-process was often slower.</a:t>
            </a:r>
          </a:p>
        </p:txBody>
      </p:sp>
      <p:sp>
        <p:nvSpPr>
          <p:cNvPr id="13" name="">
            <a:extLst xmlns:a="http://schemas.openxmlformats.org/drawingml/2006/main">
              <a:ext uri="{FF2B5EF4-FFF2-40B4-BE49-F238E27FC236}">
                <a16:creationId xmlns:a16="http://schemas.microsoft.com/office/drawing/2014/main" id="{DD7DCF22-AAD9-4EA9-B3D5-FFECAD977BF7}"/>
              </a:ext>
            </a:extLst>
          </p:cNvPr>
          <p:cNvSpPr>
            <a:spLocks xmlns:a="http://schemas.openxmlformats.org/drawingml/2006/main" noGrp="1"/>
          </p:cNvSpPr>
          <p:nvPr/>
        </p:nvSpPr>
        <p:spPr>
          <a:xfrm xmlns:a="http://schemas.openxmlformats.org/drawingml/2006/main">
            <a:off x="400050" y="6115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5D636D"/>
                </a:solidFill>
                <a:latin typeface="Helvetica Neue"/>
                <a:ea typeface="Helvetica Neue"/>
                <a:cs typeface="Helvetica Neue"/>
              </a:defRPr>
            </a:pPr>
            <a:r>
              <a:rPr sz="1200" b="0">
                <a:solidFill>
                  <a:srgbClr val="5D636D"/>
                </a:solidFill>
                <a:latin typeface="Helvetica Neue"/>
                <a:ea typeface="Helvetica Neue"/>
                <a:cs typeface="Helvetica Neue"/>
              </a:rPr>
              <a:t>Frozen test: 560 episodes • 80 / condition • Qwen2.5-7B</a:t>
            </a:r>
          </a:p>
        </p:txBody>
      </p:sp>
    </p:spTree>
    <p:extLst>
      <p:ext uri="{BB962C8B-B14F-4D97-AF65-F5344CB8AC3E}">
        <p14:creationId xmlns:p14="http://schemas.microsoft.com/office/powerpoint/2010/main" val="181787842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310ECD3-08AE-4304-97E2-ABA54357479E}"/>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10-title">
            <a:extLst xmlns:a="http://schemas.openxmlformats.org/drawingml/2006/main">
              <a:ext uri="{FF2B5EF4-FFF2-40B4-BE49-F238E27FC236}">
                <a16:creationId xmlns:a16="http://schemas.microsoft.com/office/drawing/2014/main" id="{E07834F3-1512-4A27-BD49-56266779D743}"/>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Mechanisms pass; selector advantage is untested</a:t>
            </a:r>
          </a:p>
        </p:txBody>
      </p:sp>
      <p:sp>
        <p:nvSpPr>
          <p:cNvPr id="3" name="">
            <a:extLst xmlns:a="http://schemas.openxmlformats.org/drawingml/2006/main">
              <a:ext uri="{FF2B5EF4-FFF2-40B4-BE49-F238E27FC236}">
                <a16:creationId xmlns:a16="http://schemas.microsoft.com/office/drawing/2014/main" id="{779D766C-49B7-429F-A581-E931604A8FE8}"/>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15</a:t>
            </a:r>
          </a:p>
        </p:txBody>
      </p:sp>
      <p:sp>
        <p:nvSpPr>
          <p:cNvPr id="4" name="">
            <a:extLst xmlns:a="http://schemas.openxmlformats.org/drawingml/2006/main">
              <a:ext uri="{FF2B5EF4-FFF2-40B4-BE49-F238E27FC236}">
                <a16:creationId xmlns:a16="http://schemas.microsoft.com/office/drawing/2014/main" id="{4A392410-FACB-4AF5-9012-FFC9E47843C1}"/>
              </a:ext>
            </a:extLst>
          </p:cNvPr>
          <p:cNvSpPr>
            <a:spLocks xmlns:a="http://schemas.openxmlformats.org/drawingml/2006/main" noGrp="1"/>
          </p:cNvSpPr>
          <p:nvPr/>
        </p:nvSpPr>
        <p:spPr>
          <a:xfrm xmlns:a="http://schemas.openxmlformats.org/drawingml/2006/main">
            <a:off x="476250" y="1581150"/>
            <a:ext cx="619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D636D"/>
                </a:solidFill>
                <a:latin typeface="Helvetica Neue"/>
                <a:ea typeface="Helvetica Neue"/>
                <a:cs typeface="Helvetica Neue"/>
              </a:defRPr>
            </a:pPr>
            <a:r>
              <a:rPr sz="1275" b="1">
                <a:solidFill>
                  <a:srgbClr val="5D636D"/>
                </a:solidFill>
                <a:latin typeface="Helvetica Neue"/>
                <a:ea typeface="Helvetica Neue"/>
                <a:cs typeface="Helvetica Neue"/>
              </a:rPr>
              <a:t>ID</a:t>
            </a:r>
          </a:p>
        </p:txBody>
      </p:sp>
      <p:sp>
        <p:nvSpPr>
          <p:cNvPr id="5" name="">
            <a:extLst xmlns:a="http://schemas.openxmlformats.org/drawingml/2006/main">
              <a:ext uri="{FF2B5EF4-FFF2-40B4-BE49-F238E27FC236}">
                <a16:creationId xmlns:a16="http://schemas.microsoft.com/office/drawing/2014/main" id="{F7690FD0-06E6-4DB6-947B-F1EEFE290E75}"/>
              </a:ext>
            </a:extLst>
          </p:cNvPr>
          <p:cNvSpPr>
            <a:spLocks xmlns:a="http://schemas.openxmlformats.org/drawingml/2006/main" noGrp="1"/>
          </p:cNvSpPr>
          <p:nvPr/>
        </p:nvSpPr>
        <p:spPr>
          <a:xfrm xmlns:a="http://schemas.openxmlformats.org/drawingml/2006/main">
            <a:off x="1285875" y="15811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D636D"/>
                </a:solidFill>
                <a:latin typeface="Helvetica Neue"/>
                <a:ea typeface="Helvetica Neue"/>
                <a:cs typeface="Helvetica Neue"/>
              </a:defRPr>
            </a:pPr>
            <a:r>
              <a:rPr sz="1275" b="1">
                <a:solidFill>
                  <a:srgbClr val="5D636D"/>
                </a:solidFill>
                <a:latin typeface="Helvetica Neue"/>
                <a:ea typeface="Helvetica Neue"/>
                <a:cs typeface="Helvetica Neue"/>
              </a:rPr>
              <a:t>QUESTION</a:t>
            </a:r>
          </a:p>
        </p:txBody>
      </p:sp>
      <p:sp>
        <p:nvSpPr>
          <p:cNvPr id="6" name="">
            <a:extLst xmlns:a="http://schemas.openxmlformats.org/drawingml/2006/main">
              <a:ext uri="{FF2B5EF4-FFF2-40B4-BE49-F238E27FC236}">
                <a16:creationId xmlns:a16="http://schemas.microsoft.com/office/drawing/2014/main" id="{BDECB01F-1972-446C-8808-A0CCD550671E}"/>
              </a:ext>
            </a:extLst>
          </p:cNvPr>
          <p:cNvSpPr>
            <a:spLocks xmlns:a="http://schemas.openxmlformats.org/drawingml/2006/main" noGrp="1"/>
          </p:cNvSpPr>
          <p:nvPr/>
        </p:nvSpPr>
        <p:spPr>
          <a:xfrm xmlns:a="http://schemas.openxmlformats.org/drawingml/2006/main">
            <a:off x="4095750" y="1581150"/>
            <a:ext cx="5191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D636D"/>
                </a:solidFill>
                <a:latin typeface="Helvetica Neue"/>
                <a:ea typeface="Helvetica Neue"/>
                <a:cs typeface="Helvetica Neue"/>
              </a:defRPr>
            </a:pPr>
            <a:r>
              <a:rPr sz="1275" b="1">
                <a:solidFill>
                  <a:srgbClr val="5D636D"/>
                </a:solidFill>
                <a:latin typeface="Helvetica Neue"/>
                <a:ea typeface="Helvetica Neue"/>
                <a:cs typeface="Helvetica Neue"/>
              </a:rPr>
              <a:t>PRIMARY CONTROLLED RESULT</a:t>
            </a:r>
          </a:p>
        </p:txBody>
      </p:sp>
      <p:sp>
        <p:nvSpPr>
          <p:cNvPr id="7" name="">
            <a:extLst xmlns:a="http://schemas.openxmlformats.org/drawingml/2006/main">
              <a:ext uri="{FF2B5EF4-FFF2-40B4-BE49-F238E27FC236}">
                <a16:creationId xmlns:a16="http://schemas.microsoft.com/office/drawing/2014/main" id="{41ACECBB-4FF3-44E9-8319-A035E4FAFAC6}"/>
              </a:ext>
            </a:extLst>
          </p:cNvPr>
          <p:cNvSpPr>
            <a:spLocks xmlns:a="http://schemas.openxmlformats.org/drawingml/2006/main" noGrp="1"/>
          </p:cNvSpPr>
          <p:nvPr/>
        </p:nvSpPr>
        <p:spPr>
          <a:xfrm xmlns:a="http://schemas.openxmlformats.org/drawingml/2006/main">
            <a:off x="9858375" y="15811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D636D"/>
                </a:solidFill>
                <a:latin typeface="Helvetica Neue"/>
                <a:ea typeface="Helvetica Neue"/>
                <a:cs typeface="Helvetica Neue"/>
              </a:defRPr>
            </a:pPr>
            <a:r>
              <a:rPr sz="1275" b="1">
                <a:solidFill>
                  <a:srgbClr val="5D636D"/>
                </a:solidFill>
                <a:latin typeface="Helvetica Neue"/>
                <a:ea typeface="Helvetica Neue"/>
                <a:cs typeface="Helvetica Neue"/>
              </a:rPr>
              <a:t>GATE</a:t>
            </a:r>
          </a:p>
        </p:txBody>
      </p:sp>
      <p:cxnSp>
        <p:nvCxnSpPr>
          <p:cNvPr id="136" name=""/>
          <p:cNvCxnSpPr/>
          <p:nvPr/>
        </p:nvCxnSpPr>
        <p:spPr>
          <a:xfrm xmlns:a="http://schemas.openxmlformats.org/drawingml/2006/main">
            <a:off x="400050" y="1943100"/>
            <a:ext cx="11391900" cy="0"/>
          </a:xfrm>
          <a:prstGeom xmlns:a="http://schemas.openxmlformats.org/drawingml/2006/main" prst="straightConnector1">
            <a:avLst/>
          </a:prstGeom>
          <a:ln xmlns:a="http://schemas.openxmlformats.org/drawingml/2006/main" w="19050">
            <a:solidFill>
              <a:srgbClr val="000000"/>
            </a:solidFill>
            <a:prstDash val="solid"/>
          </a:ln>
        </p:spPr>
      </p:cxnSp>
      <p:sp>
        <p:nvSpPr>
          <p:cNvPr id="9" name="">
            <a:extLst xmlns:a="http://schemas.openxmlformats.org/drawingml/2006/main">
              <a:ext uri="{FF2B5EF4-FFF2-40B4-BE49-F238E27FC236}">
                <a16:creationId xmlns:a16="http://schemas.microsoft.com/office/drawing/2014/main" id="{BC3959C0-5CF5-46FF-95A8-B49BF9450EED}"/>
              </a:ext>
            </a:extLst>
          </p:cNvPr>
          <p:cNvSpPr>
            <a:spLocks xmlns:a="http://schemas.openxmlformats.org/drawingml/2006/main" noGrp="1"/>
          </p:cNvSpPr>
          <p:nvPr/>
        </p:nvSpPr>
        <p:spPr>
          <a:xfrm xmlns:a="http://schemas.openxmlformats.org/drawingml/2006/main">
            <a:off x="400050" y="2019300"/>
            <a:ext cx="11391900" cy="68580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AA9A9D8-6F11-42C5-AD56-63A26CC97D8F}"/>
              </a:ext>
            </a:extLst>
          </p:cNvPr>
          <p:cNvSpPr>
            <a:spLocks xmlns:a="http://schemas.openxmlformats.org/drawingml/2006/main" noGrp="1"/>
          </p:cNvSpPr>
          <p:nvPr/>
        </p:nvSpPr>
        <p:spPr>
          <a:xfrm xmlns:a="http://schemas.openxmlformats.org/drawingml/2006/main">
            <a:off x="476250" y="2114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E01</a:t>
            </a:r>
          </a:p>
        </p:txBody>
      </p:sp>
      <p:sp>
        <p:nvSpPr>
          <p:cNvPr id="11" name="">
            <a:extLst xmlns:a="http://schemas.openxmlformats.org/drawingml/2006/main">
              <a:ext uri="{FF2B5EF4-FFF2-40B4-BE49-F238E27FC236}">
                <a16:creationId xmlns:a16="http://schemas.microsoft.com/office/drawing/2014/main" id="{E4AB5759-755D-4F48-BBF0-3A52CF17B60F}"/>
              </a:ext>
            </a:extLst>
          </p:cNvPr>
          <p:cNvSpPr>
            <a:spLocks xmlns:a="http://schemas.openxmlformats.org/drawingml/2006/main" noGrp="1"/>
          </p:cNvSpPr>
          <p:nvPr/>
        </p:nvSpPr>
        <p:spPr>
          <a:xfrm xmlns:a="http://schemas.openxmlformats.org/drawingml/2006/main">
            <a:off x="1285875" y="21145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Selector comparison</a:t>
            </a:r>
          </a:p>
        </p:txBody>
      </p:sp>
      <p:sp>
        <p:nvSpPr>
          <p:cNvPr id="12" name="">
            <a:extLst xmlns:a="http://schemas.openxmlformats.org/drawingml/2006/main">
              <a:ext uri="{FF2B5EF4-FFF2-40B4-BE49-F238E27FC236}">
                <a16:creationId xmlns:a16="http://schemas.microsoft.com/office/drawing/2014/main" id="{FE09F39D-BB0F-448D-96CD-FD5FC5AA92F7}"/>
              </a:ext>
            </a:extLst>
          </p:cNvPr>
          <p:cNvSpPr>
            <a:spLocks xmlns:a="http://schemas.openxmlformats.org/drawingml/2006/main" noGrp="1"/>
          </p:cNvSpPr>
          <p:nvPr/>
        </p:nvSpPr>
        <p:spPr>
          <a:xfrm xmlns:a="http://schemas.openxmlformats.org/drawingml/2006/main">
            <a:off x="4095750" y="211455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0.00 improvement; all choose diverse-stack</a:t>
            </a:r>
          </a:p>
        </p:txBody>
      </p:sp>
      <p:sp>
        <p:nvSpPr>
          <p:cNvPr id="13" name="">
            <a:extLst xmlns:a="http://schemas.openxmlformats.org/drawingml/2006/main">
              <a:ext uri="{FF2B5EF4-FFF2-40B4-BE49-F238E27FC236}">
                <a16:creationId xmlns:a16="http://schemas.microsoft.com/office/drawing/2014/main" id="{B5D2D3CA-72DC-4411-B627-E259685AF77E}"/>
              </a:ext>
            </a:extLst>
          </p:cNvPr>
          <p:cNvSpPr>
            <a:spLocks xmlns:a="http://schemas.openxmlformats.org/drawingml/2006/main" noGrp="1"/>
          </p:cNvSpPr>
          <p:nvPr/>
        </p:nvSpPr>
        <p:spPr>
          <a:xfrm xmlns:a="http://schemas.openxmlformats.org/drawingml/2006/main">
            <a:off x="9858375" y="211455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C86B20"/>
                </a:solidFill>
                <a:latin typeface="Helvetica Neue"/>
                <a:ea typeface="Helvetica Neue"/>
                <a:cs typeface="Helvetica Neue"/>
              </a:defRPr>
            </a:pPr>
            <a:r>
              <a:rPr sz="1425" b="1">
                <a:solidFill>
                  <a:srgbClr val="C86B20"/>
                </a:solidFill>
                <a:latin typeface="Helvetica Neue"/>
                <a:ea typeface="Helvetica Neue"/>
                <a:cs typeface="Helvetica Neue"/>
              </a:rPr>
              <a:t>NO CONTRAST</a:t>
            </a:r>
          </a:p>
        </p:txBody>
      </p:sp>
      <p:sp>
        <p:nvSpPr>
          <p:cNvPr id="14" name="">
            <a:extLst xmlns:a="http://schemas.openxmlformats.org/drawingml/2006/main">
              <a:ext uri="{FF2B5EF4-FFF2-40B4-BE49-F238E27FC236}">
                <a16:creationId xmlns:a16="http://schemas.microsoft.com/office/drawing/2014/main" id="{1D4DCAE7-2AC5-43FD-9062-C791D0DA54BF}"/>
              </a:ext>
            </a:extLst>
          </p:cNvPr>
          <p:cNvSpPr>
            <a:spLocks xmlns:a="http://schemas.openxmlformats.org/drawingml/2006/main" noGrp="1"/>
          </p:cNvSpPr>
          <p:nvPr/>
        </p:nvSpPr>
        <p:spPr>
          <a:xfrm xmlns:a="http://schemas.openxmlformats.org/drawingml/2006/main">
            <a:off x="476250" y="289560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E02</a:t>
            </a:r>
          </a:p>
        </p:txBody>
      </p:sp>
      <p:sp>
        <p:nvSpPr>
          <p:cNvPr id="15" name="">
            <a:extLst xmlns:a="http://schemas.openxmlformats.org/drawingml/2006/main">
              <a:ext uri="{FF2B5EF4-FFF2-40B4-BE49-F238E27FC236}">
                <a16:creationId xmlns:a16="http://schemas.microsoft.com/office/drawing/2014/main" id="{DEABFCDC-D759-4FFC-9FEB-4AB3624D831D}"/>
              </a:ext>
            </a:extLst>
          </p:cNvPr>
          <p:cNvSpPr>
            <a:spLocks xmlns:a="http://schemas.openxmlformats.org/drawingml/2006/main" noGrp="1"/>
          </p:cNvSpPr>
          <p:nvPr/>
        </p:nvSpPr>
        <p:spPr>
          <a:xfrm xmlns:a="http://schemas.openxmlformats.org/drawingml/2006/main">
            <a:off x="1285875" y="28956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Failure complementarity</a:t>
            </a:r>
          </a:p>
        </p:txBody>
      </p:sp>
      <p:sp>
        <p:nvSpPr>
          <p:cNvPr id="16" name="">
            <a:extLst xmlns:a="http://schemas.openxmlformats.org/drawingml/2006/main">
              <a:ext uri="{FF2B5EF4-FFF2-40B4-BE49-F238E27FC236}">
                <a16:creationId xmlns:a16="http://schemas.microsoft.com/office/drawing/2014/main" id="{E4695ED0-6BDF-47C0-9E8D-987BCF8A4208}"/>
              </a:ext>
            </a:extLst>
          </p:cNvPr>
          <p:cNvSpPr>
            <a:spLocks xmlns:a="http://schemas.openxmlformats.org/drawingml/2006/main" noGrp="1"/>
          </p:cNvSpPr>
          <p:nvPr/>
        </p:nvSpPr>
        <p:spPr>
          <a:xfrm xmlns:a="http://schemas.openxmlformats.org/drawingml/2006/main">
            <a:off x="4095750" y="289560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Γ 0.406; realized gain 0.381</a:t>
            </a:r>
          </a:p>
        </p:txBody>
      </p:sp>
      <p:sp>
        <p:nvSpPr>
          <p:cNvPr id="17" name="">
            <a:extLst xmlns:a="http://schemas.openxmlformats.org/drawingml/2006/main">
              <a:ext uri="{FF2B5EF4-FFF2-40B4-BE49-F238E27FC236}">
                <a16:creationId xmlns:a16="http://schemas.microsoft.com/office/drawing/2014/main" id="{FF38898E-93BD-4886-B06B-F44EBF9E8758}"/>
              </a:ext>
            </a:extLst>
          </p:cNvPr>
          <p:cNvSpPr>
            <a:spLocks xmlns:a="http://schemas.openxmlformats.org/drawingml/2006/main" noGrp="1"/>
          </p:cNvSpPr>
          <p:nvPr/>
        </p:nvSpPr>
        <p:spPr>
          <a:xfrm xmlns:a="http://schemas.openxmlformats.org/drawingml/2006/main">
            <a:off x="9858375" y="289560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20704A"/>
                </a:solidFill>
                <a:latin typeface="Helvetica Neue"/>
                <a:ea typeface="Helvetica Neue"/>
                <a:cs typeface="Helvetica Neue"/>
              </a:defRPr>
            </a:pPr>
            <a:r>
              <a:rPr sz="1425" b="1">
                <a:solidFill>
                  <a:srgbClr val="20704A"/>
                </a:solidFill>
                <a:latin typeface="Helvetica Neue"/>
                <a:ea typeface="Helvetica Neue"/>
                <a:cs typeface="Helvetica Neue"/>
              </a:rPr>
              <a:t>PASS*</a:t>
            </a:r>
          </a:p>
        </p:txBody>
      </p:sp>
      <p:sp>
        <p:nvSpPr>
          <p:cNvPr id="18" name="">
            <a:extLst xmlns:a="http://schemas.openxmlformats.org/drawingml/2006/main">
              <a:ext uri="{FF2B5EF4-FFF2-40B4-BE49-F238E27FC236}">
                <a16:creationId xmlns:a16="http://schemas.microsoft.com/office/drawing/2014/main" id="{C31B62F4-6391-4903-B77B-3A5567FDA69A}"/>
              </a:ext>
            </a:extLst>
          </p:cNvPr>
          <p:cNvSpPr>
            <a:spLocks xmlns:a="http://schemas.openxmlformats.org/drawingml/2006/main" noGrp="1"/>
          </p:cNvSpPr>
          <p:nvPr/>
        </p:nvSpPr>
        <p:spPr>
          <a:xfrm xmlns:a="http://schemas.openxmlformats.org/drawingml/2006/main">
            <a:off x="400050" y="3581400"/>
            <a:ext cx="11391900" cy="68580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28D7E86-C26C-47DD-A2AA-EF16EC3C7116}"/>
              </a:ext>
            </a:extLst>
          </p:cNvPr>
          <p:cNvSpPr>
            <a:spLocks xmlns:a="http://schemas.openxmlformats.org/drawingml/2006/main" noGrp="1"/>
          </p:cNvSpPr>
          <p:nvPr/>
        </p:nvSpPr>
        <p:spPr>
          <a:xfrm xmlns:a="http://schemas.openxmlformats.org/drawingml/2006/main">
            <a:off x="476250" y="36766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E03</a:t>
            </a:r>
          </a:p>
        </p:txBody>
      </p:sp>
      <p:sp>
        <p:nvSpPr>
          <p:cNvPr id="20" name="">
            <a:extLst xmlns:a="http://schemas.openxmlformats.org/drawingml/2006/main">
              <a:ext uri="{FF2B5EF4-FFF2-40B4-BE49-F238E27FC236}">
                <a16:creationId xmlns:a16="http://schemas.microsoft.com/office/drawing/2014/main" id="{13818B89-FD32-46E0-A25F-AE94A79B8A51}"/>
              </a:ext>
            </a:extLst>
          </p:cNvPr>
          <p:cNvSpPr>
            <a:spLocks xmlns:a="http://schemas.openxmlformats.org/drawingml/2006/main" noGrp="1"/>
          </p:cNvSpPr>
          <p:nvPr/>
        </p:nvSpPr>
        <p:spPr>
          <a:xfrm xmlns:a="http://schemas.openxmlformats.org/drawingml/2006/main">
            <a:off x="1285875" y="36766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Adaptive persistence</a:t>
            </a:r>
          </a:p>
        </p:txBody>
      </p:sp>
      <p:sp>
        <p:nvSpPr>
          <p:cNvPr id="21" name="">
            <a:extLst xmlns:a="http://schemas.openxmlformats.org/drawingml/2006/main">
              <a:ext uri="{FF2B5EF4-FFF2-40B4-BE49-F238E27FC236}">
                <a16:creationId xmlns:a16="http://schemas.microsoft.com/office/drawing/2014/main" id="{3FB3ACDF-0EC6-4D5A-B56E-63A48719870E}"/>
              </a:ext>
            </a:extLst>
          </p:cNvPr>
          <p:cNvSpPr>
            <a:spLocks xmlns:a="http://schemas.openxmlformats.org/drawingml/2006/main" noGrp="1"/>
          </p:cNvSpPr>
          <p:nvPr/>
        </p:nvSpPr>
        <p:spPr>
          <a:xfrm xmlns:a="http://schemas.openxmlformats.org/drawingml/2006/main">
            <a:off x="4095750" y="367665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0.93 vs 1.00 worst-cell CVaR</a:t>
            </a:r>
          </a:p>
        </p:txBody>
      </p:sp>
      <p:sp>
        <p:nvSpPr>
          <p:cNvPr id="22" name="">
            <a:extLst xmlns:a="http://schemas.openxmlformats.org/drawingml/2006/main">
              <a:ext uri="{FF2B5EF4-FFF2-40B4-BE49-F238E27FC236}">
                <a16:creationId xmlns:a16="http://schemas.microsoft.com/office/drawing/2014/main" id="{2C330313-2CE2-473A-9B89-6BC5E344E4A0}"/>
              </a:ext>
            </a:extLst>
          </p:cNvPr>
          <p:cNvSpPr>
            <a:spLocks xmlns:a="http://schemas.openxmlformats.org/drawingml/2006/main" noGrp="1"/>
          </p:cNvSpPr>
          <p:nvPr/>
        </p:nvSpPr>
        <p:spPr>
          <a:xfrm xmlns:a="http://schemas.openxmlformats.org/drawingml/2006/main">
            <a:off x="9858375" y="367665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20704A"/>
                </a:solidFill>
                <a:latin typeface="Helvetica Neue"/>
                <a:ea typeface="Helvetica Neue"/>
                <a:cs typeface="Helvetica Neue"/>
              </a:defRPr>
            </a:pPr>
            <a:r>
              <a:rPr sz="1425" b="1">
                <a:solidFill>
                  <a:srgbClr val="20704A"/>
                </a:solidFill>
                <a:latin typeface="Helvetica Neue"/>
                <a:ea typeface="Helvetica Neue"/>
                <a:cs typeface="Helvetica Neue"/>
              </a:rPr>
              <a:t>PASS*</a:t>
            </a:r>
          </a:p>
        </p:txBody>
      </p:sp>
      <p:sp>
        <p:nvSpPr>
          <p:cNvPr id="23" name="">
            <a:extLst xmlns:a="http://schemas.openxmlformats.org/drawingml/2006/main">
              <a:ext uri="{FF2B5EF4-FFF2-40B4-BE49-F238E27FC236}">
                <a16:creationId xmlns:a16="http://schemas.microsoft.com/office/drawing/2014/main" id="{85AC6C0A-9318-433B-A5B1-2C30717330CD}"/>
              </a:ext>
            </a:extLst>
          </p:cNvPr>
          <p:cNvSpPr>
            <a:spLocks xmlns:a="http://schemas.openxmlformats.org/drawingml/2006/main" noGrp="1"/>
          </p:cNvSpPr>
          <p:nvPr/>
        </p:nvSpPr>
        <p:spPr>
          <a:xfrm xmlns:a="http://schemas.openxmlformats.org/drawingml/2006/main">
            <a:off x="476250" y="445770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E04</a:t>
            </a:r>
          </a:p>
        </p:txBody>
      </p:sp>
      <p:sp>
        <p:nvSpPr>
          <p:cNvPr id="24" name="">
            <a:extLst xmlns:a="http://schemas.openxmlformats.org/drawingml/2006/main">
              <a:ext uri="{FF2B5EF4-FFF2-40B4-BE49-F238E27FC236}">
                <a16:creationId xmlns:a16="http://schemas.microsoft.com/office/drawing/2014/main" id="{9F3368E0-86F3-4901-8045-FCDE2A17ACA8}"/>
              </a:ext>
            </a:extLst>
          </p:cNvPr>
          <p:cNvSpPr>
            <a:spLocks xmlns:a="http://schemas.openxmlformats.org/drawingml/2006/main" noGrp="1"/>
          </p:cNvSpPr>
          <p:nvPr/>
        </p:nvSpPr>
        <p:spPr>
          <a:xfrm xmlns:a="http://schemas.openxmlformats.org/drawingml/2006/main">
            <a:off x="1285875" y="44577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Held-out transfer</a:t>
            </a:r>
          </a:p>
        </p:txBody>
      </p:sp>
      <p:sp>
        <p:nvSpPr>
          <p:cNvPr id="25" name="">
            <a:extLst xmlns:a="http://schemas.openxmlformats.org/drawingml/2006/main">
              <a:ext uri="{FF2B5EF4-FFF2-40B4-BE49-F238E27FC236}">
                <a16:creationId xmlns:a16="http://schemas.microsoft.com/office/drawing/2014/main" id="{0F029E85-6090-472A-A25B-7CF90505378B}"/>
              </a:ext>
            </a:extLst>
          </p:cNvPr>
          <p:cNvSpPr>
            <a:spLocks xmlns:a="http://schemas.openxmlformats.org/drawingml/2006/main" noGrp="1"/>
          </p:cNvSpPr>
          <p:nvPr/>
        </p:nvSpPr>
        <p:spPr>
          <a:xfrm xmlns:a="http://schemas.openxmlformats.org/drawingml/2006/main">
            <a:off x="4095750" y="445770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Spearman 0.866; compound gate blocked</a:t>
            </a:r>
          </a:p>
        </p:txBody>
      </p:sp>
      <p:sp>
        <p:nvSpPr>
          <p:cNvPr id="26" name="">
            <a:extLst xmlns:a="http://schemas.openxmlformats.org/drawingml/2006/main">
              <a:ext uri="{FF2B5EF4-FFF2-40B4-BE49-F238E27FC236}">
                <a16:creationId xmlns:a16="http://schemas.microsoft.com/office/drawing/2014/main" id="{7E38026B-58A4-4CF5-BAB9-13258B195075}"/>
              </a:ext>
            </a:extLst>
          </p:cNvPr>
          <p:cNvSpPr>
            <a:spLocks xmlns:a="http://schemas.openxmlformats.org/drawingml/2006/main" noGrp="1"/>
          </p:cNvSpPr>
          <p:nvPr/>
        </p:nvSpPr>
        <p:spPr>
          <a:xfrm xmlns:a="http://schemas.openxmlformats.org/drawingml/2006/main">
            <a:off x="9858375" y="445770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A63434"/>
                </a:solidFill>
                <a:latin typeface="Helvetica Neue"/>
                <a:ea typeface="Helvetica Neue"/>
                <a:cs typeface="Helvetica Neue"/>
              </a:defRPr>
            </a:pPr>
            <a:r>
              <a:rPr sz="1425" b="1">
                <a:solidFill>
                  <a:srgbClr val="A63434"/>
                </a:solidFill>
                <a:latin typeface="Helvetica Neue"/>
                <a:ea typeface="Helvetica Neue"/>
                <a:cs typeface="Helvetica Neue"/>
              </a:rPr>
              <a:t>FAIL*</a:t>
            </a:r>
          </a:p>
        </p:txBody>
      </p:sp>
      <p:sp>
        <p:nvSpPr>
          <p:cNvPr id="27" name="">
            <a:extLst xmlns:a="http://schemas.openxmlformats.org/drawingml/2006/main">
              <a:ext uri="{FF2B5EF4-FFF2-40B4-BE49-F238E27FC236}">
                <a16:creationId xmlns:a16="http://schemas.microsoft.com/office/drawing/2014/main" id="{A0FFC104-DD28-430E-BA94-0DE112CBCDF5}"/>
              </a:ext>
            </a:extLst>
          </p:cNvPr>
          <p:cNvSpPr>
            <a:spLocks xmlns:a="http://schemas.openxmlformats.org/drawingml/2006/main" noGrp="1"/>
          </p:cNvSpPr>
          <p:nvPr/>
        </p:nvSpPr>
        <p:spPr>
          <a:xfrm xmlns:a="http://schemas.openxmlformats.org/drawingml/2006/main">
            <a:off x="400050" y="5143500"/>
            <a:ext cx="11391900" cy="68580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7519946-B7D7-481F-8941-85C5E8746C10}"/>
              </a:ext>
            </a:extLst>
          </p:cNvPr>
          <p:cNvSpPr>
            <a:spLocks xmlns:a="http://schemas.openxmlformats.org/drawingml/2006/main" noGrp="1"/>
          </p:cNvSpPr>
          <p:nvPr/>
        </p:nvSpPr>
        <p:spPr>
          <a:xfrm xmlns:a="http://schemas.openxmlformats.org/drawingml/2006/main">
            <a:off x="476250" y="52387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E05</a:t>
            </a:r>
          </a:p>
        </p:txBody>
      </p:sp>
      <p:sp>
        <p:nvSpPr>
          <p:cNvPr id="29" name="">
            <a:extLst xmlns:a="http://schemas.openxmlformats.org/drawingml/2006/main">
              <a:ext uri="{FF2B5EF4-FFF2-40B4-BE49-F238E27FC236}">
                <a16:creationId xmlns:a16="http://schemas.microsoft.com/office/drawing/2014/main" id="{96DA00D5-624E-431F-A2CE-12E0FE62BAC8}"/>
              </a:ext>
            </a:extLst>
          </p:cNvPr>
          <p:cNvSpPr>
            <a:spLocks xmlns:a="http://schemas.openxmlformats.org/drawingml/2006/main" noGrp="1"/>
          </p:cNvSpPr>
          <p:nvPr/>
        </p:nvSpPr>
        <p:spPr>
          <a:xfrm xmlns:a="http://schemas.openxmlformats.org/drawingml/2006/main">
            <a:off x="1285875" y="52387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Before-harm validity</a:t>
            </a:r>
          </a:p>
        </p:txBody>
      </p:sp>
      <p:sp>
        <p:nvSpPr>
          <p:cNvPr id="30" name="">
            <a:extLst xmlns:a="http://schemas.openxmlformats.org/drawingml/2006/main">
              <a:ext uri="{FF2B5EF4-FFF2-40B4-BE49-F238E27FC236}">
                <a16:creationId xmlns:a16="http://schemas.microsoft.com/office/drawing/2014/main" id="{E3DA2D1B-3415-4F0D-9600-FD2A83FA9F46}"/>
              </a:ext>
            </a:extLst>
          </p:cNvPr>
          <p:cNvSpPr>
            <a:spLocks xmlns:a="http://schemas.openxmlformats.org/drawingml/2006/main" noGrp="1"/>
          </p:cNvSpPr>
          <p:nvPr/>
        </p:nvSpPr>
        <p:spPr>
          <a:xfrm xmlns:a="http://schemas.openxmlformats.org/drawingml/2006/main">
            <a:off x="4095750" y="523875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harm 0.725 → 0.025; before-harm 0.95</a:t>
            </a:r>
          </a:p>
        </p:txBody>
      </p:sp>
      <p:sp>
        <p:nvSpPr>
          <p:cNvPr id="31" name="">
            <a:extLst xmlns:a="http://schemas.openxmlformats.org/drawingml/2006/main">
              <a:ext uri="{FF2B5EF4-FFF2-40B4-BE49-F238E27FC236}">
                <a16:creationId xmlns:a16="http://schemas.microsoft.com/office/drawing/2014/main" id="{FAB52420-C4CE-4477-A5F5-EEA2EFAC6879}"/>
              </a:ext>
            </a:extLst>
          </p:cNvPr>
          <p:cNvSpPr>
            <a:spLocks xmlns:a="http://schemas.openxmlformats.org/drawingml/2006/main" noGrp="1"/>
          </p:cNvSpPr>
          <p:nvPr/>
        </p:nvSpPr>
        <p:spPr>
          <a:xfrm xmlns:a="http://schemas.openxmlformats.org/drawingml/2006/main">
            <a:off x="9858375" y="523875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20704A"/>
                </a:solidFill>
                <a:latin typeface="Helvetica Neue"/>
                <a:ea typeface="Helvetica Neue"/>
                <a:cs typeface="Helvetica Neue"/>
              </a:defRPr>
            </a:pPr>
            <a:r>
              <a:rPr sz="1425" b="1">
                <a:solidFill>
                  <a:srgbClr val="20704A"/>
                </a:solidFill>
                <a:latin typeface="Helvetica Neue"/>
                <a:ea typeface="Helvetica Neue"/>
                <a:cs typeface="Helvetica Neue"/>
              </a:rPr>
              <a:t>PASS*</a:t>
            </a:r>
          </a:p>
        </p:txBody>
      </p:sp>
      <p:sp>
        <p:nvSpPr>
          <p:cNvPr id="32" name="">
            <a:extLst xmlns:a="http://schemas.openxmlformats.org/drawingml/2006/main">
              <a:ext uri="{FF2B5EF4-FFF2-40B4-BE49-F238E27FC236}">
                <a16:creationId xmlns:a16="http://schemas.microsoft.com/office/drawing/2014/main" id="{4038F686-D7F8-44E0-990B-6C52ECCE0A52}"/>
              </a:ext>
            </a:extLst>
          </p:cNvPr>
          <p:cNvSpPr>
            <a:spLocks xmlns:a="http://schemas.openxmlformats.org/drawingml/2006/main" noGrp="1"/>
          </p:cNvSpPr>
          <p:nvPr/>
        </p:nvSpPr>
        <p:spPr>
          <a:xfrm xmlns:a="http://schemas.openxmlformats.org/drawingml/2006/main">
            <a:off x="400050" y="61912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5D636D"/>
                </a:solidFill>
                <a:latin typeface="Helvetica Neue"/>
                <a:ea typeface="Helvetica Neue"/>
                <a:cs typeface="Helvetica Neue"/>
              </a:defRPr>
            </a:pPr>
            <a:r>
              <a:rPr sz="1200" b="0">
                <a:solidFill>
                  <a:srgbClr val="5D636D"/>
                </a:solidFill>
                <a:latin typeface="Helvetica Neue"/>
                <a:ea typeface="Helvetica Neue"/>
                <a:cs typeface="Helvetica Neue"/>
              </a:rPr>
              <a:t>* controlled synthetic gate only; not evidence about stochastic LLM-agent robustness</a:t>
            </a:r>
          </a:p>
        </p:txBody>
      </p:sp>
    </p:spTree>
    <p:extLst>
      <p:ext uri="{BB962C8B-B14F-4D97-AF65-F5344CB8AC3E}">
        <p14:creationId xmlns:p14="http://schemas.microsoft.com/office/powerpoint/2010/main" val="186869125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36BA0A9-E813-4212-8612-E23A499D79E6}"/>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11-title">
            <a:extLst xmlns:a="http://schemas.openxmlformats.org/drawingml/2006/main">
              <a:ext uri="{FF2B5EF4-FFF2-40B4-BE49-F238E27FC236}">
                <a16:creationId xmlns:a16="http://schemas.microsoft.com/office/drawing/2014/main" id="{E76E2DDF-B28C-40EF-842D-A6C91F87FE9C}"/>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Diversity helps only when failures do not overlap</a:t>
            </a:r>
          </a:p>
        </p:txBody>
      </p:sp>
      <p:sp>
        <p:nvSpPr>
          <p:cNvPr id="3" name="">
            <a:extLst xmlns:a="http://schemas.openxmlformats.org/drawingml/2006/main">
              <a:ext uri="{FF2B5EF4-FFF2-40B4-BE49-F238E27FC236}">
                <a16:creationId xmlns:a16="http://schemas.microsoft.com/office/drawing/2014/main" id="{71B80C0F-A953-4D68-B714-B81372072066}"/>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16</a:t>
            </a:r>
          </a:p>
        </p:txBody>
      </p:sp>
      <p:graphicFrame>
        <p:nvGraphicFramePr>
          <p:cNvPr id="19" name="Chart"/>
          <p:cNvGraphicFramePr/>
          <p:nvPr/>
        </p:nvGraphicFramePr>
        <p:xfrm>
          <a:off xmlns:a="http://schemas.openxmlformats.org/drawingml/2006/main" x="400050" y="1666875"/>
          <a:ext xmlns:a="http://schemas.openxmlformats.org/drawingml/2006/main" cx="7239000" cy="4238625"/>
        </p:xfrm>
        <a:graphic xmlns:a="http://schemas.openxmlformats.org/drawingml/2006/main">
          <a:graphicData uri="http://schemas.openxmlformats.org/drawingml/2006/chart">
            <c:chart xmlns:r="http://schemas.openxmlformats.org/officeDocument/2006/relationships" xmlns:c="http://schemas.openxmlformats.org/drawingml/2006/chart" r:id="Ra91f3d85faf6495b"/>
          </a:graphicData>
        </a:graphic>
      </p:graphicFrame>
      <p:sp>
        <p:nvSpPr>
          <p:cNvPr id="5" name="">
            <a:extLst xmlns:a="http://schemas.openxmlformats.org/drawingml/2006/main">
              <a:ext uri="{FF2B5EF4-FFF2-40B4-BE49-F238E27FC236}">
                <a16:creationId xmlns:a16="http://schemas.microsoft.com/office/drawing/2014/main" id="{B6729F59-0E22-433A-82D2-2CD880D57704}"/>
              </a:ext>
            </a:extLst>
          </p:cNvPr>
          <p:cNvSpPr>
            <a:spLocks xmlns:a="http://schemas.openxmlformats.org/drawingml/2006/main" noGrp="1"/>
          </p:cNvSpPr>
          <p:nvPr/>
        </p:nvSpPr>
        <p:spPr>
          <a:xfrm xmlns:a="http://schemas.openxmlformats.org/drawingml/2006/main">
            <a:off x="8096250" y="1762125"/>
            <a:ext cx="3381375" cy="166687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AC35228-F393-46AE-9F1C-25522189B90F}"/>
              </a:ext>
            </a:extLst>
          </p:cNvPr>
          <p:cNvSpPr>
            <a:spLocks xmlns:a="http://schemas.openxmlformats.org/drawingml/2006/main" noGrp="1"/>
          </p:cNvSpPr>
          <p:nvPr/>
        </p:nvSpPr>
        <p:spPr>
          <a:xfrm xmlns:a="http://schemas.openxmlformats.org/drawingml/2006/main">
            <a:off x="8096250" y="1762125"/>
            <a:ext cx="95250" cy="1666875"/>
          </a:xfrm>
          <a:prstGeom xmlns:a="http://schemas.openxmlformats.org/drawingml/2006/main" prst="rect">
            <a:avLst/>
          </a:prstGeom>
          <a:solidFill xmlns:a="http://schemas.openxmlformats.org/drawingml/2006/main">
            <a:srgbClr val="20704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70A7EC5-37BB-4B44-BE2F-0C564B52F2CD}"/>
              </a:ext>
            </a:extLst>
          </p:cNvPr>
          <p:cNvSpPr>
            <a:spLocks xmlns:a="http://schemas.openxmlformats.org/drawingml/2006/main" noGrp="1"/>
          </p:cNvSpPr>
          <p:nvPr/>
        </p:nvSpPr>
        <p:spPr>
          <a:xfrm xmlns:a="http://schemas.openxmlformats.org/drawingml/2006/main">
            <a:off x="8362950" y="2028825"/>
            <a:ext cx="29432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20704A"/>
                </a:solidFill>
                <a:latin typeface="Helvetica Neue"/>
                <a:ea typeface="Helvetica Neue"/>
                <a:cs typeface="Helvetica Neue"/>
              </a:defRPr>
            </a:pPr>
            <a:r>
              <a:rPr sz="3150" b="1">
                <a:solidFill>
                  <a:srgbClr val="20704A"/>
                </a:solidFill>
                <a:latin typeface="Helvetica Neue"/>
                <a:ea typeface="Helvetica Neue"/>
                <a:cs typeface="Helvetica Neue"/>
              </a:rPr>
              <a:t>Γ = 0.406</a:t>
            </a:r>
          </a:p>
        </p:txBody>
      </p:sp>
      <p:sp>
        <p:nvSpPr>
          <p:cNvPr id="8" name="">
            <a:extLst xmlns:a="http://schemas.openxmlformats.org/drawingml/2006/main">
              <a:ext uri="{FF2B5EF4-FFF2-40B4-BE49-F238E27FC236}">
                <a16:creationId xmlns:a16="http://schemas.microsoft.com/office/drawing/2014/main" id="{0DDC261C-4FC5-41C7-BCC5-059C161ECC8D}"/>
              </a:ext>
            </a:extLst>
          </p:cNvPr>
          <p:cNvSpPr>
            <a:spLocks xmlns:a="http://schemas.openxmlformats.org/drawingml/2006/main" noGrp="1"/>
          </p:cNvSpPr>
          <p:nvPr/>
        </p:nvSpPr>
        <p:spPr>
          <a:xfrm xmlns:a="http://schemas.openxmlformats.org/drawingml/2006/main">
            <a:off x="8362950" y="2886075"/>
            <a:ext cx="29432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Diverse fixed-panel complementarity</a:t>
            </a:r>
          </a:p>
        </p:txBody>
      </p:sp>
      <p:sp>
        <p:nvSpPr>
          <p:cNvPr id="9" name="">
            <a:extLst xmlns:a="http://schemas.openxmlformats.org/drawingml/2006/main">
              <a:ext uri="{FF2B5EF4-FFF2-40B4-BE49-F238E27FC236}">
                <a16:creationId xmlns:a16="http://schemas.microsoft.com/office/drawing/2014/main" id="{5844F32C-4E8C-468A-9023-86A4747AC868}"/>
              </a:ext>
            </a:extLst>
          </p:cNvPr>
          <p:cNvSpPr>
            <a:spLocks xmlns:a="http://schemas.openxmlformats.org/drawingml/2006/main" noGrp="1"/>
          </p:cNvSpPr>
          <p:nvPr/>
        </p:nvSpPr>
        <p:spPr>
          <a:xfrm xmlns:a="http://schemas.openxmlformats.org/drawingml/2006/main">
            <a:off x="8096250" y="3762375"/>
            <a:ext cx="3381375" cy="166687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F3FF3C3-4D21-4894-B61F-8846D39BD1E2}"/>
              </a:ext>
            </a:extLst>
          </p:cNvPr>
          <p:cNvSpPr>
            <a:spLocks xmlns:a="http://schemas.openxmlformats.org/drawingml/2006/main" noGrp="1"/>
          </p:cNvSpPr>
          <p:nvPr/>
        </p:nvSpPr>
        <p:spPr>
          <a:xfrm xmlns:a="http://schemas.openxmlformats.org/drawingml/2006/main">
            <a:off x="8096250" y="3762375"/>
            <a:ext cx="95250" cy="1666875"/>
          </a:xfrm>
          <a:prstGeom xmlns:a="http://schemas.openxmlformats.org/drawingml/2006/main" prst="rect">
            <a:avLst/>
          </a:prstGeom>
          <a:solidFill xmlns:a="http://schemas.openxmlformats.org/drawingml/2006/main">
            <a:srgbClr val="C86B2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449068B-4B52-49DD-A8F3-E3FBE8FAD951}"/>
              </a:ext>
            </a:extLst>
          </p:cNvPr>
          <p:cNvSpPr>
            <a:spLocks xmlns:a="http://schemas.openxmlformats.org/drawingml/2006/main" noGrp="1"/>
          </p:cNvSpPr>
          <p:nvPr/>
        </p:nvSpPr>
        <p:spPr>
          <a:xfrm xmlns:a="http://schemas.openxmlformats.org/drawingml/2006/main">
            <a:off x="8362950" y="4029075"/>
            <a:ext cx="29432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C86B20"/>
                </a:solidFill>
                <a:latin typeface="Helvetica Neue"/>
                <a:ea typeface="Helvetica Neue"/>
                <a:cs typeface="Helvetica Neue"/>
              </a:defRPr>
            </a:pPr>
            <a:r>
              <a:rPr sz="3150" b="1">
                <a:solidFill>
                  <a:srgbClr val="C86B20"/>
                </a:solidFill>
                <a:latin typeface="Helvetica Neue"/>
                <a:ea typeface="Helvetica Neue"/>
                <a:cs typeface="Helvetica Neue"/>
              </a:rPr>
              <a:t>+0.025</a:t>
            </a:r>
          </a:p>
        </p:txBody>
      </p:sp>
      <p:sp>
        <p:nvSpPr>
          <p:cNvPr id="12" name="">
            <a:extLst xmlns:a="http://schemas.openxmlformats.org/drawingml/2006/main">
              <a:ext uri="{FF2B5EF4-FFF2-40B4-BE49-F238E27FC236}">
                <a16:creationId xmlns:a16="http://schemas.microsoft.com/office/drawing/2014/main" id="{CC3F4778-EDC6-4525-BF41-F6730A8C55D5}"/>
              </a:ext>
            </a:extLst>
          </p:cNvPr>
          <p:cNvSpPr>
            <a:spLocks xmlns:a="http://schemas.openxmlformats.org/drawingml/2006/main" noGrp="1"/>
          </p:cNvSpPr>
          <p:nvPr/>
        </p:nvSpPr>
        <p:spPr>
          <a:xfrm xmlns:a="http://schemas.openxmlformats.org/drawingml/2006/main">
            <a:off x="8362950" y="4886325"/>
            <a:ext cx="29432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Interaction gap: the enforced stack is slightly worse than the singleton intersection.</a:t>
            </a:r>
          </a:p>
        </p:txBody>
      </p:sp>
      <p:sp>
        <p:nvSpPr>
          <p:cNvPr id="13" name="">
            <a:extLst xmlns:a="http://schemas.openxmlformats.org/drawingml/2006/main">
              <a:ext uri="{FF2B5EF4-FFF2-40B4-BE49-F238E27FC236}">
                <a16:creationId xmlns:a16="http://schemas.microsoft.com/office/drawing/2014/main" id="{BAA5C233-A6BB-4D6C-B0E4-70A0169319F2}"/>
              </a:ext>
            </a:extLst>
          </p:cNvPr>
          <p:cNvSpPr>
            <a:spLocks xmlns:a="http://schemas.openxmlformats.org/drawingml/2006/main" noGrp="1"/>
          </p:cNvSpPr>
          <p:nvPr/>
        </p:nvSpPr>
        <p:spPr>
          <a:xfrm xmlns:a="http://schemas.openxmlformats.org/drawingml/2006/main">
            <a:off x="400050" y="6143625"/>
            <a:ext cx="10001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0">
                <a:solidFill>
                  <a:srgbClr val="5D636D"/>
                </a:solidFill>
                <a:latin typeface="Helvetica Neue"/>
                <a:ea typeface="Helvetica Neue"/>
                <a:cs typeface="Helvetica Neue"/>
              </a:defRPr>
            </a:pPr>
            <a:r>
              <a:rPr sz="1275" b="0">
                <a:solidFill>
                  <a:srgbClr val="5D636D"/>
                </a:solidFill>
                <a:latin typeface="Helvetica Neue"/>
                <a:ea typeface="Helvetica Neue"/>
                <a:cs typeface="Helvetica Neue"/>
              </a:rPr>
              <a:t>The enforced stack changes trajectories; complementarity alone is not deployment proof.</a:t>
            </a:r>
          </a:p>
        </p:txBody>
      </p:sp>
    </p:spTree>
    <p:extLst>
      <p:ext uri="{BB962C8B-B14F-4D97-AF65-F5344CB8AC3E}">
        <p14:creationId xmlns:p14="http://schemas.microsoft.com/office/powerpoint/2010/main" val="163780576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7C5280-E623-4768-BA09-30C58691E6F9}"/>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12-title">
            <a:extLst xmlns:a="http://schemas.openxmlformats.org/drawingml/2006/main">
              <a:ext uri="{FF2B5EF4-FFF2-40B4-BE49-F238E27FC236}">
                <a16:creationId xmlns:a16="http://schemas.microsoft.com/office/drawing/2014/main" id="{9B1ABED8-B38E-4E2D-A4EC-3EC41DC9C43B}"/>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Negative results narrow the claim</a:t>
            </a:r>
          </a:p>
        </p:txBody>
      </p:sp>
      <p:sp>
        <p:nvSpPr>
          <p:cNvPr id="3" name="">
            <a:extLst xmlns:a="http://schemas.openxmlformats.org/drawingml/2006/main">
              <a:ext uri="{FF2B5EF4-FFF2-40B4-BE49-F238E27FC236}">
                <a16:creationId xmlns:a16="http://schemas.microsoft.com/office/drawing/2014/main" id="{FB8B43DF-7AC0-44E3-B9F2-CF827533E5AF}"/>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17</a:t>
            </a:r>
          </a:p>
        </p:txBody>
      </p:sp>
      <p:sp>
        <p:nvSpPr>
          <p:cNvPr id="4" name="">
            <a:extLst xmlns:a="http://schemas.openxmlformats.org/drawingml/2006/main">
              <a:ext uri="{FF2B5EF4-FFF2-40B4-BE49-F238E27FC236}">
                <a16:creationId xmlns:a16="http://schemas.microsoft.com/office/drawing/2014/main" id="{9A87E9D7-FA12-4CDD-83F7-E27960653F77}"/>
              </a:ext>
            </a:extLst>
          </p:cNvPr>
          <p:cNvSpPr>
            <a:spLocks xmlns:a="http://schemas.openxmlformats.org/drawingml/2006/main" noGrp="1"/>
          </p:cNvSpPr>
          <p:nvPr/>
        </p:nvSpPr>
        <p:spPr>
          <a:xfrm xmlns:a="http://schemas.openxmlformats.org/drawingml/2006/main">
            <a:off x="400050" y="1619250"/>
            <a:ext cx="5334000" cy="3714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CCA7752-38A5-4D29-B4A6-1335EE60F2E2}"/>
              </a:ext>
            </a:extLst>
          </p:cNvPr>
          <p:cNvSpPr>
            <a:spLocks xmlns:a="http://schemas.openxmlformats.org/drawingml/2006/main" noGrp="1"/>
          </p:cNvSpPr>
          <p:nvPr/>
        </p:nvSpPr>
        <p:spPr>
          <a:xfrm xmlns:a="http://schemas.openxmlformats.org/drawingml/2006/main">
            <a:off x="714375" y="200025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a:solidFill>
                  <a:srgbClr val="C86B20"/>
                </a:solidFill>
                <a:latin typeface="Helvetica Neue"/>
                <a:ea typeface="Helvetica Neue"/>
                <a:cs typeface="Helvetica Neue"/>
              </a:defRPr>
            </a:pPr>
            <a:r>
              <a:rPr sz="2250" b="1">
                <a:solidFill>
                  <a:srgbClr val="C86B20"/>
                </a:solidFill>
                <a:latin typeface="Helvetica Neue"/>
                <a:ea typeface="Helvetica Neue"/>
                <a:cs typeface="Helvetica Neue"/>
              </a:rPr>
              <a:t>E01: selector superiority not tested</a:t>
            </a:r>
          </a:p>
        </p:txBody>
      </p:sp>
      <p:sp>
        <p:nvSpPr>
          <p:cNvPr id="6" name="">
            <a:extLst xmlns:a="http://schemas.openxmlformats.org/drawingml/2006/main">
              <a:ext uri="{FF2B5EF4-FFF2-40B4-BE49-F238E27FC236}">
                <a16:creationId xmlns:a16="http://schemas.microsoft.com/office/drawing/2014/main" id="{2FD18815-8681-40B7-B768-AB4D2242F1C8}"/>
              </a:ext>
            </a:extLst>
          </p:cNvPr>
          <p:cNvSpPr>
            <a:spLocks xmlns:a="http://schemas.openxmlformats.org/drawingml/2006/main" noGrp="1"/>
          </p:cNvSpPr>
          <p:nvPr/>
        </p:nvSpPr>
        <p:spPr>
          <a:xfrm xmlns:a="http://schemas.openxmlformats.org/drawingml/2006/main">
            <a:off x="714375" y="2714625"/>
            <a:ext cx="4476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D636D"/>
                </a:solidFill>
                <a:latin typeface="Helvetica Neue"/>
                <a:ea typeface="Helvetica Neue"/>
                <a:cs typeface="Helvetica Neue"/>
              </a:defRPr>
            </a:pPr>
            <a:r>
              <a:rPr sz="1725" b="0">
                <a:solidFill>
                  <a:srgbClr val="5D636D"/>
                </a:solidFill>
                <a:latin typeface="Helvetica Neue"/>
                <a:ea typeface="Helvetica Neue"/>
                <a:cs typeface="Helvetica Neue"/>
              </a:rPr>
              <a:t>Every registered selector chose the same stack.</a:t>
            </a:r>
          </a:p>
          <a:p xmlns:a="http://schemas.openxmlformats.org/drawingml/2006/main">
            <a:r>
              <a:t/>
            </a:r>
          </a:p>
          <a:p xmlns:a="http://schemas.openxmlformats.org/drawingml/2006/main">
            <a:pPr algn="l">
              <a:buNone/>
              <a:defRPr sz="1725" b="0">
                <a:solidFill>
                  <a:srgbClr val="5D636D"/>
                </a:solidFill>
                <a:latin typeface="Helvetica Neue"/>
                <a:ea typeface="Helvetica Neue"/>
                <a:cs typeface="Helvetica Neue"/>
              </a:defRPr>
            </a:pPr>
            <a:r>
              <a:rPr sz="1725" b="0">
                <a:solidFill>
                  <a:srgbClr val="5D636D"/>
                </a:solidFill>
                <a:latin typeface="Helvetica Neue"/>
                <a:ea typeface="Helvetica Neue"/>
                <a:cs typeface="Helvetica Neue"/>
              </a:rPr>
              <a:t>Result: the fixture validates the pipeline, but cannot compare selectors.</a:t>
            </a:r>
          </a:p>
        </p:txBody>
      </p:sp>
      <p:sp>
        <p:nvSpPr>
          <p:cNvPr id="7" name="">
            <a:extLst xmlns:a="http://schemas.openxmlformats.org/drawingml/2006/main">
              <a:ext uri="{FF2B5EF4-FFF2-40B4-BE49-F238E27FC236}">
                <a16:creationId xmlns:a16="http://schemas.microsoft.com/office/drawing/2014/main" id="{769AE714-B01B-4B4B-B41D-BBACD288A72F}"/>
              </a:ext>
            </a:extLst>
          </p:cNvPr>
          <p:cNvSpPr>
            <a:spLocks xmlns:a="http://schemas.openxmlformats.org/drawingml/2006/main" noGrp="1"/>
          </p:cNvSpPr>
          <p:nvPr/>
        </p:nvSpPr>
        <p:spPr>
          <a:xfrm xmlns:a="http://schemas.openxmlformats.org/drawingml/2006/main">
            <a:off x="6096000" y="1619250"/>
            <a:ext cx="5695950" cy="37147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DF6C045-3769-418E-AE28-02248CE7537A}"/>
              </a:ext>
            </a:extLst>
          </p:cNvPr>
          <p:cNvSpPr>
            <a:spLocks xmlns:a="http://schemas.openxmlformats.org/drawingml/2006/main" noGrp="1"/>
          </p:cNvSpPr>
          <p:nvPr/>
        </p:nvSpPr>
        <p:spPr>
          <a:xfrm xmlns:a="http://schemas.openxmlformats.org/drawingml/2006/main">
            <a:off x="6429375" y="2000250"/>
            <a:ext cx="485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a:solidFill>
                  <a:srgbClr val="A63434"/>
                </a:solidFill>
                <a:latin typeface="Helvetica Neue"/>
                <a:ea typeface="Helvetica Neue"/>
                <a:cs typeface="Helvetica Neue"/>
              </a:defRPr>
            </a:pPr>
            <a:r>
              <a:rPr sz="2250" b="1">
                <a:solidFill>
                  <a:srgbClr val="A63434"/>
                </a:solidFill>
                <a:latin typeface="Helvetica Neue"/>
                <a:ea typeface="Helvetica Neue"/>
                <a:cs typeface="Helvetica Neue"/>
              </a:rPr>
              <a:t>E04: transfer not established</a:t>
            </a:r>
          </a:p>
        </p:txBody>
      </p:sp>
      <p:sp>
        <p:nvSpPr>
          <p:cNvPr id="9" name="">
            <a:extLst xmlns:a="http://schemas.openxmlformats.org/drawingml/2006/main">
              <a:ext uri="{FF2B5EF4-FFF2-40B4-BE49-F238E27FC236}">
                <a16:creationId xmlns:a16="http://schemas.microsoft.com/office/drawing/2014/main" id="{F31C3F4F-A652-4CC1-834E-FA7F68D3E32C}"/>
              </a:ext>
            </a:extLst>
          </p:cNvPr>
          <p:cNvSpPr>
            <a:spLocks xmlns:a="http://schemas.openxmlformats.org/drawingml/2006/main" noGrp="1"/>
          </p:cNvSpPr>
          <p:nvPr/>
        </p:nvSpPr>
        <p:spPr>
          <a:xfrm xmlns:a="http://schemas.openxmlformats.org/drawingml/2006/main">
            <a:off x="6429375" y="2714625"/>
            <a:ext cx="4762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D636D"/>
                </a:solidFill>
                <a:latin typeface="Helvetica Neue"/>
                <a:ea typeface="Helvetica Neue"/>
                <a:cs typeface="Helvetica Neue"/>
              </a:defRPr>
            </a:pPr>
            <a:r>
              <a:rPr sz="1725" b="0">
                <a:solidFill>
                  <a:srgbClr val="5D636D"/>
                </a:solidFill>
                <a:latin typeface="Helvetica Neue"/>
                <a:ea typeface="Helvetica Neue"/>
                <a:cs typeface="Helvetica Neue"/>
              </a:rPr>
              <a:t>Validation Γ correlates with synthetic held-out robustness, but only across three stacks and without an E01 advantage.</a:t>
            </a:r>
          </a:p>
          <a:p xmlns:a="http://schemas.openxmlformats.org/drawingml/2006/main">
            <a:r>
              <a:t/>
            </a:r>
          </a:p>
          <a:p xmlns:a="http://schemas.openxmlformats.org/drawingml/2006/main">
            <a:pPr algn="l">
              <a:buNone/>
              <a:defRPr sz="1725" b="0">
                <a:solidFill>
                  <a:srgbClr val="5D636D"/>
                </a:solidFill>
                <a:latin typeface="Helvetica Neue"/>
                <a:ea typeface="Helvetica Neue"/>
                <a:cs typeface="Helvetica Neue"/>
              </a:defRPr>
            </a:pPr>
            <a:r>
              <a:rPr sz="1725" b="0">
                <a:solidFill>
                  <a:srgbClr val="5D636D"/>
                </a:solidFill>
                <a:latin typeface="Helvetica Neue"/>
                <a:ea typeface="Helvetica Neue"/>
                <a:cs typeface="Helvetica Neue"/>
              </a:rPr>
              <a:t>Result: E04 remains false.</a:t>
            </a:r>
          </a:p>
        </p:txBody>
      </p:sp>
      <p:sp>
        <p:nvSpPr>
          <p:cNvPr id="10" name="">
            <a:extLst xmlns:a="http://schemas.openxmlformats.org/drawingml/2006/main">
              <a:ext uri="{FF2B5EF4-FFF2-40B4-BE49-F238E27FC236}">
                <a16:creationId xmlns:a16="http://schemas.microsoft.com/office/drawing/2014/main" id="{F328566D-3DBD-40AF-A3DC-4AED565C7C66}"/>
              </a:ext>
            </a:extLst>
          </p:cNvPr>
          <p:cNvSpPr>
            <a:spLocks xmlns:a="http://schemas.openxmlformats.org/drawingml/2006/main" noGrp="1"/>
          </p:cNvSpPr>
          <p:nvPr/>
        </p:nvSpPr>
        <p:spPr>
          <a:xfrm xmlns:a="http://schemas.openxmlformats.org/drawingml/2006/main">
            <a:off x="400050" y="5810250"/>
            <a:ext cx="1104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The harness rejects favorable secondary metrics when the primary gate fails.</a:t>
            </a:r>
          </a:p>
        </p:txBody>
      </p:sp>
    </p:spTree>
    <p:extLst>
      <p:ext uri="{BB962C8B-B14F-4D97-AF65-F5344CB8AC3E}">
        <p14:creationId xmlns:p14="http://schemas.microsoft.com/office/powerpoint/2010/main" val="976027241"/>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1131C71-3FBE-45E9-B711-EDD3B75D35EC}"/>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6-title">
            <a:extLst xmlns:a="http://schemas.openxmlformats.org/drawingml/2006/main">
              <a:ext uri="{FF2B5EF4-FFF2-40B4-BE49-F238E27FC236}">
                <a16:creationId xmlns:a16="http://schemas.microsoft.com/office/drawing/2014/main" id="{CA9E1DB2-44DE-4718-AAFD-A4928026059A}"/>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What the evidence establishes—and what remains open</a:t>
            </a:r>
          </a:p>
        </p:txBody>
      </p:sp>
      <p:sp>
        <p:nvSpPr>
          <p:cNvPr id="3" name="">
            <a:extLst xmlns:a="http://schemas.openxmlformats.org/drawingml/2006/main">
              <a:ext uri="{FF2B5EF4-FFF2-40B4-BE49-F238E27FC236}">
                <a16:creationId xmlns:a16="http://schemas.microsoft.com/office/drawing/2014/main" id="{C0F74CF4-81B3-48FE-9AEA-F5440C2341C6}"/>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18</a:t>
            </a:r>
          </a:p>
        </p:txBody>
      </p:sp>
      <p:sp>
        <p:nvSpPr>
          <p:cNvPr id="4" name="">
            <a:extLst xmlns:a="http://schemas.openxmlformats.org/drawingml/2006/main">
              <a:ext uri="{FF2B5EF4-FFF2-40B4-BE49-F238E27FC236}">
                <a16:creationId xmlns:a16="http://schemas.microsoft.com/office/drawing/2014/main" id="{C317BDED-2BE1-4928-97F6-FC2F2BA93993}"/>
              </a:ext>
            </a:extLst>
          </p:cNvPr>
          <p:cNvSpPr>
            <a:spLocks xmlns:a="http://schemas.openxmlformats.org/drawingml/2006/main" noGrp="1"/>
          </p:cNvSpPr>
          <p:nvPr/>
        </p:nvSpPr>
        <p:spPr>
          <a:xfrm xmlns:a="http://schemas.openxmlformats.org/drawingml/2006/main">
            <a:off x="400050" y="1809750"/>
            <a:ext cx="3476625" cy="3333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D2BDC0F-8382-4F57-96E5-060EA267342B}"/>
              </a:ext>
            </a:extLst>
          </p:cNvPr>
          <p:cNvSpPr>
            <a:spLocks xmlns:a="http://schemas.openxmlformats.org/drawingml/2006/main" noGrp="1"/>
          </p:cNvSpPr>
          <p:nvPr/>
        </p:nvSpPr>
        <p:spPr>
          <a:xfrm xmlns:a="http://schemas.openxmlformats.org/drawingml/2006/main">
            <a:off x="400050" y="1809750"/>
            <a:ext cx="95250" cy="3333750"/>
          </a:xfrm>
          <a:prstGeom xmlns:a="http://schemas.openxmlformats.org/drawingml/2006/main" prst="rect">
            <a:avLst/>
          </a:prstGeom>
          <a:solidFill xmlns:a="http://schemas.openxmlformats.org/drawingml/2006/main">
            <a:srgbClr val="5D636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957BA5D-E40A-4135-938D-774336F5BE0A}"/>
              </a:ext>
            </a:extLst>
          </p:cNvPr>
          <p:cNvSpPr>
            <a:spLocks xmlns:a="http://schemas.openxmlformats.org/drawingml/2006/main" noGrp="1"/>
          </p:cNvSpPr>
          <p:nvPr/>
        </p:nvSpPr>
        <p:spPr>
          <a:xfrm xmlns:a="http://schemas.openxmlformats.org/drawingml/2006/main">
            <a:off x="666750" y="2076450"/>
            <a:ext cx="30384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5D636D"/>
                </a:solidFill>
                <a:latin typeface="Helvetica Neue"/>
                <a:ea typeface="Helvetica Neue"/>
                <a:cs typeface="Helvetica Neue"/>
              </a:defRPr>
            </a:pPr>
            <a:r>
              <a:rPr sz="3150" b="1">
                <a:solidFill>
                  <a:srgbClr val="5D636D"/>
                </a:solidFill>
                <a:latin typeface="Helvetica Neue"/>
                <a:ea typeface="Helvetica Neue"/>
                <a:cs typeface="Helvetica Neue"/>
              </a:rPr>
              <a:t>Established</a:t>
            </a:r>
          </a:p>
        </p:txBody>
      </p:sp>
      <p:sp>
        <p:nvSpPr>
          <p:cNvPr id="7" name="">
            <a:extLst xmlns:a="http://schemas.openxmlformats.org/drawingml/2006/main">
              <a:ext uri="{FF2B5EF4-FFF2-40B4-BE49-F238E27FC236}">
                <a16:creationId xmlns:a16="http://schemas.microsoft.com/office/drawing/2014/main" id="{948BF936-6003-469C-9E55-F76CBEA7BD55}"/>
              </a:ext>
            </a:extLst>
          </p:cNvPr>
          <p:cNvSpPr>
            <a:spLocks xmlns:a="http://schemas.openxmlformats.org/drawingml/2006/main" noGrp="1"/>
          </p:cNvSpPr>
          <p:nvPr/>
        </p:nvSpPr>
        <p:spPr>
          <a:xfrm xmlns:a="http://schemas.openxmlformats.org/drawingml/2006/main">
            <a:off x="666750" y="2933700"/>
            <a:ext cx="3038475"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Mechanism evidence</a:t>
            </a:r>
          </a:p>
          <a:p xmlns:a="http://schemas.openxmlformats.org/drawingml/2006/main">
            <a:r>
              <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Typed mediation and targeted repair work on pinned Qwen2.5-7B canaries.</a:t>
            </a:r>
          </a:p>
        </p:txBody>
      </p:sp>
      <p:sp>
        <p:nvSpPr>
          <p:cNvPr id="8" name="">
            <a:extLst xmlns:a="http://schemas.openxmlformats.org/drawingml/2006/main">
              <a:ext uri="{FF2B5EF4-FFF2-40B4-BE49-F238E27FC236}">
                <a16:creationId xmlns:a16="http://schemas.microsoft.com/office/drawing/2014/main" id="{6EDB8085-898C-4C86-B1FA-6D1D5FF6008B}"/>
              </a:ext>
            </a:extLst>
          </p:cNvPr>
          <p:cNvSpPr>
            <a:spLocks xmlns:a="http://schemas.openxmlformats.org/drawingml/2006/main" noGrp="1"/>
          </p:cNvSpPr>
          <p:nvPr/>
        </p:nvSpPr>
        <p:spPr>
          <a:xfrm xmlns:a="http://schemas.openxmlformats.org/drawingml/2006/main">
            <a:off x="4352925" y="1809750"/>
            <a:ext cx="3476625" cy="3333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8AABD1D-F00F-4EC1-9266-2BE52D1E0BCF}"/>
              </a:ext>
            </a:extLst>
          </p:cNvPr>
          <p:cNvSpPr>
            <a:spLocks xmlns:a="http://schemas.openxmlformats.org/drawingml/2006/main" noGrp="1"/>
          </p:cNvSpPr>
          <p:nvPr/>
        </p:nvSpPr>
        <p:spPr>
          <a:xfrm xmlns:a="http://schemas.openxmlformats.org/drawingml/2006/main">
            <a:off x="4352925" y="1809750"/>
            <a:ext cx="95250" cy="33337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659B87-AB64-4F51-A371-EF4D948A5ABB}"/>
              </a:ext>
            </a:extLst>
          </p:cNvPr>
          <p:cNvSpPr>
            <a:spLocks xmlns:a="http://schemas.openxmlformats.org/drawingml/2006/main" noGrp="1"/>
          </p:cNvSpPr>
          <p:nvPr/>
        </p:nvSpPr>
        <p:spPr>
          <a:xfrm xmlns:a="http://schemas.openxmlformats.org/drawingml/2006/main">
            <a:off x="4619625" y="2076450"/>
            <a:ext cx="30384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3D8DFF"/>
                </a:solidFill>
                <a:latin typeface="Helvetica Neue"/>
                <a:ea typeface="Helvetica Neue"/>
                <a:cs typeface="Helvetica Neue"/>
              </a:defRPr>
            </a:pPr>
            <a:r>
              <a:rPr sz="3150" b="1">
                <a:solidFill>
                  <a:srgbClr val="3D8DFF"/>
                </a:solidFill>
                <a:latin typeface="Helvetica Neue"/>
                <a:ea typeface="Helvetica Neue"/>
                <a:cs typeface="Helvetica Neue"/>
              </a:rPr>
              <a:t>Measured</a:t>
            </a:r>
          </a:p>
        </p:txBody>
      </p:sp>
      <p:sp>
        <p:nvSpPr>
          <p:cNvPr id="11" name="">
            <a:extLst xmlns:a="http://schemas.openxmlformats.org/drawingml/2006/main">
              <a:ext uri="{FF2B5EF4-FFF2-40B4-BE49-F238E27FC236}">
                <a16:creationId xmlns:a16="http://schemas.microsoft.com/office/drawing/2014/main" id="{FA1B36BE-585A-435E-AA53-5D01585EE58C}"/>
              </a:ext>
            </a:extLst>
          </p:cNvPr>
          <p:cNvSpPr>
            <a:spLocks xmlns:a="http://schemas.openxmlformats.org/drawingml/2006/main" noGrp="1"/>
          </p:cNvSpPr>
          <p:nvPr/>
        </p:nvSpPr>
        <p:spPr>
          <a:xfrm xmlns:a="http://schemas.openxmlformats.org/drawingml/2006/main">
            <a:off x="4619625" y="2933700"/>
            <a:ext cx="3038475"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Bounded results</a:t>
            </a:r>
          </a:p>
          <a:p xmlns:a="http://schemas.openxmlformats.org/drawingml/2006/main">
            <a:r>
              <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Controlled Γ = 0.406; low-rate before-harm detection = 0.275.</a:t>
            </a:r>
          </a:p>
        </p:txBody>
      </p:sp>
      <p:sp>
        <p:nvSpPr>
          <p:cNvPr id="12" name="">
            <a:extLst xmlns:a="http://schemas.openxmlformats.org/drawingml/2006/main">
              <a:ext uri="{FF2B5EF4-FFF2-40B4-BE49-F238E27FC236}">
                <a16:creationId xmlns:a16="http://schemas.microsoft.com/office/drawing/2014/main" id="{7EAC07C0-0BDD-492D-9A25-0C42D64E6656}"/>
              </a:ext>
            </a:extLst>
          </p:cNvPr>
          <p:cNvSpPr>
            <a:spLocks xmlns:a="http://schemas.openxmlformats.org/drawingml/2006/main" noGrp="1"/>
          </p:cNvSpPr>
          <p:nvPr/>
        </p:nvSpPr>
        <p:spPr>
          <a:xfrm xmlns:a="http://schemas.openxmlformats.org/drawingml/2006/main">
            <a:off x="8305800" y="1809750"/>
            <a:ext cx="3486150" cy="333375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C24F48E-FA4D-4F63-B5C6-E8B25428484A}"/>
              </a:ext>
            </a:extLst>
          </p:cNvPr>
          <p:cNvSpPr>
            <a:spLocks xmlns:a="http://schemas.openxmlformats.org/drawingml/2006/main" noGrp="1"/>
          </p:cNvSpPr>
          <p:nvPr/>
        </p:nvSpPr>
        <p:spPr>
          <a:xfrm xmlns:a="http://schemas.openxmlformats.org/drawingml/2006/main">
            <a:off x="8305800" y="1809750"/>
            <a:ext cx="95250" cy="3333750"/>
          </a:xfrm>
          <a:prstGeom xmlns:a="http://schemas.openxmlformats.org/drawingml/2006/main" prst="rect">
            <a:avLst/>
          </a:prstGeom>
          <a:solidFill xmlns:a="http://schemas.openxmlformats.org/drawingml/2006/main">
            <a:srgbClr val="2070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61B2D4F-964F-42B1-8200-323DE068DD6E}"/>
              </a:ext>
            </a:extLst>
          </p:cNvPr>
          <p:cNvSpPr>
            <a:spLocks xmlns:a="http://schemas.openxmlformats.org/drawingml/2006/main" noGrp="1"/>
          </p:cNvSpPr>
          <p:nvPr/>
        </p:nvSpPr>
        <p:spPr>
          <a:xfrm xmlns:a="http://schemas.openxmlformats.org/drawingml/2006/main">
            <a:off x="8572500" y="2076450"/>
            <a:ext cx="304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150" b="1">
                <a:solidFill>
                  <a:srgbClr val="20704A"/>
                </a:solidFill>
                <a:latin typeface="Helvetica Neue"/>
                <a:ea typeface="Helvetica Neue"/>
                <a:cs typeface="Helvetica Neue"/>
              </a:defRPr>
            </a:pPr>
            <a:r>
              <a:rPr sz="3150" b="1">
                <a:solidFill>
                  <a:srgbClr val="20704A"/>
                </a:solidFill>
                <a:latin typeface="Helvetica Neue"/>
                <a:ea typeface="Helvetica Neue"/>
                <a:cs typeface="Helvetica Neue"/>
              </a:rPr>
              <a:t>Open</a:t>
            </a:r>
          </a:p>
        </p:txBody>
      </p:sp>
      <p:sp>
        <p:nvSpPr>
          <p:cNvPr id="15" name="">
            <a:extLst xmlns:a="http://schemas.openxmlformats.org/drawingml/2006/main">
              <a:ext uri="{FF2B5EF4-FFF2-40B4-BE49-F238E27FC236}">
                <a16:creationId xmlns:a16="http://schemas.microsoft.com/office/drawing/2014/main" id="{E76C9C74-72A0-4552-948E-ACA23CC56274}"/>
              </a:ext>
            </a:extLst>
          </p:cNvPr>
          <p:cNvSpPr>
            <a:spLocks xmlns:a="http://schemas.openxmlformats.org/drawingml/2006/main" noGrp="1"/>
          </p:cNvSpPr>
          <p:nvPr/>
        </p:nvSpPr>
        <p:spPr>
          <a:xfrm xmlns:a="http://schemas.openxmlformats.org/drawingml/2006/main">
            <a:off x="8572500" y="2933700"/>
            <a:ext cx="3048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Decisive tests</a:t>
            </a:r>
          </a:p>
          <a:p xmlns:a="http://schemas.openxmlformats.org/drawingml/2006/main">
            <a:r>
              <a:t/>
            </a:r>
          </a:p>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Autonomous best response, selector advantage, and cross-model transfer.</a:t>
            </a:r>
          </a:p>
        </p:txBody>
      </p:sp>
      <p:sp>
        <p:nvSpPr>
          <p:cNvPr id="16" name="">
            <a:extLst xmlns:a="http://schemas.openxmlformats.org/drawingml/2006/main">
              <a:ext uri="{FF2B5EF4-FFF2-40B4-BE49-F238E27FC236}">
                <a16:creationId xmlns:a16="http://schemas.microsoft.com/office/drawing/2014/main" id="{A84ABC26-1996-4C7A-9D39-7267C562B8D0}"/>
              </a:ext>
            </a:extLst>
          </p:cNvPr>
          <p:cNvSpPr>
            <a:spLocks xmlns:a="http://schemas.openxmlformats.org/drawingml/2006/main" noGrp="1"/>
          </p:cNvSpPr>
          <p:nvPr/>
        </p:nvSpPr>
        <p:spPr>
          <a:xfrm xmlns:a="http://schemas.openxmlformats.org/drawingml/2006/main">
            <a:off x="400050" y="5619750"/>
            <a:ext cx="1095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C86B20"/>
                </a:solidFill>
                <a:latin typeface="Helvetica Neue"/>
                <a:ea typeface="Helvetica Neue"/>
                <a:cs typeface="Helvetica Neue"/>
              </a:defRPr>
            </a:pPr>
            <a:r>
              <a:rPr sz="2100" b="1">
                <a:solidFill>
                  <a:srgbClr val="C86B20"/>
                </a:solidFill>
                <a:latin typeface="Helvetica Neue"/>
                <a:ea typeface="Helvetica Neue"/>
                <a:cs typeface="Helvetica Neue"/>
              </a:rPr>
              <a:t>Conclusion: strong mechanism evidence; incomplete robustness evidence.</a:t>
            </a:r>
          </a:p>
        </p:txBody>
      </p:sp>
    </p:spTree>
    <p:extLst>
      <p:ext uri="{BB962C8B-B14F-4D97-AF65-F5344CB8AC3E}">
        <p14:creationId xmlns:p14="http://schemas.microsoft.com/office/powerpoint/2010/main" val="31458286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93D1B11-64E7-48EA-86C6-3DA4ACC75CDE}"/>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13-title">
            <a:extLst xmlns:a="http://schemas.openxmlformats.org/drawingml/2006/main">
              <a:ext uri="{FF2B5EF4-FFF2-40B4-BE49-F238E27FC236}">
                <a16:creationId xmlns:a16="http://schemas.microsoft.com/office/drawing/2014/main" id="{5359DFED-FFA9-4922-82E9-17E965940BAB}"/>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Three experiments now decide the conjecture</a:t>
            </a:r>
          </a:p>
        </p:txBody>
      </p:sp>
      <p:sp>
        <p:nvSpPr>
          <p:cNvPr id="3" name="">
            <a:extLst xmlns:a="http://schemas.openxmlformats.org/drawingml/2006/main">
              <a:ext uri="{FF2B5EF4-FFF2-40B4-BE49-F238E27FC236}">
                <a16:creationId xmlns:a16="http://schemas.microsoft.com/office/drawing/2014/main" id="{5766D728-C950-41A3-A178-827AD77095EF}"/>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19</a:t>
            </a:r>
          </a:p>
        </p:txBody>
      </p:sp>
      <p:sp>
        <p:nvSpPr>
          <p:cNvPr id="4" name="">
            <a:extLst xmlns:a="http://schemas.openxmlformats.org/drawingml/2006/main">
              <a:ext uri="{FF2B5EF4-FFF2-40B4-BE49-F238E27FC236}">
                <a16:creationId xmlns:a16="http://schemas.microsoft.com/office/drawing/2014/main" id="{9C918F06-D9CE-493E-9479-8F130A10E024}"/>
              </a:ext>
            </a:extLst>
          </p:cNvPr>
          <p:cNvSpPr>
            <a:spLocks xmlns:a="http://schemas.openxmlformats.org/drawingml/2006/main" noGrp="1"/>
          </p:cNvSpPr>
          <p:nvPr/>
        </p:nvSpPr>
        <p:spPr>
          <a:xfrm xmlns:a="http://schemas.openxmlformats.org/drawingml/2006/main">
            <a:off x="400050" y="1762125"/>
            <a:ext cx="3381375" cy="338137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6CB0F6C-0882-4DCC-A200-A94539C1C9AD}"/>
              </a:ext>
            </a:extLst>
          </p:cNvPr>
          <p:cNvSpPr>
            <a:spLocks xmlns:a="http://schemas.openxmlformats.org/drawingml/2006/main" noGrp="1"/>
          </p:cNvSpPr>
          <p:nvPr/>
        </p:nvSpPr>
        <p:spPr>
          <a:xfrm xmlns:a="http://schemas.openxmlformats.org/drawingml/2006/main">
            <a:off x="666750" y="2047875"/>
            <a:ext cx="666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3D8DFF"/>
                </a:solidFill>
                <a:latin typeface="Helvetica Neue"/>
                <a:ea typeface="Helvetica Neue"/>
                <a:cs typeface="Helvetica Neue"/>
              </a:defRPr>
            </a:pPr>
            <a:r>
              <a:rPr sz="3600" b="1">
                <a:solidFill>
                  <a:srgbClr val="3D8DFF"/>
                </a:solidFill>
                <a:latin typeface="Helvetica Neue"/>
                <a:ea typeface="Helvetica Neue"/>
                <a:cs typeface="Helvetica Neue"/>
              </a:rPr>
              <a:t>1</a:t>
            </a:r>
          </a:p>
        </p:txBody>
      </p:sp>
      <p:sp>
        <p:nvSpPr>
          <p:cNvPr id="6" name="">
            <a:extLst xmlns:a="http://schemas.openxmlformats.org/drawingml/2006/main">
              <a:ext uri="{FF2B5EF4-FFF2-40B4-BE49-F238E27FC236}">
                <a16:creationId xmlns:a16="http://schemas.microsoft.com/office/drawing/2014/main" id="{2729D0F4-52DE-44AD-A4CB-4460DC31FDB5}"/>
              </a:ext>
            </a:extLst>
          </p:cNvPr>
          <p:cNvSpPr>
            <a:spLocks xmlns:a="http://schemas.openxmlformats.org/drawingml/2006/main" noGrp="1"/>
          </p:cNvSpPr>
          <p:nvPr/>
        </p:nvSpPr>
        <p:spPr>
          <a:xfrm xmlns:a="http://schemas.openxmlformats.org/drawingml/2006/main">
            <a:off x="666750" y="2905125"/>
            <a:ext cx="2809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Model-backed</a:t>
            </a:r>
          </a:p>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complementarity</a:t>
            </a:r>
          </a:p>
        </p:txBody>
      </p:sp>
      <p:sp>
        <p:nvSpPr>
          <p:cNvPr id="7" name="">
            <a:extLst xmlns:a="http://schemas.openxmlformats.org/drawingml/2006/main">
              <a:ext uri="{FF2B5EF4-FFF2-40B4-BE49-F238E27FC236}">
                <a16:creationId xmlns:a16="http://schemas.microsoft.com/office/drawing/2014/main" id="{1A62AD8D-EC5F-43A7-AB6F-655A82A07AB3}"/>
              </a:ext>
            </a:extLst>
          </p:cNvPr>
          <p:cNvSpPr>
            <a:spLocks xmlns:a="http://schemas.openxmlformats.org/drawingml/2006/main" noGrp="1"/>
          </p:cNvSpPr>
          <p:nvPr/>
        </p:nvSpPr>
        <p:spPr>
          <a:xfrm xmlns:a="http://schemas.openxmlformats.org/drawingml/2006/main">
            <a:off x="666750" y="3857625"/>
            <a:ext cx="2809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a:solidFill>
                  <a:srgbClr val="5D636D"/>
                </a:solidFill>
                <a:latin typeface="Helvetica Neue"/>
                <a:ea typeface="Helvetica Neue"/>
                <a:cs typeface="Helvetica Neue"/>
              </a:defRPr>
            </a:pPr>
            <a:r>
              <a:rPr sz="1425" b="0">
                <a:solidFill>
                  <a:srgbClr val="5D636D"/>
                </a:solidFill>
                <a:latin typeface="Helvetica Neue"/>
                <a:ea typeface="Helvetica Neue"/>
                <a:cs typeface="Helvetica Neue"/>
              </a:rPr>
              <a:t>Shadow-fork matched LLM events through singleton and stacked defenses.</a:t>
            </a:r>
          </a:p>
        </p:txBody>
      </p:sp>
      <p:sp>
        <p:nvSpPr>
          <p:cNvPr id="8" name="">
            <a:extLst xmlns:a="http://schemas.openxmlformats.org/drawingml/2006/main">
              <a:ext uri="{FF2B5EF4-FFF2-40B4-BE49-F238E27FC236}">
                <a16:creationId xmlns:a16="http://schemas.microsoft.com/office/drawing/2014/main" id="{7666D313-1F48-43F0-9D61-E73D7E9941F8}"/>
              </a:ext>
            </a:extLst>
          </p:cNvPr>
          <p:cNvSpPr>
            <a:spLocks xmlns:a="http://schemas.openxmlformats.org/drawingml/2006/main" noGrp="1"/>
          </p:cNvSpPr>
          <p:nvPr/>
        </p:nvSpPr>
        <p:spPr>
          <a:xfrm xmlns:a="http://schemas.openxmlformats.org/drawingml/2006/main">
            <a:off x="4257675" y="1762125"/>
            <a:ext cx="3381375" cy="3381375"/>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972F8DC-99C4-4BDC-BED5-577140495A2F}"/>
              </a:ext>
            </a:extLst>
          </p:cNvPr>
          <p:cNvSpPr>
            <a:spLocks xmlns:a="http://schemas.openxmlformats.org/drawingml/2006/main" noGrp="1"/>
          </p:cNvSpPr>
          <p:nvPr/>
        </p:nvSpPr>
        <p:spPr>
          <a:xfrm xmlns:a="http://schemas.openxmlformats.org/drawingml/2006/main">
            <a:off x="4524375" y="2047875"/>
            <a:ext cx="666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3D8DFF"/>
                </a:solidFill>
                <a:latin typeface="Helvetica Neue"/>
                <a:ea typeface="Helvetica Neue"/>
                <a:cs typeface="Helvetica Neue"/>
              </a:defRPr>
            </a:pPr>
            <a:r>
              <a:rPr sz="3600" b="1">
                <a:solidFill>
                  <a:srgbClr val="3D8DFF"/>
                </a:solidFill>
                <a:latin typeface="Helvetica Neue"/>
                <a:ea typeface="Helvetica Neue"/>
                <a:cs typeface="Helvetica Neue"/>
              </a:rPr>
              <a:t>2</a:t>
            </a:r>
          </a:p>
        </p:txBody>
      </p:sp>
      <p:sp>
        <p:nvSpPr>
          <p:cNvPr id="10" name="">
            <a:extLst xmlns:a="http://schemas.openxmlformats.org/drawingml/2006/main">
              <a:ext uri="{FF2B5EF4-FFF2-40B4-BE49-F238E27FC236}">
                <a16:creationId xmlns:a16="http://schemas.microsoft.com/office/drawing/2014/main" id="{CEF70D54-33E3-4A40-8C03-DD9B30F008E1}"/>
              </a:ext>
            </a:extLst>
          </p:cNvPr>
          <p:cNvSpPr>
            <a:spLocks xmlns:a="http://schemas.openxmlformats.org/drawingml/2006/main" noGrp="1"/>
          </p:cNvSpPr>
          <p:nvPr/>
        </p:nvSpPr>
        <p:spPr>
          <a:xfrm xmlns:a="http://schemas.openxmlformats.org/drawingml/2006/main">
            <a:off x="4524375" y="2905125"/>
            <a:ext cx="2809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Stack-aware</a:t>
            </a:r>
          </a:p>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best response</a:t>
            </a:r>
          </a:p>
        </p:txBody>
      </p:sp>
      <p:sp>
        <p:nvSpPr>
          <p:cNvPr id="11" name="">
            <a:extLst xmlns:a="http://schemas.openxmlformats.org/drawingml/2006/main">
              <a:ext uri="{FF2B5EF4-FFF2-40B4-BE49-F238E27FC236}">
                <a16:creationId xmlns:a16="http://schemas.microsoft.com/office/drawing/2014/main" id="{FE5E9369-2DCD-41E3-8370-8E02EFD6C3D7}"/>
              </a:ext>
            </a:extLst>
          </p:cNvPr>
          <p:cNvSpPr>
            <a:spLocks xmlns:a="http://schemas.openxmlformats.org/drawingml/2006/main" noGrp="1"/>
          </p:cNvSpPr>
          <p:nvPr/>
        </p:nvSpPr>
        <p:spPr>
          <a:xfrm xmlns:a="http://schemas.openxmlformats.org/drawingml/2006/main">
            <a:off x="4524375" y="3857625"/>
            <a:ext cx="2809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a:solidFill>
                  <a:srgbClr val="5D636D"/>
                </a:solidFill>
                <a:latin typeface="Helvetica Neue"/>
                <a:ea typeface="Helvetica Neue"/>
                <a:cs typeface="Helvetica Neue"/>
              </a:defRPr>
            </a:pPr>
            <a:r>
              <a:rPr sz="1425" b="0">
                <a:solidFill>
                  <a:srgbClr val="5D636D"/>
                </a:solidFill>
                <a:latin typeface="Helvetica Neue"/>
                <a:ea typeface="Helvetica Neue"/>
                <a:cs typeface="Helvetica Neue"/>
              </a:rPr>
              <a:t>Optimize one attacker per finalist under equal query, token, tool, and rollout budgets.</a:t>
            </a:r>
          </a:p>
        </p:txBody>
      </p:sp>
      <p:sp>
        <p:nvSpPr>
          <p:cNvPr id="12" name="">
            <a:extLst xmlns:a="http://schemas.openxmlformats.org/drawingml/2006/main">
              <a:ext uri="{FF2B5EF4-FFF2-40B4-BE49-F238E27FC236}">
                <a16:creationId xmlns:a16="http://schemas.microsoft.com/office/drawing/2014/main" id="{6528467C-53F3-4C5F-8A2C-CA0379AE0394}"/>
              </a:ext>
            </a:extLst>
          </p:cNvPr>
          <p:cNvSpPr>
            <a:spLocks xmlns:a="http://schemas.openxmlformats.org/drawingml/2006/main" noGrp="1"/>
          </p:cNvSpPr>
          <p:nvPr/>
        </p:nvSpPr>
        <p:spPr>
          <a:xfrm xmlns:a="http://schemas.openxmlformats.org/drawingml/2006/main">
            <a:off x="8115300" y="1762125"/>
            <a:ext cx="3381375" cy="3381375"/>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6DBDC29-977A-4C0E-A37E-208BB8034B84}"/>
              </a:ext>
            </a:extLst>
          </p:cNvPr>
          <p:cNvSpPr>
            <a:spLocks xmlns:a="http://schemas.openxmlformats.org/drawingml/2006/main" noGrp="1"/>
          </p:cNvSpPr>
          <p:nvPr/>
        </p:nvSpPr>
        <p:spPr>
          <a:xfrm xmlns:a="http://schemas.openxmlformats.org/drawingml/2006/main">
            <a:off x="8382000" y="2047875"/>
            <a:ext cx="666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600" b="1">
                <a:solidFill>
                  <a:srgbClr val="3D8DFF"/>
                </a:solidFill>
                <a:latin typeface="Helvetica Neue"/>
                <a:ea typeface="Helvetica Neue"/>
                <a:cs typeface="Helvetica Neue"/>
              </a:defRPr>
            </a:pPr>
            <a:r>
              <a:rPr sz="3600" b="1">
                <a:solidFill>
                  <a:srgbClr val="3D8DFF"/>
                </a:solidFill>
                <a:latin typeface="Helvetica Neue"/>
                <a:ea typeface="Helvetica Neue"/>
                <a:cs typeface="Helvetica Neue"/>
              </a:rPr>
              <a:t>3</a:t>
            </a:r>
          </a:p>
        </p:txBody>
      </p:sp>
      <p:sp>
        <p:nvSpPr>
          <p:cNvPr id="14" name="">
            <a:extLst xmlns:a="http://schemas.openxmlformats.org/drawingml/2006/main">
              <a:ext uri="{FF2B5EF4-FFF2-40B4-BE49-F238E27FC236}">
                <a16:creationId xmlns:a16="http://schemas.microsoft.com/office/drawing/2014/main" id="{6B71EFEB-6E3B-4058-9249-6176A880A2B7}"/>
              </a:ext>
            </a:extLst>
          </p:cNvPr>
          <p:cNvSpPr>
            <a:spLocks xmlns:a="http://schemas.openxmlformats.org/drawingml/2006/main" noGrp="1"/>
          </p:cNvSpPr>
          <p:nvPr/>
        </p:nvSpPr>
        <p:spPr>
          <a:xfrm xmlns:a="http://schemas.openxmlformats.org/drawingml/2006/main">
            <a:off x="8382000" y="2905125"/>
            <a:ext cx="2809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000000"/>
                </a:solidFill>
                <a:latin typeface="Helvetica Neue"/>
                <a:ea typeface="Helvetica Neue"/>
                <a:cs typeface="Helvetica Neue"/>
              </a:defRPr>
            </a:pPr>
            <a:r>
              <a:rPr sz="1950" b="1">
                <a:solidFill>
                  <a:srgbClr val="000000"/>
                </a:solidFill>
                <a:latin typeface="Helvetica Neue"/>
                <a:ea typeface="Helvetica Neue"/>
                <a:cs typeface="Helvetica Neue"/>
              </a:rPr>
              <a:t>Held-out transfer</a:t>
            </a:r>
          </a:p>
        </p:txBody>
      </p:sp>
      <p:sp>
        <p:nvSpPr>
          <p:cNvPr id="15" name="">
            <a:extLst xmlns:a="http://schemas.openxmlformats.org/drawingml/2006/main">
              <a:ext uri="{FF2B5EF4-FFF2-40B4-BE49-F238E27FC236}">
                <a16:creationId xmlns:a16="http://schemas.microsoft.com/office/drawing/2014/main" id="{424228B1-7D84-4286-911F-2F6BD03B8C86}"/>
              </a:ext>
            </a:extLst>
          </p:cNvPr>
          <p:cNvSpPr>
            <a:spLocks xmlns:a="http://schemas.openxmlformats.org/drawingml/2006/main" noGrp="1"/>
          </p:cNvSpPr>
          <p:nvPr/>
        </p:nvSpPr>
        <p:spPr>
          <a:xfrm xmlns:a="http://schemas.openxmlformats.org/drawingml/2006/main">
            <a:off x="8382000" y="3857625"/>
            <a:ext cx="2809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a:solidFill>
                  <a:srgbClr val="5D636D"/>
                </a:solidFill>
                <a:latin typeface="Helvetica Neue"/>
                <a:ea typeface="Helvetica Neue"/>
                <a:cs typeface="Helvetica Neue"/>
              </a:defRPr>
            </a:pPr>
            <a:r>
              <a:rPr sz="1425" b="0">
                <a:solidFill>
                  <a:srgbClr val="5D636D"/>
                </a:solidFill>
                <a:latin typeface="Helvetica Neue"/>
                <a:ea typeface="Helvetica Neue"/>
                <a:cs typeface="Helvetica Neue"/>
              </a:rPr>
              <a:t>Qualify a distinct 7–9B model, then open single-axis and compound cells once.</a:t>
            </a:r>
          </a:p>
        </p:txBody>
      </p:sp>
      <p:sp>
        <p:nvSpPr>
          <p:cNvPr id="16" name="">
            <a:extLst xmlns:a="http://schemas.openxmlformats.org/drawingml/2006/main">
              <a:ext uri="{FF2B5EF4-FFF2-40B4-BE49-F238E27FC236}">
                <a16:creationId xmlns:a16="http://schemas.microsoft.com/office/drawing/2014/main" id="{C41780EC-79B2-44E4-B91B-49D351981147}"/>
              </a:ext>
            </a:extLst>
          </p:cNvPr>
          <p:cNvSpPr>
            <a:spLocks xmlns:a="http://schemas.openxmlformats.org/drawingml/2006/main" noGrp="1"/>
          </p:cNvSpPr>
          <p:nvPr/>
        </p:nvSpPr>
        <p:spPr>
          <a:xfrm xmlns:a="http://schemas.openxmlformats.org/drawingml/2006/main">
            <a:off x="400050" y="5572125"/>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3D8DFF"/>
                </a:solidFill>
                <a:latin typeface="Helvetica Neue"/>
                <a:ea typeface="Helvetica Neue"/>
                <a:cs typeface="Helvetica Neue"/>
              </a:defRPr>
            </a:pPr>
            <a:r>
              <a:rPr sz="1650" b="1">
                <a:solidFill>
                  <a:srgbClr val="3D8DFF"/>
                </a:solidFill>
                <a:latin typeface="Helvetica Neue"/>
                <a:ea typeface="Helvetica Neue"/>
                <a:cs typeface="Helvetica Neue"/>
              </a:rPr>
              <a:t>Decision rule</a:t>
            </a:r>
          </a:p>
        </p:txBody>
      </p:sp>
      <p:sp>
        <p:nvSpPr>
          <p:cNvPr id="17" name="">
            <a:extLst xmlns:a="http://schemas.openxmlformats.org/drawingml/2006/main">
              <a:ext uri="{FF2B5EF4-FFF2-40B4-BE49-F238E27FC236}">
                <a16:creationId xmlns:a16="http://schemas.microsoft.com/office/drawing/2014/main" id="{DC76134C-4239-4D6A-B72F-EB9E8536DDB4}"/>
              </a:ext>
            </a:extLst>
          </p:cNvPr>
          <p:cNvSpPr>
            <a:spLocks xmlns:a="http://schemas.openxmlformats.org/drawingml/2006/main" noGrp="1"/>
          </p:cNvSpPr>
          <p:nvPr/>
        </p:nvSpPr>
        <p:spPr>
          <a:xfrm xmlns:a="http://schemas.openxmlformats.org/drawingml/2006/main">
            <a:off x="3000375" y="5524500"/>
            <a:ext cx="857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000000"/>
                </a:solidFill>
                <a:latin typeface="Helvetica Neue"/>
                <a:ea typeface="Helvetica Neue"/>
                <a:cs typeface="Helvetica Neue"/>
              </a:defRPr>
            </a:pPr>
            <a:r>
              <a:rPr sz="2100" b="1">
                <a:solidFill>
                  <a:srgbClr val="000000"/>
                </a:solidFill>
                <a:latin typeface="Helvetica Neue"/>
                <a:ea typeface="Helvetica Neue"/>
                <a:cs typeface="Helvetica Neue"/>
              </a:rPr>
              <a:t>Claim optimization only if the advantage survives all three.</a:t>
            </a:r>
          </a:p>
        </p:txBody>
      </p:sp>
    </p:spTree>
    <p:extLst>
      <p:ext uri="{BB962C8B-B14F-4D97-AF65-F5344CB8AC3E}">
        <p14:creationId xmlns:p14="http://schemas.microsoft.com/office/powerpoint/2010/main" val="1641732980"/>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310ECD3-08AE-4304-97E2-ABA54357479E}"/>
              </a:ext>
            </a:extLst>
          </p:cNvPr>
          <p:cNvSpPr>
            <a:spLocks xmlns:a="http://schemas.openxmlformats.org/drawingml/2006/main" noGrp="1"/>
          </p:cNvSpPr>
          <p:nvPr/>
        </p:nvSpPr>
        <p:spPr>
          <a:xfrm xmlns:a="http://schemas.openxmlformats.org/drawingml/2006/main">
            <a:off x="400050" y="2667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5D636D"/>
                </a:solidFill>
                <a:latin typeface="Helvetica Neue"/>
                <a:ea typeface="Helvetica Neue"/>
                <a:cs typeface="Helvetica Neue"/>
              </a:defRPr>
            </a:pPr>
            <a:r>
              <a:rPr sz="1200" b="1">
                <a:solidFill>
                  <a:srgbClr val="5D636D"/>
                </a:solidFill>
                <a:latin typeface="Helvetica Neue"/>
                <a:ea typeface="Helvetica Neue"/>
                <a:cs typeface="Helvetica Neue"/>
              </a:rPr>
              <a:t>MULTI-AGENT DEFENSE EVALUATION</a:t>
            </a:r>
          </a:p>
        </p:txBody>
      </p:sp>
      <p:sp>
        <p:nvSpPr>
          <p:cNvPr id="2" name="slide-10-title">
            <a:extLst xmlns:a="http://schemas.openxmlformats.org/drawingml/2006/main">
              <a:ext uri="{FF2B5EF4-FFF2-40B4-BE49-F238E27FC236}">
                <a16:creationId xmlns:a16="http://schemas.microsoft.com/office/drawing/2014/main" id="{E07834F3-1512-4A27-BD49-56266779D743}"/>
              </a:ext>
            </a:extLst>
          </p:cNvPr>
          <p:cNvSpPr>
            <a:spLocks xmlns:a="http://schemas.openxmlformats.org/drawingml/2006/main" noGrp="1"/>
          </p:cNvSpPr>
          <p:nvPr/>
        </p:nvSpPr>
        <p:spPr>
          <a:xfrm xmlns:a="http://schemas.openxmlformats.org/drawingml/2006/main">
            <a:off x="400050" y="619125"/>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000000"/>
                </a:solidFill>
                <a:latin typeface="Helvetica Neue"/>
                <a:ea typeface="Helvetica Neue"/>
                <a:cs typeface="Helvetica Neue"/>
              </a:defRPr>
            </a:pPr>
            <a:r>
              <a:rPr sz="3000" b="1">
                <a:solidFill>
                  <a:srgbClr val="000000"/>
                </a:solidFill>
                <a:latin typeface="Helvetica Neue"/>
                <a:ea typeface="Helvetica Neue"/>
                <a:cs typeface="Helvetica Neue"/>
              </a:rPr>
              <a:t>Five insights change multi-agent defense design</a:t>
            </a:r>
          </a:p>
        </p:txBody>
      </p:sp>
      <p:sp>
        <p:nvSpPr>
          <p:cNvPr id="3" name="">
            <a:extLst xmlns:a="http://schemas.openxmlformats.org/drawingml/2006/main">
              <a:ext uri="{FF2B5EF4-FFF2-40B4-BE49-F238E27FC236}">
                <a16:creationId xmlns:a16="http://schemas.microsoft.com/office/drawing/2014/main" id="{779D766C-49B7-429F-A581-E931604A8FE8}"/>
              </a:ext>
            </a:extLst>
          </p:cNvPr>
          <p:cNvSpPr>
            <a:spLocks xmlns:a="http://schemas.openxmlformats.org/drawingml/2006/main" noGrp="1"/>
          </p:cNvSpPr>
          <p:nvPr/>
        </p:nvSpPr>
        <p:spPr>
          <a:xfrm xmlns:a="http://schemas.openxmlformats.org/drawingml/2006/main">
            <a:off x="11239500" y="6334125"/>
            <a:ext cx="523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0">
                <a:solidFill>
                  <a:srgbClr val="5D636D"/>
                </a:solidFill>
                <a:latin typeface="Helvetica Neue"/>
                <a:ea typeface="Helvetica Neue"/>
                <a:cs typeface="Helvetica Neue"/>
              </a:defRPr>
            </a:pPr>
            <a:r>
              <a:rPr sz="1050" b="0">
                <a:solidFill>
                  <a:srgbClr val="5D636D"/>
                </a:solidFill>
                <a:latin typeface="Helvetica Neue"/>
                <a:ea typeface="Helvetica Neue"/>
                <a:cs typeface="Helvetica Neue"/>
              </a:rPr>
              <a:t>20</a:t>
            </a:r>
          </a:p>
        </p:txBody>
      </p:sp>
      <p:sp>
        <p:nvSpPr>
          <p:cNvPr id="4" name="">
            <a:extLst xmlns:a="http://schemas.openxmlformats.org/drawingml/2006/main">
              <a:ext uri="{FF2B5EF4-FFF2-40B4-BE49-F238E27FC236}">
                <a16:creationId xmlns:a16="http://schemas.microsoft.com/office/drawing/2014/main" id="{4A392410-FACB-4AF5-9012-FFC9E47843C1}"/>
              </a:ext>
            </a:extLst>
          </p:cNvPr>
          <p:cNvSpPr>
            <a:spLocks xmlns:a="http://schemas.openxmlformats.org/drawingml/2006/main" noGrp="1"/>
          </p:cNvSpPr>
          <p:nvPr/>
        </p:nvSpPr>
        <p:spPr>
          <a:xfrm xmlns:a="http://schemas.openxmlformats.org/drawingml/2006/main">
            <a:off x="476250" y="1581150"/>
            <a:ext cx="619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D636D"/>
                </a:solidFill>
                <a:latin typeface="Helvetica Neue"/>
                <a:ea typeface="Helvetica Neue"/>
                <a:cs typeface="Helvetica Neue"/>
              </a:defRPr>
            </a:pPr>
            <a:r>
              <a:rPr sz="1275" b="1">
                <a:solidFill>
                  <a:srgbClr val="5D636D"/>
                </a:solidFill>
                <a:latin typeface="Helvetica Neue"/>
                <a:ea typeface="Helvetica Neue"/>
                <a:cs typeface="Helvetica Neue"/>
              </a:rPr>
              <a:t>#</a:t>
            </a:r>
          </a:p>
        </p:txBody>
      </p:sp>
      <p:sp>
        <p:nvSpPr>
          <p:cNvPr id="5" name="">
            <a:extLst xmlns:a="http://schemas.openxmlformats.org/drawingml/2006/main">
              <a:ext uri="{FF2B5EF4-FFF2-40B4-BE49-F238E27FC236}">
                <a16:creationId xmlns:a16="http://schemas.microsoft.com/office/drawing/2014/main" id="{F7690FD0-06E6-4DB6-947B-F1EEFE290E75}"/>
              </a:ext>
            </a:extLst>
          </p:cNvPr>
          <p:cNvSpPr>
            <a:spLocks xmlns:a="http://schemas.openxmlformats.org/drawingml/2006/main" noGrp="1"/>
          </p:cNvSpPr>
          <p:nvPr/>
        </p:nvSpPr>
        <p:spPr>
          <a:xfrm xmlns:a="http://schemas.openxmlformats.org/drawingml/2006/main">
            <a:off x="1285875" y="15811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D636D"/>
                </a:solidFill>
                <a:latin typeface="Helvetica Neue"/>
                <a:ea typeface="Helvetica Neue"/>
                <a:cs typeface="Helvetica Neue"/>
              </a:defRPr>
            </a:pPr>
            <a:r>
              <a:rPr sz="1275" b="1">
                <a:solidFill>
                  <a:srgbClr val="5D636D"/>
                </a:solidFill>
                <a:latin typeface="Helvetica Neue"/>
                <a:ea typeface="Helvetica Neue"/>
                <a:cs typeface="Helvetica Neue"/>
              </a:rPr>
              <a:t>INSIGHT</a:t>
            </a:r>
          </a:p>
        </p:txBody>
      </p:sp>
      <p:sp>
        <p:nvSpPr>
          <p:cNvPr id="6" name="">
            <a:extLst xmlns:a="http://schemas.openxmlformats.org/drawingml/2006/main">
              <a:ext uri="{FF2B5EF4-FFF2-40B4-BE49-F238E27FC236}">
                <a16:creationId xmlns:a16="http://schemas.microsoft.com/office/drawing/2014/main" id="{BDECB01F-1972-446C-8808-A0CCD550671E}"/>
              </a:ext>
            </a:extLst>
          </p:cNvPr>
          <p:cNvSpPr>
            <a:spLocks xmlns:a="http://schemas.openxmlformats.org/drawingml/2006/main" noGrp="1"/>
          </p:cNvSpPr>
          <p:nvPr/>
        </p:nvSpPr>
        <p:spPr>
          <a:xfrm xmlns:a="http://schemas.openxmlformats.org/drawingml/2006/main">
            <a:off x="4095750" y="1581150"/>
            <a:ext cx="5191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D636D"/>
                </a:solidFill>
                <a:latin typeface="Helvetica Neue"/>
                <a:ea typeface="Helvetica Neue"/>
                <a:cs typeface="Helvetica Neue"/>
              </a:defRPr>
            </a:pPr>
            <a:r>
              <a:rPr sz="1275" b="1">
                <a:solidFill>
                  <a:srgbClr val="5D636D"/>
                </a:solidFill>
                <a:latin typeface="Helvetica Neue"/>
                <a:ea typeface="Helvetica Neue"/>
                <a:cs typeface="Helvetica Neue"/>
              </a:rPr>
              <a:t>WHAT THE EVIDENCE SHOWS</a:t>
            </a:r>
          </a:p>
        </p:txBody>
      </p:sp>
      <p:sp>
        <p:nvSpPr>
          <p:cNvPr id="7" name="">
            <a:extLst xmlns:a="http://schemas.openxmlformats.org/drawingml/2006/main">
              <a:ext uri="{FF2B5EF4-FFF2-40B4-BE49-F238E27FC236}">
                <a16:creationId xmlns:a16="http://schemas.microsoft.com/office/drawing/2014/main" id="{41ACECBB-4FF3-44E9-8319-A035E4FAFAC6}"/>
              </a:ext>
            </a:extLst>
          </p:cNvPr>
          <p:cNvSpPr>
            <a:spLocks xmlns:a="http://schemas.openxmlformats.org/drawingml/2006/main" noGrp="1"/>
          </p:cNvSpPr>
          <p:nvPr/>
        </p:nvSpPr>
        <p:spPr>
          <a:xfrm xmlns:a="http://schemas.openxmlformats.org/drawingml/2006/main">
            <a:off x="9858375" y="15811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D636D"/>
                </a:solidFill>
                <a:latin typeface="Helvetica Neue"/>
                <a:ea typeface="Helvetica Neue"/>
                <a:cs typeface="Helvetica Neue"/>
              </a:defRPr>
            </a:pPr>
            <a:r>
              <a:rPr sz="1275" b="1">
                <a:solidFill>
                  <a:srgbClr val="5D636D"/>
                </a:solidFill>
                <a:latin typeface="Helvetica Neue"/>
                <a:ea typeface="Helvetica Neue"/>
                <a:cs typeface="Helvetica Neue"/>
              </a:rPr>
              <a:t>DESIGN MOVE</a:t>
            </a:r>
          </a:p>
        </p:txBody>
      </p:sp>
      <p:cxnSp>
        <p:nvCxnSpPr>
          <p:cNvPr id="136" name=""/>
          <p:cNvCxnSpPr/>
          <p:nvPr/>
        </p:nvCxnSpPr>
        <p:spPr>
          <a:xfrm xmlns:a="http://schemas.openxmlformats.org/drawingml/2006/main">
            <a:off x="400050" y="1943100"/>
            <a:ext cx="11391900" cy="0"/>
          </a:xfrm>
          <a:prstGeom xmlns:a="http://schemas.openxmlformats.org/drawingml/2006/main" prst="straightConnector1">
            <a:avLst/>
          </a:prstGeom>
          <a:ln xmlns:a="http://schemas.openxmlformats.org/drawingml/2006/main" w="19050">
            <a:solidFill>
              <a:srgbClr val="000000"/>
            </a:solidFill>
            <a:prstDash val="solid"/>
          </a:ln>
        </p:spPr>
      </p:cxnSp>
      <p:sp>
        <p:nvSpPr>
          <p:cNvPr id="9" name="">
            <a:extLst xmlns:a="http://schemas.openxmlformats.org/drawingml/2006/main">
              <a:ext uri="{FF2B5EF4-FFF2-40B4-BE49-F238E27FC236}">
                <a16:creationId xmlns:a16="http://schemas.microsoft.com/office/drawing/2014/main" id="{BC3959C0-5CF5-46FF-95A8-B49BF9450EED}"/>
              </a:ext>
            </a:extLst>
          </p:cNvPr>
          <p:cNvSpPr>
            <a:spLocks xmlns:a="http://schemas.openxmlformats.org/drawingml/2006/main" noGrp="1"/>
          </p:cNvSpPr>
          <p:nvPr/>
        </p:nvSpPr>
        <p:spPr>
          <a:xfrm xmlns:a="http://schemas.openxmlformats.org/drawingml/2006/main">
            <a:off x="400050" y="2019300"/>
            <a:ext cx="11391900" cy="68580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AA9A9D8-6F11-42C5-AD56-63A26CC97D8F}"/>
              </a:ext>
            </a:extLst>
          </p:cNvPr>
          <p:cNvSpPr>
            <a:spLocks xmlns:a="http://schemas.openxmlformats.org/drawingml/2006/main" noGrp="1"/>
          </p:cNvSpPr>
          <p:nvPr/>
        </p:nvSpPr>
        <p:spPr>
          <a:xfrm xmlns:a="http://schemas.openxmlformats.org/drawingml/2006/main">
            <a:off x="476250" y="2114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1</a:t>
            </a:r>
          </a:p>
        </p:txBody>
      </p:sp>
      <p:sp>
        <p:nvSpPr>
          <p:cNvPr id="11" name="">
            <a:extLst xmlns:a="http://schemas.openxmlformats.org/drawingml/2006/main">
              <a:ext uri="{FF2B5EF4-FFF2-40B4-BE49-F238E27FC236}">
                <a16:creationId xmlns:a16="http://schemas.microsoft.com/office/drawing/2014/main" id="{E4AB5759-755D-4F48-BBF0-3A52CF17B60F}"/>
              </a:ext>
            </a:extLst>
          </p:cNvPr>
          <p:cNvSpPr>
            <a:spLocks xmlns:a="http://schemas.openxmlformats.org/drawingml/2006/main" noGrp="1"/>
          </p:cNvSpPr>
          <p:nvPr/>
        </p:nvSpPr>
        <p:spPr>
          <a:xfrm xmlns:a="http://schemas.openxmlformats.org/drawingml/2006/main">
            <a:off x="1285875" y="21145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Security is compositional</a:t>
            </a:r>
          </a:p>
        </p:txBody>
      </p:sp>
      <p:sp>
        <p:nvSpPr>
          <p:cNvPr id="12" name="">
            <a:extLst xmlns:a="http://schemas.openxmlformats.org/drawingml/2006/main">
              <a:ext uri="{FF2B5EF4-FFF2-40B4-BE49-F238E27FC236}">
                <a16:creationId xmlns:a16="http://schemas.microsoft.com/office/drawing/2014/main" id="{FE09F39D-BB0F-448D-96CD-FD5FC5AA92F7}"/>
              </a:ext>
            </a:extLst>
          </p:cNvPr>
          <p:cNvSpPr>
            <a:spLocks xmlns:a="http://schemas.openxmlformats.org/drawingml/2006/main" noGrp="1"/>
          </p:cNvSpPr>
          <p:nvPr/>
        </p:nvSpPr>
        <p:spPr>
          <a:xfrm xmlns:a="http://schemas.openxmlformats.org/drawingml/2006/main">
            <a:off x="4095750" y="211455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Local-only checks permitted a harmful six-role workflow.</a:t>
            </a:r>
          </a:p>
        </p:txBody>
      </p:sp>
      <p:sp>
        <p:nvSpPr>
          <p:cNvPr id="13" name="">
            <a:extLst xmlns:a="http://schemas.openxmlformats.org/drawingml/2006/main">
              <a:ext uri="{FF2B5EF4-FFF2-40B4-BE49-F238E27FC236}">
                <a16:creationId xmlns:a16="http://schemas.microsoft.com/office/drawing/2014/main" id="{B5D2D3CA-72DC-4411-B627-E259685AF77E}"/>
              </a:ext>
            </a:extLst>
          </p:cNvPr>
          <p:cNvSpPr>
            <a:spLocks xmlns:a="http://schemas.openxmlformats.org/drawingml/2006/main" noGrp="1"/>
          </p:cNvSpPr>
          <p:nvPr/>
        </p:nvSpPr>
        <p:spPr>
          <a:xfrm xmlns:a="http://schemas.openxmlformats.org/drawingml/2006/main">
            <a:off x="9858375" y="211455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3D8DFF"/>
                </a:solidFill>
                <a:latin typeface="Helvetica Neue"/>
                <a:ea typeface="Helvetica Neue"/>
                <a:cs typeface="Helvetica Neue"/>
              </a:defRPr>
            </a:pPr>
            <a:r>
              <a:rPr sz="1425" b="1">
                <a:solidFill>
                  <a:srgbClr val="3D8DFF"/>
                </a:solidFill>
                <a:latin typeface="Helvetica Neue"/>
                <a:ea typeface="Helvetica Neue"/>
                <a:cs typeface="Helvetica Neue"/>
              </a:rPr>
              <a:t>TRACE TRAJECTORY</a:t>
            </a:r>
          </a:p>
        </p:txBody>
      </p:sp>
      <p:sp>
        <p:nvSpPr>
          <p:cNvPr id="14" name="">
            <a:extLst xmlns:a="http://schemas.openxmlformats.org/drawingml/2006/main">
              <a:ext uri="{FF2B5EF4-FFF2-40B4-BE49-F238E27FC236}">
                <a16:creationId xmlns:a16="http://schemas.microsoft.com/office/drawing/2014/main" id="{1D4DCAE7-2AC5-43FD-9062-C791D0DA54BF}"/>
              </a:ext>
            </a:extLst>
          </p:cNvPr>
          <p:cNvSpPr>
            <a:spLocks xmlns:a="http://schemas.openxmlformats.org/drawingml/2006/main" noGrp="1"/>
          </p:cNvSpPr>
          <p:nvPr/>
        </p:nvSpPr>
        <p:spPr>
          <a:xfrm xmlns:a="http://schemas.openxmlformats.org/drawingml/2006/main">
            <a:off x="476250" y="289560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2</a:t>
            </a:r>
          </a:p>
        </p:txBody>
      </p:sp>
      <p:sp>
        <p:nvSpPr>
          <p:cNvPr id="15" name="">
            <a:extLst xmlns:a="http://schemas.openxmlformats.org/drawingml/2006/main">
              <a:ext uri="{FF2B5EF4-FFF2-40B4-BE49-F238E27FC236}">
                <a16:creationId xmlns:a16="http://schemas.microsoft.com/office/drawing/2014/main" id="{DEABFCDC-D759-4FFC-9FEB-4AB3624D831D}"/>
              </a:ext>
            </a:extLst>
          </p:cNvPr>
          <p:cNvSpPr>
            <a:spLocks xmlns:a="http://schemas.openxmlformats.org/drawingml/2006/main" noGrp="1"/>
          </p:cNvSpPr>
          <p:nvPr/>
        </p:nvSpPr>
        <p:spPr>
          <a:xfrm xmlns:a="http://schemas.openxmlformats.org/drawingml/2006/main">
            <a:off x="1285875" y="28956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Representation adapts</a:t>
            </a:r>
          </a:p>
        </p:txBody>
      </p:sp>
      <p:sp>
        <p:nvSpPr>
          <p:cNvPr id="16" name="">
            <a:extLst xmlns:a="http://schemas.openxmlformats.org/drawingml/2006/main">
              <a:ext uri="{FF2B5EF4-FFF2-40B4-BE49-F238E27FC236}">
                <a16:creationId xmlns:a16="http://schemas.microsoft.com/office/drawing/2014/main" id="{E4695ED0-6BDF-47C0-9E8D-987BCF8A4208}"/>
              </a:ext>
            </a:extLst>
          </p:cNvPr>
          <p:cNvSpPr>
            <a:spLocks xmlns:a="http://schemas.openxmlformats.org/drawingml/2006/main" noGrp="1"/>
          </p:cNvSpPr>
          <p:nvPr/>
        </p:nvSpPr>
        <p:spPr>
          <a:xfrm xmlns:a="http://schemas.openxmlformats.org/drawingml/2006/main">
            <a:off x="4095750" y="289560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Semantic adaptation restored 1.00; typed mediation returned success to 0.25.</a:t>
            </a:r>
          </a:p>
        </p:txBody>
      </p:sp>
      <p:sp>
        <p:nvSpPr>
          <p:cNvPr id="17" name="">
            <a:extLst xmlns:a="http://schemas.openxmlformats.org/drawingml/2006/main">
              <a:ext uri="{FF2B5EF4-FFF2-40B4-BE49-F238E27FC236}">
                <a16:creationId xmlns:a16="http://schemas.microsoft.com/office/drawing/2014/main" id="{FF38898E-93BD-4886-B06B-F44EBF9E8758}"/>
              </a:ext>
            </a:extLst>
          </p:cNvPr>
          <p:cNvSpPr>
            <a:spLocks xmlns:a="http://schemas.openxmlformats.org/drawingml/2006/main" noGrp="1"/>
          </p:cNvSpPr>
          <p:nvPr/>
        </p:nvSpPr>
        <p:spPr>
          <a:xfrm xmlns:a="http://schemas.openxmlformats.org/drawingml/2006/main">
            <a:off x="9858375" y="289560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3D8DFF"/>
                </a:solidFill>
                <a:latin typeface="Helvetica Neue"/>
                <a:ea typeface="Helvetica Neue"/>
                <a:cs typeface="Helvetica Neue"/>
              </a:defRPr>
            </a:pPr>
            <a:r>
              <a:rPr sz="1425" b="1">
                <a:solidFill>
                  <a:srgbClr val="3D8DFF"/>
                </a:solidFill>
                <a:latin typeface="Helvetica Neue"/>
                <a:ea typeface="Helvetica Neue"/>
                <a:cs typeface="Helvetica Neue"/>
              </a:rPr>
              <a:t>TYPE INTERFACES</a:t>
            </a:r>
          </a:p>
        </p:txBody>
      </p:sp>
      <p:sp>
        <p:nvSpPr>
          <p:cNvPr id="18" name="">
            <a:extLst xmlns:a="http://schemas.openxmlformats.org/drawingml/2006/main">
              <a:ext uri="{FF2B5EF4-FFF2-40B4-BE49-F238E27FC236}">
                <a16:creationId xmlns:a16="http://schemas.microsoft.com/office/drawing/2014/main" id="{C31B62F4-6391-4903-B77B-3A5567FDA69A}"/>
              </a:ext>
            </a:extLst>
          </p:cNvPr>
          <p:cNvSpPr>
            <a:spLocks xmlns:a="http://schemas.openxmlformats.org/drawingml/2006/main" noGrp="1"/>
          </p:cNvSpPr>
          <p:nvPr/>
        </p:nvSpPr>
        <p:spPr>
          <a:xfrm xmlns:a="http://schemas.openxmlformats.org/drawingml/2006/main">
            <a:off x="400050" y="3581400"/>
            <a:ext cx="11391900" cy="68580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28D7E86-C26C-47DD-A2AA-EF16EC3C7116}"/>
              </a:ext>
            </a:extLst>
          </p:cNvPr>
          <p:cNvSpPr>
            <a:spLocks xmlns:a="http://schemas.openxmlformats.org/drawingml/2006/main" noGrp="1"/>
          </p:cNvSpPr>
          <p:nvPr/>
        </p:nvSpPr>
        <p:spPr>
          <a:xfrm xmlns:a="http://schemas.openxmlformats.org/drawingml/2006/main">
            <a:off x="476250" y="36766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3</a:t>
            </a:r>
          </a:p>
        </p:txBody>
      </p:sp>
      <p:sp>
        <p:nvSpPr>
          <p:cNvPr id="20" name="">
            <a:extLst xmlns:a="http://schemas.openxmlformats.org/drawingml/2006/main">
              <a:ext uri="{FF2B5EF4-FFF2-40B4-BE49-F238E27FC236}">
                <a16:creationId xmlns:a16="http://schemas.microsoft.com/office/drawing/2014/main" id="{13818B89-FD32-46E0-A25F-AE94A79B8A51}"/>
              </a:ext>
            </a:extLst>
          </p:cNvPr>
          <p:cNvSpPr>
            <a:spLocks xmlns:a="http://schemas.openxmlformats.org/drawingml/2006/main" noGrp="1"/>
          </p:cNvSpPr>
          <p:nvPr/>
        </p:nvSpPr>
        <p:spPr>
          <a:xfrm xmlns:a="http://schemas.openxmlformats.org/drawingml/2006/main">
            <a:off x="1285875" y="36766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Repair preserves utility</a:t>
            </a:r>
          </a:p>
        </p:txBody>
      </p:sp>
      <p:sp>
        <p:nvSpPr>
          <p:cNvPr id="21" name="">
            <a:extLst xmlns:a="http://schemas.openxmlformats.org/drawingml/2006/main">
              <a:ext uri="{FF2B5EF4-FFF2-40B4-BE49-F238E27FC236}">
                <a16:creationId xmlns:a16="http://schemas.microsoft.com/office/drawing/2014/main" id="{3FB3ACDF-0EC6-4D5A-B56E-63A48719870E}"/>
              </a:ext>
            </a:extLst>
          </p:cNvPr>
          <p:cNvSpPr>
            <a:spLocks xmlns:a="http://schemas.openxmlformats.org/drawingml/2006/main" noGrp="1"/>
          </p:cNvSpPr>
          <p:nvPr/>
        </p:nvSpPr>
        <p:spPr>
          <a:xfrm xmlns:a="http://schemas.openxmlformats.org/drawingml/2006/main">
            <a:off x="4095750" y="367665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Targeted repair blocked harm while exact utility stayed 1.00.</a:t>
            </a:r>
          </a:p>
        </p:txBody>
      </p:sp>
      <p:sp>
        <p:nvSpPr>
          <p:cNvPr id="22" name="">
            <a:extLst xmlns:a="http://schemas.openxmlformats.org/drawingml/2006/main">
              <a:ext uri="{FF2B5EF4-FFF2-40B4-BE49-F238E27FC236}">
                <a16:creationId xmlns:a16="http://schemas.microsoft.com/office/drawing/2014/main" id="{2C330313-2CE2-473A-9B89-6BC5E344E4A0}"/>
              </a:ext>
            </a:extLst>
          </p:cNvPr>
          <p:cNvSpPr>
            <a:spLocks xmlns:a="http://schemas.openxmlformats.org/drawingml/2006/main" noGrp="1"/>
          </p:cNvSpPr>
          <p:nvPr/>
        </p:nvSpPr>
        <p:spPr>
          <a:xfrm xmlns:a="http://schemas.openxmlformats.org/drawingml/2006/main">
            <a:off x="9858375" y="367665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3D8DFF"/>
                </a:solidFill>
                <a:latin typeface="Helvetica Neue"/>
                <a:ea typeface="Helvetica Neue"/>
                <a:cs typeface="Helvetica Neue"/>
              </a:defRPr>
            </a:pPr>
            <a:r>
              <a:rPr sz="1425" b="1">
                <a:solidFill>
                  <a:srgbClr val="3D8DFF"/>
                </a:solidFill>
                <a:latin typeface="Helvetica Neue"/>
                <a:ea typeface="Helvetica Neue"/>
                <a:cs typeface="Helvetica Neue"/>
              </a:rPr>
              <a:t>REPAIR FIRST</a:t>
            </a:r>
          </a:p>
        </p:txBody>
      </p:sp>
      <p:sp>
        <p:nvSpPr>
          <p:cNvPr id="23" name="">
            <a:extLst xmlns:a="http://schemas.openxmlformats.org/drawingml/2006/main">
              <a:ext uri="{FF2B5EF4-FFF2-40B4-BE49-F238E27FC236}">
                <a16:creationId xmlns:a16="http://schemas.microsoft.com/office/drawing/2014/main" id="{85AC6C0A-9318-433B-A5B1-2C30717330CD}"/>
              </a:ext>
            </a:extLst>
          </p:cNvPr>
          <p:cNvSpPr>
            <a:spLocks xmlns:a="http://schemas.openxmlformats.org/drawingml/2006/main" noGrp="1"/>
          </p:cNvSpPr>
          <p:nvPr/>
        </p:nvSpPr>
        <p:spPr>
          <a:xfrm xmlns:a="http://schemas.openxmlformats.org/drawingml/2006/main">
            <a:off x="476250" y="445770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4</a:t>
            </a:r>
          </a:p>
        </p:txBody>
      </p:sp>
      <p:sp>
        <p:nvSpPr>
          <p:cNvPr id="24" name="">
            <a:extLst xmlns:a="http://schemas.openxmlformats.org/drawingml/2006/main">
              <a:ext uri="{FF2B5EF4-FFF2-40B4-BE49-F238E27FC236}">
                <a16:creationId xmlns:a16="http://schemas.microsoft.com/office/drawing/2014/main" id="{9F3368E0-86F3-4901-8045-FCDE2A17ACA8}"/>
              </a:ext>
            </a:extLst>
          </p:cNvPr>
          <p:cNvSpPr>
            <a:spLocks xmlns:a="http://schemas.openxmlformats.org/drawingml/2006/main" noGrp="1"/>
          </p:cNvSpPr>
          <p:nvPr/>
        </p:nvSpPr>
        <p:spPr>
          <a:xfrm xmlns:a="http://schemas.openxmlformats.org/drawingml/2006/main">
            <a:off x="1285875" y="44577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Before-harm timing matters</a:t>
            </a:r>
          </a:p>
        </p:txBody>
      </p:sp>
      <p:sp>
        <p:nvSpPr>
          <p:cNvPr id="25" name="">
            <a:extLst xmlns:a="http://schemas.openxmlformats.org/drawingml/2006/main">
              <a:ext uri="{FF2B5EF4-FFF2-40B4-BE49-F238E27FC236}">
                <a16:creationId xmlns:a16="http://schemas.microsoft.com/office/drawing/2014/main" id="{0F029E85-6090-472A-A25B-7CF90505378B}"/>
              </a:ext>
            </a:extLst>
          </p:cNvPr>
          <p:cNvSpPr>
            <a:spLocks xmlns:a="http://schemas.openxmlformats.org/drawingml/2006/main" noGrp="1"/>
          </p:cNvSpPr>
          <p:nvPr/>
        </p:nvSpPr>
        <p:spPr>
          <a:xfrm xmlns:a="http://schemas.openxmlformats.org/drawingml/2006/main">
            <a:off x="4095750" y="445770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Low-rate before-harm detection was 0.275 despite low benign alarms.</a:t>
            </a:r>
          </a:p>
        </p:txBody>
      </p:sp>
      <p:sp>
        <p:nvSpPr>
          <p:cNvPr id="26" name="">
            <a:extLst xmlns:a="http://schemas.openxmlformats.org/drawingml/2006/main">
              <a:ext uri="{FF2B5EF4-FFF2-40B4-BE49-F238E27FC236}">
                <a16:creationId xmlns:a16="http://schemas.microsoft.com/office/drawing/2014/main" id="{7E38026B-58A4-4CF5-BAB9-13258B195075}"/>
              </a:ext>
            </a:extLst>
          </p:cNvPr>
          <p:cNvSpPr>
            <a:spLocks xmlns:a="http://schemas.openxmlformats.org/drawingml/2006/main" noGrp="1"/>
          </p:cNvSpPr>
          <p:nvPr/>
        </p:nvSpPr>
        <p:spPr>
          <a:xfrm xmlns:a="http://schemas.openxmlformats.org/drawingml/2006/main">
            <a:off x="9858375" y="445770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3D8DFF"/>
                </a:solidFill>
                <a:latin typeface="Helvetica Neue"/>
                <a:ea typeface="Helvetica Neue"/>
                <a:cs typeface="Helvetica Neue"/>
              </a:defRPr>
            </a:pPr>
            <a:r>
              <a:rPr sz="1425" b="1">
                <a:solidFill>
                  <a:srgbClr val="3D8DFF"/>
                </a:solidFill>
                <a:latin typeface="Helvetica Neue"/>
                <a:ea typeface="Helvetica Neue"/>
                <a:cs typeface="Helvetica Neue"/>
              </a:rPr>
              <a:t>OPTIMIZE DELAY</a:t>
            </a:r>
          </a:p>
        </p:txBody>
      </p:sp>
      <p:sp>
        <p:nvSpPr>
          <p:cNvPr id="27" name="">
            <a:extLst xmlns:a="http://schemas.openxmlformats.org/drawingml/2006/main">
              <a:ext uri="{FF2B5EF4-FFF2-40B4-BE49-F238E27FC236}">
                <a16:creationId xmlns:a16="http://schemas.microsoft.com/office/drawing/2014/main" id="{A0FFC104-DD28-430E-BA94-0DE112CBCDF5}"/>
              </a:ext>
            </a:extLst>
          </p:cNvPr>
          <p:cNvSpPr>
            <a:spLocks xmlns:a="http://schemas.openxmlformats.org/drawingml/2006/main" noGrp="1"/>
          </p:cNvSpPr>
          <p:nvPr/>
        </p:nvSpPr>
        <p:spPr>
          <a:xfrm xmlns:a="http://schemas.openxmlformats.org/drawingml/2006/main">
            <a:off x="400050" y="5143500"/>
            <a:ext cx="11391900" cy="685800"/>
          </a:xfrm>
          <a:prstGeom xmlns:a="http://schemas.openxmlformats.org/drawingml/2006/main" prst="rect">
            <a:avLst/>
          </a:prstGeom>
          <a:solidFill xmlns:a="http://schemas.openxmlformats.org/drawingml/2006/main">
            <a:srgbClr val="F6F7F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7519946-B7D7-481F-8941-85C5E8746C10}"/>
              </a:ext>
            </a:extLst>
          </p:cNvPr>
          <p:cNvSpPr>
            <a:spLocks xmlns:a="http://schemas.openxmlformats.org/drawingml/2006/main" noGrp="1"/>
          </p:cNvSpPr>
          <p:nvPr/>
        </p:nvSpPr>
        <p:spPr>
          <a:xfrm xmlns:a="http://schemas.openxmlformats.org/drawingml/2006/main">
            <a:off x="476250" y="52387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000000"/>
                </a:solidFill>
                <a:latin typeface="Helvetica Neue"/>
                <a:ea typeface="Helvetica Neue"/>
                <a:cs typeface="Helvetica Neue"/>
              </a:defRPr>
            </a:pPr>
            <a:r>
              <a:rPr sz="1500" b="1">
                <a:solidFill>
                  <a:srgbClr val="000000"/>
                </a:solidFill>
                <a:latin typeface="Helvetica Neue"/>
                <a:ea typeface="Helvetica Neue"/>
                <a:cs typeface="Helvetica Neue"/>
              </a:rPr>
              <a:t>5</a:t>
            </a:r>
          </a:p>
        </p:txBody>
      </p:sp>
      <p:sp>
        <p:nvSpPr>
          <p:cNvPr id="29" name="">
            <a:extLst xmlns:a="http://schemas.openxmlformats.org/drawingml/2006/main">
              <a:ext uri="{FF2B5EF4-FFF2-40B4-BE49-F238E27FC236}">
                <a16:creationId xmlns:a16="http://schemas.microsoft.com/office/drawing/2014/main" id="{96DA00D5-624E-431F-A2CE-12E0FE62BAC8}"/>
              </a:ext>
            </a:extLst>
          </p:cNvPr>
          <p:cNvSpPr>
            <a:spLocks xmlns:a="http://schemas.openxmlformats.org/drawingml/2006/main" noGrp="1"/>
          </p:cNvSpPr>
          <p:nvPr/>
        </p:nvSpPr>
        <p:spPr>
          <a:xfrm xmlns:a="http://schemas.openxmlformats.org/drawingml/2006/main">
            <a:off x="1285875" y="52387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000000"/>
                </a:solidFill>
                <a:latin typeface="Helvetica Neue"/>
                <a:ea typeface="Helvetica Neue"/>
                <a:cs typeface="Helvetica Neue"/>
              </a:defRPr>
            </a:pPr>
            <a:r>
              <a:rPr sz="1425" b="1">
                <a:solidFill>
                  <a:srgbClr val="000000"/>
                </a:solidFill>
                <a:latin typeface="Helvetica Neue"/>
                <a:ea typeface="Helvetica Neue"/>
                <a:cs typeface="Helvetica Neue"/>
              </a:rPr>
              <a:t>Diversity needs proof</a:t>
            </a:r>
          </a:p>
        </p:txBody>
      </p:sp>
      <p:sp>
        <p:nvSpPr>
          <p:cNvPr id="30" name="">
            <a:extLst xmlns:a="http://schemas.openxmlformats.org/drawingml/2006/main">
              <a:ext uri="{FF2B5EF4-FFF2-40B4-BE49-F238E27FC236}">
                <a16:creationId xmlns:a16="http://schemas.microsoft.com/office/drawing/2014/main" id="{E3DA2D1B-3415-4F0D-9600-FD2A83FA9F46}"/>
              </a:ext>
            </a:extLst>
          </p:cNvPr>
          <p:cNvSpPr>
            <a:spLocks xmlns:a="http://schemas.openxmlformats.org/drawingml/2006/main" noGrp="1"/>
          </p:cNvSpPr>
          <p:nvPr/>
        </p:nvSpPr>
        <p:spPr>
          <a:xfrm xmlns:a="http://schemas.openxmlformats.org/drawingml/2006/main">
            <a:off x="4095750" y="5238750"/>
            <a:ext cx="5191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5D636D"/>
                </a:solidFill>
                <a:latin typeface="Helvetica Neue"/>
                <a:ea typeface="Helvetica Neue"/>
                <a:cs typeface="Helvetica Neue"/>
              </a:defRPr>
            </a:pPr>
            <a:r>
              <a:rPr sz="1350" b="0">
                <a:solidFill>
                  <a:srgbClr val="5D636D"/>
                </a:solidFill>
                <a:latin typeface="Helvetica Neue"/>
                <a:ea typeface="Helvetica Neue"/>
                <a:cs typeface="Helvetica Neue"/>
              </a:rPr>
              <a:t>Γ=0.406, but interaction was +0.025; transfer remains open.</a:t>
            </a:r>
          </a:p>
        </p:txBody>
      </p:sp>
      <p:sp>
        <p:nvSpPr>
          <p:cNvPr id="31" name="">
            <a:extLst xmlns:a="http://schemas.openxmlformats.org/drawingml/2006/main">
              <a:ext uri="{FF2B5EF4-FFF2-40B4-BE49-F238E27FC236}">
                <a16:creationId xmlns:a16="http://schemas.microsoft.com/office/drawing/2014/main" id="{FAB52420-C4CE-4477-A5F5-EEA2EFAC6879}"/>
              </a:ext>
            </a:extLst>
          </p:cNvPr>
          <p:cNvSpPr>
            <a:spLocks xmlns:a="http://schemas.openxmlformats.org/drawingml/2006/main" noGrp="1"/>
          </p:cNvSpPr>
          <p:nvPr/>
        </p:nvSpPr>
        <p:spPr>
          <a:xfrm xmlns:a="http://schemas.openxmlformats.org/drawingml/2006/main">
            <a:off x="9858375" y="5238750"/>
            <a:ext cx="152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3D8DFF"/>
                </a:solidFill>
                <a:latin typeface="Helvetica Neue"/>
                <a:ea typeface="Helvetica Neue"/>
                <a:cs typeface="Helvetica Neue"/>
              </a:defRPr>
            </a:pPr>
            <a:r>
              <a:rPr sz="1425" b="1">
                <a:solidFill>
                  <a:srgbClr val="3D8DFF"/>
                </a:solidFill>
                <a:latin typeface="Helvetica Neue"/>
                <a:ea typeface="Helvetica Neue"/>
                <a:cs typeface="Helvetica Neue"/>
              </a:rPr>
              <a:t>MATCH FAILURES</a:t>
            </a:r>
          </a:p>
        </p:txBody>
      </p:sp>
      <p:sp>
        <p:nvSpPr>
          <p:cNvPr id="32" name="">
            <a:extLst xmlns:a="http://schemas.openxmlformats.org/drawingml/2006/main">
              <a:ext uri="{FF2B5EF4-FFF2-40B4-BE49-F238E27FC236}">
                <a16:creationId xmlns:a16="http://schemas.microsoft.com/office/drawing/2014/main" id="{4038F686-D7F8-44E0-990B-6C52ECCE0A52}"/>
              </a:ext>
            </a:extLst>
          </p:cNvPr>
          <p:cNvSpPr>
            <a:spLocks xmlns:a="http://schemas.openxmlformats.org/drawingml/2006/main" noGrp="1"/>
          </p:cNvSpPr>
          <p:nvPr/>
        </p:nvSpPr>
        <p:spPr>
          <a:xfrm xmlns:a="http://schemas.openxmlformats.org/drawingml/2006/main">
            <a:off x="400050" y="61912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5D636D"/>
                </a:solidFill>
                <a:latin typeface="Helvetica Neue"/>
                <a:ea typeface="Helvetica Neue"/>
                <a:cs typeface="Helvetica Neue"/>
              </a:defRPr>
            </a:pPr>
            <a:r>
              <a:rPr sz="1200" b="0">
                <a:solidFill>
                  <a:srgbClr val="5D636D"/>
                </a:solidFill>
                <a:latin typeface="Helvetica Neue"/>
                <a:ea typeface="Helvetica Neue"/>
                <a:cs typeface="Helvetica Neue"/>
              </a:rPr>
              <a:t>Core lesson: optimize trajectories and common-mode failures—not average scores or layer count alone.</a:t>
            </a:r>
          </a:p>
        </p:txBody>
      </p:sp>
    </p:spTree>
    <p:extLst>
      <p:ext uri="{BB962C8B-B14F-4D97-AF65-F5344CB8AC3E}">
        <p14:creationId xmlns:p14="http://schemas.microsoft.com/office/powerpoint/2010/main" val="18686912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2026-08-21T09:11:27.1490000Z</dcterms:created>
  <dcterms:modified xsi:type="dcterms:W3CDTF">2026-08-21T09:11:27.1490000Z</dcterms:modified>
</coreProperties>
</file>